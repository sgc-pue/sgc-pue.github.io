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43360-6013-403F-8D95-D37B0CFAD912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291AA-3BE8-419F-93A9-F71FD390613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75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4456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3786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4861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2813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1312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4691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9916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Google Shape;11;p2"/>
          <p:cNvSpPr/>
          <p:nvPr userDrawn="1"/>
        </p:nvSpPr>
        <p:spPr>
          <a:xfrm>
            <a:off x="-33" y="0"/>
            <a:ext cx="12192000" cy="4165500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627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372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598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072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366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513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5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583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782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681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365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75F6D-78C5-4C09-A96A-63922782D237}" type="datetimeFigureOut">
              <a:rPr lang="es-MX" smtClean="0"/>
              <a:t>27/02/2020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83A9F-1206-4CEE-8EF5-69B8F221BF64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6" y="0"/>
            <a:ext cx="12186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2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3;p24"/>
          <p:cNvSpPr txBox="1"/>
          <p:nvPr/>
        </p:nvSpPr>
        <p:spPr>
          <a:xfrm>
            <a:off x="1428750" y="523875"/>
            <a:ext cx="8991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MX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INFORMACIÓN DOCUMENTADA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MX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EL SGC</a:t>
            </a:r>
            <a:endParaRPr sz="40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7566576" y="4371295"/>
            <a:ext cx="46025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80000"/>
              </a:lnSpc>
              <a:buClr>
                <a:schemeClr val="dk1"/>
              </a:buClr>
              <a:buSzPts val="3200"/>
            </a:pPr>
            <a:r>
              <a:rPr lang="es-MX" sz="2500" b="1" dirty="0">
                <a:solidFill>
                  <a:srgbClr val="000000"/>
                </a:solidFill>
                <a:latin typeface="Lato"/>
                <a:ea typeface="Calibri"/>
                <a:cs typeface="Calibri"/>
                <a:sym typeface="Calibri"/>
              </a:rPr>
              <a:t>INE </a:t>
            </a:r>
            <a:endParaRPr lang="es-MX" sz="2500" b="1" dirty="0" smtClean="0">
              <a:solidFill>
                <a:srgbClr val="000000"/>
              </a:solidFill>
              <a:latin typeface="Lato"/>
              <a:ea typeface="Calibri"/>
              <a:cs typeface="Calibri"/>
              <a:sym typeface="Calibri"/>
            </a:endParaRPr>
          </a:p>
          <a:p>
            <a:pPr lvl="0" algn="r">
              <a:lnSpc>
                <a:spcPct val="80000"/>
              </a:lnSpc>
              <a:buClr>
                <a:schemeClr val="dk1"/>
              </a:buClr>
              <a:buSzPts val="3200"/>
            </a:pPr>
            <a:r>
              <a:rPr lang="es-MX" sz="2500" b="1" dirty="0" smtClean="0">
                <a:solidFill>
                  <a:srgbClr val="000000"/>
                </a:solidFill>
                <a:latin typeface="Lato"/>
                <a:ea typeface="Calibri"/>
                <a:cs typeface="Calibri"/>
                <a:sym typeface="Calibri"/>
              </a:rPr>
              <a:t>Junta </a:t>
            </a:r>
            <a:r>
              <a:rPr lang="es-MX" sz="2500" b="1" dirty="0">
                <a:solidFill>
                  <a:srgbClr val="000000"/>
                </a:solidFill>
                <a:latin typeface="Lato"/>
                <a:ea typeface="Calibri"/>
                <a:cs typeface="Calibri"/>
                <a:sym typeface="Calibri"/>
              </a:rPr>
              <a:t>Local Ejecutiva Puebla</a:t>
            </a:r>
          </a:p>
        </p:txBody>
      </p:sp>
    </p:spTree>
    <p:extLst>
      <p:ext uri="{BB962C8B-B14F-4D97-AF65-F5344CB8AC3E}">
        <p14:creationId xmlns:p14="http://schemas.microsoft.com/office/powerpoint/2010/main" val="177543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5" descr="Resultado de imagen para norma iso 20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6410" y="1202130"/>
            <a:ext cx="2327413" cy="193951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5"/>
          <p:cNvSpPr txBox="1"/>
          <p:nvPr/>
        </p:nvSpPr>
        <p:spPr>
          <a:xfrm>
            <a:off x="4925483" y="1295181"/>
            <a:ext cx="5811013" cy="108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Requisito 7.5</a:t>
            </a:r>
            <a:br>
              <a:rPr lang="es-MX" sz="2800" b="0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800" b="0" i="0" u="none" strike="noStrike" cap="none" dirty="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INFORMACIÓN </a:t>
            </a:r>
            <a:r>
              <a:rPr lang="es-MX" sz="2800" b="0" i="0" u="none" strike="noStrike" cap="none" dirty="0" smtClean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DOCUMENTADA</a:t>
            </a:r>
            <a:endParaRPr sz="2000" b="1" i="0" u="sng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991556" y="3906345"/>
            <a:ext cx="5849257" cy="1770991"/>
            <a:chOff x="1326534" y="4540088"/>
            <a:chExt cx="5849257" cy="1770991"/>
          </a:xfrm>
        </p:grpSpPr>
        <p:grpSp>
          <p:nvGrpSpPr>
            <p:cNvPr id="122" name="Google Shape;122;p25"/>
            <p:cNvGrpSpPr/>
            <p:nvPr/>
          </p:nvGrpSpPr>
          <p:grpSpPr>
            <a:xfrm>
              <a:off x="1329104" y="5411985"/>
              <a:ext cx="5844115" cy="899094"/>
              <a:chOff x="2570" y="328780"/>
              <a:chExt cx="5844115" cy="899094"/>
            </a:xfrm>
          </p:grpSpPr>
          <p:sp>
            <p:nvSpPr>
              <p:cNvPr id="123" name="Google Shape;123;p25"/>
              <p:cNvSpPr/>
              <p:nvPr/>
            </p:nvSpPr>
            <p:spPr>
              <a:xfrm>
                <a:off x="2570" y="328780"/>
                <a:ext cx="2247736" cy="899094"/>
              </a:xfrm>
              <a:prstGeom prst="homePlate">
                <a:avLst>
                  <a:gd name="adj" fmla="val 50000"/>
                </a:avLst>
              </a:prstGeom>
              <a:solidFill>
                <a:srgbClr val="D8D8D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5"/>
              <p:cNvSpPr txBox="1"/>
              <p:nvPr/>
            </p:nvSpPr>
            <p:spPr>
              <a:xfrm>
                <a:off x="2570" y="328780"/>
                <a:ext cx="2022963" cy="899094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101325" tIns="50650" rIns="25325" bIns="50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900"/>
                  <a:buFont typeface="Calibri"/>
                  <a:buNone/>
                </a:pPr>
                <a:r>
                  <a:rPr lang="es-MX" sz="19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CREACIÓN</a:t>
                </a:r>
                <a:endParaRPr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25"/>
              <p:cNvSpPr/>
              <p:nvPr/>
            </p:nvSpPr>
            <p:spPr>
              <a:xfrm>
                <a:off x="1800760" y="328780"/>
                <a:ext cx="2247736" cy="899094"/>
              </a:xfrm>
              <a:prstGeom prst="chevron">
                <a:avLst>
                  <a:gd name="adj" fmla="val 50000"/>
                </a:avLst>
              </a:prstGeom>
              <a:solidFill>
                <a:srgbClr val="D8D8D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5"/>
              <p:cNvSpPr txBox="1"/>
              <p:nvPr/>
            </p:nvSpPr>
            <p:spPr>
              <a:xfrm>
                <a:off x="2250307" y="328780"/>
                <a:ext cx="1348642" cy="899094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76000" tIns="50650" rIns="25325" bIns="50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900"/>
                  <a:buFont typeface="Calibri"/>
                  <a:buNone/>
                </a:pPr>
                <a:r>
                  <a:rPr lang="es-MX" sz="19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</a:t>
                </a:r>
                <a:endParaRPr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25"/>
              <p:cNvSpPr/>
              <p:nvPr/>
            </p:nvSpPr>
            <p:spPr>
              <a:xfrm>
                <a:off x="3598949" y="328780"/>
                <a:ext cx="2247736" cy="899094"/>
              </a:xfrm>
              <a:prstGeom prst="chevron">
                <a:avLst>
                  <a:gd name="adj" fmla="val 50000"/>
                </a:avLst>
              </a:prstGeom>
              <a:solidFill>
                <a:srgbClr val="D8D8D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5"/>
              <p:cNvSpPr txBox="1"/>
              <p:nvPr/>
            </p:nvSpPr>
            <p:spPr>
              <a:xfrm>
                <a:off x="4048496" y="328780"/>
                <a:ext cx="1348642" cy="899094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76000" tIns="50650" rIns="25325" bIns="50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900"/>
                  <a:buFont typeface="Calibri"/>
                  <a:buNone/>
                </a:pPr>
                <a:r>
                  <a:rPr lang="es-MX" sz="19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INTEGRIDAD</a:t>
                </a:r>
                <a:endParaRPr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" name="Google Shape;129;p25"/>
            <p:cNvGrpSpPr/>
            <p:nvPr/>
          </p:nvGrpSpPr>
          <p:grpSpPr>
            <a:xfrm>
              <a:off x="1326534" y="4540088"/>
              <a:ext cx="5849257" cy="899094"/>
              <a:chOff x="2570" y="328780"/>
              <a:chExt cx="2247736" cy="899094"/>
            </a:xfrm>
          </p:grpSpPr>
          <p:sp>
            <p:nvSpPr>
              <p:cNvPr id="130" name="Google Shape;130;p25"/>
              <p:cNvSpPr/>
              <p:nvPr/>
            </p:nvSpPr>
            <p:spPr>
              <a:xfrm>
                <a:off x="2570" y="328780"/>
                <a:ext cx="2247736" cy="899094"/>
              </a:xfrm>
              <a:prstGeom prst="homePlate">
                <a:avLst>
                  <a:gd name="adj" fmla="val 50000"/>
                </a:avLst>
              </a:prstGeom>
              <a:solidFill>
                <a:srgbClr val="B31148"/>
              </a:solidFill>
              <a:ln w="1270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5"/>
              <p:cNvSpPr txBox="1"/>
              <p:nvPr/>
            </p:nvSpPr>
            <p:spPr>
              <a:xfrm>
                <a:off x="2570" y="343294"/>
                <a:ext cx="2022963" cy="884580"/>
              </a:xfrm>
              <a:prstGeom prst="rect">
                <a:avLst/>
              </a:prstGeom>
              <a:solidFill>
                <a:srgbClr val="B31148"/>
              </a:solidFill>
              <a:ln>
                <a:noFill/>
              </a:ln>
            </p:spPr>
            <p:txBody>
              <a:bodyPr spcFirstLastPara="1" wrap="square" lIns="101325" tIns="50650" rIns="25325" bIns="50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rPr lang="es-MX" sz="1900" b="0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GESTIÓN DE LA INFORMACIÓN DOCUMENTADA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2" name="Google Shape;132;p25"/>
          <p:cNvGrpSpPr/>
          <p:nvPr/>
        </p:nvGrpSpPr>
        <p:grpSpPr>
          <a:xfrm>
            <a:off x="7830989" y="3578362"/>
            <a:ext cx="2812111" cy="2399760"/>
            <a:chOff x="0" y="4805"/>
            <a:chExt cx="2812111" cy="2399760"/>
          </a:xfrm>
        </p:grpSpPr>
        <p:sp>
          <p:nvSpPr>
            <p:cNvPr id="133" name="Google Shape;133;p25"/>
            <p:cNvSpPr/>
            <p:nvPr/>
          </p:nvSpPr>
          <p:spPr>
            <a:xfrm>
              <a:off x="0" y="4805"/>
              <a:ext cx="2812111" cy="950400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5"/>
            <p:cNvSpPr txBox="1"/>
            <p:nvPr/>
          </p:nvSpPr>
          <p:spPr>
            <a:xfrm>
              <a:off x="0" y="4805"/>
              <a:ext cx="2812111" cy="9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4475" tIns="162550" rIns="284475" bIns="162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lang="es-MX" sz="4000" b="0" i="0" u="none" strike="noStrike" cap="none" dirty="0">
                  <a:solidFill>
                    <a:srgbClr val="C1C1C1"/>
                  </a:solidFill>
                  <a:latin typeface="Calibri"/>
                  <a:ea typeface="Calibri"/>
                  <a:cs typeface="Calibri"/>
                  <a:sym typeface="Calibri"/>
                </a:rPr>
                <a:t>AYUDA</a:t>
              </a:r>
              <a:endParaRPr sz="1400" b="0" i="0" u="none" strike="noStrike" cap="none" dirty="0">
                <a:solidFill>
                  <a:srgbClr val="C1C1C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5"/>
            <p:cNvSpPr/>
            <p:nvPr/>
          </p:nvSpPr>
          <p:spPr>
            <a:xfrm>
              <a:off x="0" y="955205"/>
              <a:ext cx="2812111" cy="1449360"/>
            </a:xfrm>
            <a:prstGeom prst="rect">
              <a:avLst/>
            </a:prstGeom>
            <a:solidFill>
              <a:srgbClr val="CCD3EA">
                <a:alpha val="88627"/>
              </a:srgbClr>
            </a:solidFill>
            <a:ln w="12700" cap="flat" cmpd="sng">
              <a:solidFill>
                <a:srgbClr val="CCD3EA">
                  <a:alpha val="88627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5"/>
            <p:cNvSpPr txBox="1"/>
            <p:nvPr/>
          </p:nvSpPr>
          <p:spPr>
            <a:xfrm>
              <a:off x="0" y="955205"/>
              <a:ext cx="2812111" cy="1449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6000" tIns="96000" rIns="128000" bIns="144000" anchor="t" anchorCtr="0">
              <a:noAutofit/>
            </a:bodyPr>
            <a:lstStyle/>
            <a:p>
              <a:pPr marL="171450" marR="0" lvl="1" indent="-571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s-MX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LOGRAR EFICIENCIA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s-MX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ENFOQUE A PROCESOS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ctr" rtl="0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s-MX" sz="1800" b="0" i="0" u="none" strike="noStrike" cap="non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GESTIÓN DE LOS RIESGOS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278491" y="149414"/>
            <a:ext cx="58320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SzPts val="2400"/>
            </a:pPr>
            <a:r>
              <a:rPr lang="es-MX" sz="28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INFORMACIÓN DOCUMENTADA</a:t>
            </a:r>
            <a:endParaRPr lang="es-MX" sz="2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76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 descr="Resultado de imagen para norma iso 20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396" y="969041"/>
            <a:ext cx="2102612" cy="1673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3111129" y="854648"/>
            <a:ext cx="8195428" cy="1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400" b="1" kern="12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</a:rPr>
              <a:t>7.5.1 Generalidades</a:t>
            </a:r>
            <a:endParaRPr sz="2400" b="1" kern="12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"/>
              <a:ea typeface="+mn-ea"/>
              <a:cs typeface="+mn-cs"/>
            </a:endParaRPr>
          </a:p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2400" b="1" kern="12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</a:rPr>
              <a:t>El sistema de gestión de la calidad de la </a:t>
            </a:r>
            <a:r>
              <a:rPr lang="es-MX" sz="2400" b="1" kern="1200" dirty="0" smtClean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</a:rPr>
              <a:t>Institución </a:t>
            </a:r>
            <a:r>
              <a:rPr lang="es-MX" sz="2400" b="1" kern="12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</a:rPr>
              <a:t>debe incluir: </a:t>
            </a:r>
            <a:endParaRPr sz="2400" b="1" kern="12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"/>
              <a:ea typeface="+mn-ea"/>
              <a:cs typeface="+mn-cs"/>
            </a:endParaRPr>
          </a:p>
        </p:txBody>
      </p:sp>
      <p:graphicFrame>
        <p:nvGraphicFramePr>
          <p:cNvPr id="144" name="Google Shape;144;p26"/>
          <p:cNvGraphicFramePr/>
          <p:nvPr/>
        </p:nvGraphicFramePr>
        <p:xfrm>
          <a:off x="3395630" y="2642653"/>
          <a:ext cx="7239000" cy="32155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a) la información documentada requerida por esta Norma Internacional; </a:t>
                      </a: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b) la información documentada que la </a:t>
                      </a:r>
                      <a:r>
                        <a:rPr lang="es-MX" sz="1700" u="none" strike="noStrike" cap="none" dirty="0" smtClean="0">
                          <a:solidFill>
                            <a:srgbClr val="002060"/>
                          </a:solidFill>
                        </a:rPr>
                        <a:t>Institución </a:t>
                      </a: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determina como necesaria para la eficacia del SGC.</a:t>
                      </a: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MX" sz="1700" u="none" strike="noStrike" cap="none">
                          <a:solidFill>
                            <a:srgbClr val="002060"/>
                          </a:solidFill>
                        </a:rPr>
                        <a:t>Ejemplo:</a:t>
                      </a:r>
                      <a:endParaRPr sz="1700" u="none" strike="noStrike" cap="none">
                        <a:solidFill>
                          <a:srgbClr val="00206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>
                          <a:solidFill>
                            <a:srgbClr val="002060"/>
                          </a:solidFill>
                        </a:rPr>
                        <a:t>Política de calidad</a:t>
                      </a:r>
                      <a:endParaRPr sz="1700" u="none" strike="noStrike" cap="none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>
                          <a:solidFill>
                            <a:srgbClr val="002060"/>
                          </a:solidFill>
                        </a:rPr>
                        <a:t>Objetivos de calidad</a:t>
                      </a:r>
                      <a:endParaRPr sz="1700" u="none" strike="noStrike" cap="none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>
                          <a:solidFill>
                            <a:srgbClr val="002060"/>
                          </a:solidFill>
                        </a:rPr>
                        <a:t>Alcance</a:t>
                      </a:r>
                      <a:endParaRPr sz="1700" u="none" strike="noStrike" cap="none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>
                          <a:solidFill>
                            <a:srgbClr val="002060"/>
                          </a:solidFill>
                        </a:rPr>
                        <a:t>etc.</a:t>
                      </a:r>
                      <a:endParaRPr sz="1700" u="none" strike="noStrike" cap="none">
                        <a:solidFill>
                          <a:srgbClr val="00206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>
                        <a:solidFill>
                          <a:srgbClr val="002060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Ejemplo:</a:t>
                      </a: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Manuales</a:t>
                      </a: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Instructivos</a:t>
                      </a: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Reportes del sistema</a:t>
                      </a: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  <a:p>
                      <a:pPr marL="4572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700"/>
                        <a:buFont typeface="Arial"/>
                        <a:buAutoNum type="alphaLcParenR"/>
                      </a:pPr>
                      <a:r>
                        <a:rPr lang="es-MX" sz="1700" u="none" strike="noStrike" cap="none" dirty="0">
                          <a:solidFill>
                            <a:srgbClr val="002060"/>
                          </a:solidFill>
                        </a:rPr>
                        <a:t>Etc.</a:t>
                      </a:r>
                      <a:endParaRPr sz="1700" u="none" strike="noStrike" cap="none" dirty="0">
                        <a:solidFill>
                          <a:srgbClr val="002060"/>
                        </a:solidFill>
                      </a:endParaRPr>
                    </a:p>
                  </a:txBody>
                  <a:tcPr marL="91425" marR="91425" marT="91425" marB="914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52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p27"/>
          <p:cNvSpPr txBox="1"/>
          <p:nvPr/>
        </p:nvSpPr>
        <p:spPr>
          <a:xfrm>
            <a:off x="7270650" y="1220222"/>
            <a:ext cx="4381994" cy="372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s-MX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 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la </a:t>
            </a:r>
            <a:r>
              <a:rPr lang="es-MX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Institución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6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 la </a:t>
            </a:r>
            <a:r>
              <a:rPr lang="es-MX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Institución incluyendo la Junta Local Ejecutiva de la Entidad.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procedimiento</a:t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6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s-MX" dirty="0" smtClean="0"/>
              <a:t>D</a:t>
            </a:r>
            <a:r>
              <a:rPr lang="es-MX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onde 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origina el </a:t>
            </a:r>
            <a:r>
              <a:rPr lang="es-MX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procedimiento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6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 que se </a:t>
            </a:r>
            <a:r>
              <a:rPr lang="es-MX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generó 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documento</a:t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600" b="1" dirty="0">
                <a:solidFill>
                  <a:srgbClr val="002060"/>
                </a:solidFill>
              </a:rPr>
              <a:t>6</a:t>
            </a:r>
            <a:r>
              <a:rPr lang="es-MX" sz="1600" b="1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-MX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Número de revisión del </a:t>
            </a:r>
            <a:r>
              <a:rPr lang="es-MX" sz="1400" b="0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-MX" sz="1400" b="0" i="0" u="none" strike="noStrike" cap="none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s-MX" sz="1600" b="1" dirty="0">
                <a:solidFill>
                  <a:srgbClr val="002060"/>
                </a:solidFill>
              </a:rPr>
              <a:t>7.</a:t>
            </a:r>
            <a:r>
              <a:rPr lang="es-MX" dirty="0" smtClean="0"/>
              <a:t> </a:t>
            </a: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Responsables del </a:t>
            </a: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documento</a:t>
            </a:r>
          </a:p>
          <a:p>
            <a:pPr>
              <a:buClr>
                <a:srgbClr val="000000"/>
              </a:buClr>
              <a:buSzPts val="1600"/>
            </a:pPr>
            <a:endParaRPr lang="es-MX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s-MX" sz="1600" b="1" dirty="0">
                <a:solidFill>
                  <a:srgbClr val="002060"/>
                </a:solidFill>
              </a:rPr>
              <a:t>8.  </a:t>
            </a: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Número de versión del documento</a:t>
            </a:r>
            <a:b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b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s-MX" sz="1600" b="1" dirty="0">
                <a:solidFill>
                  <a:srgbClr val="002060"/>
                </a:solidFill>
              </a:rPr>
              <a:t>9. </a:t>
            </a: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Fecha de actualización en el documento</a:t>
            </a:r>
            <a:b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b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s-MX" sz="1600" b="1" dirty="0">
                <a:solidFill>
                  <a:srgbClr val="002060"/>
                </a:solidFill>
              </a:rPr>
              <a:t>10. </a:t>
            </a: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Descripción de cambios</a:t>
            </a: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s-MX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52;p27"/>
          <p:cNvSpPr txBox="1"/>
          <p:nvPr/>
        </p:nvSpPr>
        <p:spPr>
          <a:xfrm>
            <a:off x="913365" y="970163"/>
            <a:ext cx="50876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>
              <a:buSzPts val="1600"/>
            </a:pPr>
            <a:r>
              <a:rPr lang="es-MX" sz="2400" b="1" kern="12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</a:rPr>
              <a:t>Encabezado de un procedimiento</a:t>
            </a:r>
            <a:endParaRPr sz="2400" b="1" kern="12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"/>
              <a:ea typeface="+mn-ea"/>
              <a:cs typeface="+mn-cs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395818" y="1598356"/>
            <a:ext cx="6527176" cy="866126"/>
            <a:chOff x="336667" y="2202999"/>
            <a:chExt cx="6527176" cy="866126"/>
          </a:xfrm>
        </p:grpSpPr>
        <p:graphicFrame>
          <p:nvGraphicFramePr>
            <p:cNvPr id="3" name="Google Shape;151;p27"/>
            <p:cNvGraphicFramePr/>
            <p:nvPr/>
          </p:nvGraphicFramePr>
          <p:xfrm>
            <a:off x="336667" y="2221917"/>
            <a:ext cx="6241050" cy="847208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46752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40410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36942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542408">
                  <a:tc rowSpan="2"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MX" sz="1000" u="none" strike="noStrike" cap="none" dirty="0">
                            <a:solidFill>
                              <a:sysClr val="windowText" lastClr="000000"/>
                            </a:solidFill>
                          </a:rPr>
                          <a:t>&lt;LOGO DE LA </a:t>
                        </a:r>
                        <a:r>
                          <a:rPr lang="es-MX" sz="1000" u="none" strike="noStrike" cap="none" dirty="0" smtClean="0">
                            <a:solidFill>
                              <a:sysClr val="windowText" lastClr="000000"/>
                            </a:solidFill>
                          </a:rPr>
                          <a:t>INSTITUCIÓN&gt;</a:t>
                        </a:r>
                        <a:endParaRPr sz="1000" u="none" strike="noStrike" cap="none" dirty="0">
                          <a:solidFill>
                            <a:sysClr val="windowText" lastClr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a:txBody>
                    <a:tcPr marL="0" marR="0" marT="0" marB="0" anchor="ctr">
                      <a:lnL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MX" sz="1000" b="0" i="0" u="none" strike="noStrike" cap="none" dirty="0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INSTITUTO NACIONAL ELECTORAL </a:t>
                        </a:r>
                        <a:r>
                          <a:rPr lang="es-MX" sz="1000" b="0" i="0" u="none" strike="noStrike" cap="none" dirty="0" err="1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JLE</a:t>
                        </a:r>
                        <a:r>
                          <a:rPr lang="es-MX" sz="1000" b="0" i="0" u="none" strike="noStrike" cap="none" dirty="0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 </a:t>
                        </a:r>
                        <a:r>
                          <a:rPr lang="es-MX" sz="1000" b="1" i="0" u="none" strike="noStrike" cap="none" dirty="0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(Colocar el Nombre de la Entidad)</a:t>
                        </a:r>
                      </a:p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MX" sz="1000" b="0" i="0" u="none" strike="noStrike" cap="none" dirty="0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SISTEMA DE GESTIÓN DE LA CALIDAD</a:t>
                        </a:r>
                        <a:endParaRPr sz="1000" b="0" i="0" u="none" strike="noStrike" cap="none" dirty="0">
                          <a:solidFill>
                            <a:sysClr val="windowText" lastClr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a:txBody>
                    <a:tcPr marL="0" marR="0" marT="0" marB="0" anchor="ctr">
                      <a:lnL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MX" sz="1000" b="1" i="0" u="none" strike="noStrike" cap="none" dirty="0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Versión: 0</a:t>
                        </a:r>
                        <a:endParaRPr sz="1000" b="1" i="0" u="none" strike="noStrike" cap="none" dirty="0">
                          <a:solidFill>
                            <a:sysClr val="windowText" lastClr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98765">
                  <a:tc vMerge="1">
                    <a:txBody>
                      <a:bodyPr/>
                      <a:lstStyle/>
                      <a:p>
                        <a:endParaRPr lang="es-MX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lang="es-MX" sz="1000" u="none" strike="noStrike" cap="none" dirty="0" smtClean="0">
                            <a:solidFill>
                              <a:sysClr val="windowText" lastClr="000000"/>
                            </a:solidFill>
                          </a:rPr>
                          <a:t>PROCEDIMIENTO</a:t>
                        </a:r>
                        <a:endParaRPr sz="1000" u="none" strike="noStrike" cap="none" dirty="0">
                          <a:solidFill>
                            <a:sysClr val="windowText" lastClr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MX" sz="1000" b="1" i="0" u="none" strike="noStrike" cap="none" dirty="0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Fecha de emisión:</a:t>
                        </a:r>
                      </a:p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MX" sz="1000" b="1" i="0" u="none" strike="noStrike" cap="none" dirty="0" smtClean="0">
                            <a:solidFill>
                              <a:sysClr val="windowText" lastClr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xx-xx-xxx</a:t>
                        </a:r>
                        <a:endParaRPr lang="es-MX" sz="1000" b="1" i="0" u="none" strike="noStrike" cap="none" dirty="0">
                          <a:solidFill>
                            <a:sysClr val="windowText" lastClr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a:txBody>
                    <a:tcPr marL="0" marR="0" marT="0" marB="0" anchor="ctr">
                      <a:lnL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206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5" name="Google Shape;153;p27"/>
            <p:cNvSpPr/>
            <p:nvPr/>
          </p:nvSpPr>
          <p:spPr>
            <a:xfrm>
              <a:off x="587033" y="2202999"/>
              <a:ext cx="279133" cy="277596"/>
            </a:xfrm>
            <a:prstGeom prst="ellipse">
              <a:avLst/>
            </a:prstGeom>
            <a:solidFill>
              <a:srgbClr val="0070C0"/>
            </a:solidFill>
            <a:ln w="25400" cap="flat" cmpd="sng">
              <a:solidFill>
                <a:srgbClr val="465B6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MX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4;p27"/>
            <p:cNvSpPr/>
            <p:nvPr/>
          </p:nvSpPr>
          <p:spPr>
            <a:xfrm>
              <a:off x="1625400" y="2221917"/>
              <a:ext cx="279133" cy="277596"/>
            </a:xfrm>
            <a:prstGeom prst="ellipse">
              <a:avLst/>
            </a:prstGeom>
            <a:solidFill>
              <a:srgbClr val="0070C0"/>
            </a:solidFill>
            <a:ln w="25400" cap="flat" cmpd="sng">
              <a:solidFill>
                <a:srgbClr val="465B6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MX" sz="1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55;p27"/>
            <p:cNvSpPr/>
            <p:nvPr/>
          </p:nvSpPr>
          <p:spPr>
            <a:xfrm>
              <a:off x="2442189" y="2772568"/>
              <a:ext cx="279133" cy="277596"/>
            </a:xfrm>
            <a:prstGeom prst="ellipse">
              <a:avLst/>
            </a:prstGeom>
            <a:solidFill>
              <a:srgbClr val="0070C0"/>
            </a:solidFill>
            <a:ln w="25400" cap="flat" cmpd="sng">
              <a:solidFill>
                <a:srgbClr val="465B6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MX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56;p27"/>
            <p:cNvSpPr/>
            <p:nvPr/>
          </p:nvSpPr>
          <p:spPr>
            <a:xfrm>
              <a:off x="4826844" y="2480595"/>
              <a:ext cx="279133" cy="277596"/>
            </a:xfrm>
            <a:prstGeom prst="ellipse">
              <a:avLst/>
            </a:prstGeom>
            <a:solidFill>
              <a:srgbClr val="0070C0"/>
            </a:solidFill>
            <a:ln w="25400" cap="flat" cmpd="sng">
              <a:solidFill>
                <a:srgbClr val="465B6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MX" sz="10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57;p27"/>
            <p:cNvSpPr/>
            <p:nvPr/>
          </p:nvSpPr>
          <p:spPr>
            <a:xfrm>
              <a:off x="6584710" y="2772568"/>
              <a:ext cx="279133" cy="277596"/>
            </a:xfrm>
            <a:prstGeom prst="ellipse">
              <a:avLst/>
            </a:prstGeom>
            <a:solidFill>
              <a:srgbClr val="0070C0"/>
            </a:solidFill>
            <a:ln w="25400" cap="flat" cmpd="sng">
              <a:solidFill>
                <a:srgbClr val="465B6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MX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58;p27"/>
            <p:cNvSpPr/>
            <p:nvPr/>
          </p:nvSpPr>
          <p:spPr>
            <a:xfrm>
              <a:off x="6218473" y="2341797"/>
              <a:ext cx="279133" cy="277596"/>
            </a:xfrm>
            <a:prstGeom prst="ellipse">
              <a:avLst/>
            </a:prstGeom>
            <a:solidFill>
              <a:srgbClr val="0070C0"/>
            </a:solidFill>
            <a:ln w="25400" cap="flat" cmpd="sng">
              <a:solidFill>
                <a:srgbClr val="465B6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MX" sz="1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2" name="Tabla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007634"/>
              </p:ext>
            </p:extLst>
          </p:nvPr>
        </p:nvGraphicFramePr>
        <p:xfrm>
          <a:off x="288911" y="2740570"/>
          <a:ext cx="5664136" cy="2105513"/>
        </p:xfrm>
        <a:graphic>
          <a:graphicData uri="http://schemas.openxmlformats.org/drawingml/2006/table">
            <a:tbl>
              <a:tblPr/>
              <a:tblGrid>
                <a:gridCol w="1301618">
                  <a:extLst>
                    <a:ext uri="{9D8B030D-6E8A-4147-A177-3AD203B41FA5}">
                      <a16:colId xmlns:a16="http://schemas.microsoft.com/office/drawing/2014/main" val="3601072389"/>
                    </a:ext>
                  </a:extLst>
                </a:gridCol>
                <a:gridCol w="976498">
                  <a:extLst>
                    <a:ext uri="{9D8B030D-6E8A-4147-A177-3AD203B41FA5}">
                      <a16:colId xmlns:a16="http://schemas.microsoft.com/office/drawing/2014/main" val="1025285957"/>
                    </a:ext>
                  </a:extLst>
                </a:gridCol>
                <a:gridCol w="1882758">
                  <a:extLst>
                    <a:ext uri="{9D8B030D-6E8A-4147-A177-3AD203B41FA5}">
                      <a16:colId xmlns:a16="http://schemas.microsoft.com/office/drawing/2014/main" val="2414878561"/>
                    </a:ext>
                  </a:extLst>
                </a:gridCol>
                <a:gridCol w="1503262">
                  <a:extLst>
                    <a:ext uri="{9D8B030D-6E8A-4147-A177-3AD203B41FA5}">
                      <a16:colId xmlns:a16="http://schemas.microsoft.com/office/drawing/2014/main" val="2366039908"/>
                    </a:ext>
                  </a:extLst>
                </a:gridCol>
              </a:tblGrid>
              <a:tr h="324816">
                <a:tc gridSpan="4">
                  <a:txBody>
                    <a:bodyPr/>
                    <a:lstStyle/>
                    <a:p>
                      <a:pPr marL="177800" algn="ctr">
                        <a:spcAft>
                          <a:spcPts val="0"/>
                        </a:spcAft>
                      </a:pPr>
                      <a:r>
                        <a:rPr lang="es-MX" sz="10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TABLA DE RESPONSABLES</a:t>
                      </a:r>
                      <a:r>
                        <a:rPr lang="es-MX" sz="10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312492"/>
                  </a:ext>
                </a:extLst>
              </a:tr>
              <a:tr h="4192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RESPONSABLE</a:t>
                      </a:r>
                      <a:endParaRPr lang="es-MX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ROL</a:t>
                      </a:r>
                      <a:endParaRPr lang="es-MX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NOMBRE</a:t>
                      </a:r>
                      <a:endParaRPr lang="es-MX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FIRMA</a:t>
                      </a:r>
                      <a:endParaRPr lang="es-MX" sz="1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510655"/>
                  </a:ext>
                </a:extLst>
              </a:tr>
              <a:tr h="5228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Elaboración: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Coordinador de calidad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865113"/>
                  </a:ext>
                </a:extLst>
              </a:tr>
              <a:tr h="4192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Revisión: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Alta dirección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spcAft>
                          <a:spcPts val="0"/>
                        </a:spcAft>
                      </a:pPr>
                      <a:r>
                        <a:rPr lang="es-MX" sz="10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583097"/>
                  </a:ext>
                </a:extLst>
              </a:tr>
              <a:tr h="4192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Aprobación: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Alta dirección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 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spcAft>
                          <a:spcPts val="0"/>
                        </a:spcAft>
                      </a:pPr>
                      <a:r>
                        <a:rPr lang="es-MX" sz="10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868244"/>
                  </a:ext>
                </a:extLst>
              </a:tr>
            </a:tbl>
          </a:graphicData>
        </a:graphic>
      </p:graphicFrame>
      <p:sp>
        <p:nvSpPr>
          <p:cNvPr id="33" name="Rectángulo 32"/>
          <p:cNvSpPr/>
          <p:nvPr/>
        </p:nvSpPr>
        <p:spPr>
          <a:xfrm>
            <a:off x="2060575" y="17616488"/>
            <a:ext cx="6886575" cy="295275"/>
          </a:xfrm>
          <a:prstGeom prst="rect">
            <a:avLst/>
          </a:prstGeom>
          <a:solidFill>
            <a:srgbClr val="950054"/>
          </a:solidFill>
          <a:ln>
            <a:noFill/>
          </a:ln>
        </p:spPr>
        <p:txBody>
          <a:bodyPr spcFirstLastPara="1" wrap="square" lIns="91425" tIns="91425" rIns="91425" bIns="91425" anchor="ctr" anchorCtr="0"/>
          <a:lstStyle/>
          <a:p>
            <a:pPr>
              <a:spcAft>
                <a:spcPts val="0"/>
              </a:spcAft>
            </a:pPr>
            <a:r>
              <a:rPr lang="es-MX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34" name="Rectángulo 33"/>
          <p:cNvSpPr/>
          <p:nvPr/>
        </p:nvSpPr>
        <p:spPr>
          <a:xfrm>
            <a:off x="2060575" y="17616488"/>
            <a:ext cx="6886575" cy="295275"/>
          </a:xfrm>
          <a:prstGeom prst="rect">
            <a:avLst/>
          </a:prstGeom>
          <a:solidFill>
            <a:srgbClr val="950054"/>
          </a:solidFill>
          <a:ln>
            <a:noFill/>
          </a:ln>
        </p:spPr>
        <p:txBody>
          <a:bodyPr spcFirstLastPara="1" wrap="square" lIns="91425" tIns="91425" rIns="91425" bIns="91425" anchor="ctr" anchorCtr="0"/>
          <a:lstStyle/>
          <a:p>
            <a:pPr>
              <a:spcAft>
                <a:spcPts val="0"/>
              </a:spcAft>
            </a:pPr>
            <a:r>
              <a:rPr lang="es-MX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35" name="Rectángulo 34"/>
          <p:cNvSpPr/>
          <p:nvPr/>
        </p:nvSpPr>
        <p:spPr>
          <a:xfrm>
            <a:off x="2060575" y="17616488"/>
            <a:ext cx="6886575" cy="295275"/>
          </a:xfrm>
          <a:prstGeom prst="rect">
            <a:avLst/>
          </a:prstGeom>
          <a:solidFill>
            <a:srgbClr val="950054"/>
          </a:solidFill>
          <a:ln>
            <a:noFill/>
          </a:ln>
        </p:spPr>
        <p:txBody>
          <a:bodyPr spcFirstLastPara="1" wrap="square" lIns="91425" tIns="91425" rIns="91425" bIns="91425" anchor="ctr" anchorCtr="0"/>
          <a:lstStyle/>
          <a:p>
            <a:pPr>
              <a:spcAft>
                <a:spcPts val="0"/>
              </a:spcAft>
            </a:pPr>
            <a:r>
              <a:rPr lang="es-MX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36" name="Rectángulo 35"/>
          <p:cNvSpPr/>
          <p:nvPr/>
        </p:nvSpPr>
        <p:spPr>
          <a:xfrm>
            <a:off x="2060575" y="17616488"/>
            <a:ext cx="6886575" cy="295275"/>
          </a:xfrm>
          <a:prstGeom prst="rect">
            <a:avLst/>
          </a:prstGeom>
          <a:solidFill>
            <a:srgbClr val="950054"/>
          </a:solidFill>
          <a:ln>
            <a:noFill/>
          </a:ln>
        </p:spPr>
        <p:txBody>
          <a:bodyPr spcFirstLastPara="1" wrap="square" lIns="91425" tIns="91425" rIns="91425" bIns="91425" anchor="ctr" anchorCtr="0"/>
          <a:lstStyle/>
          <a:p>
            <a:pPr>
              <a:spcAft>
                <a:spcPts val="0"/>
              </a:spcAft>
            </a:pPr>
            <a:r>
              <a:rPr lang="es-MX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37" name="Rectángulo 36"/>
          <p:cNvSpPr/>
          <p:nvPr/>
        </p:nvSpPr>
        <p:spPr>
          <a:xfrm>
            <a:off x="2060575" y="17616488"/>
            <a:ext cx="6886575" cy="295275"/>
          </a:xfrm>
          <a:prstGeom prst="rect">
            <a:avLst/>
          </a:prstGeom>
          <a:solidFill>
            <a:srgbClr val="950054"/>
          </a:solidFill>
          <a:ln>
            <a:noFill/>
          </a:ln>
        </p:spPr>
        <p:txBody>
          <a:bodyPr spcFirstLastPara="1" wrap="square" lIns="91425" tIns="91425" rIns="91425" bIns="91425" anchor="ctr" anchorCtr="0"/>
          <a:lstStyle/>
          <a:p>
            <a:pPr>
              <a:spcAft>
                <a:spcPts val="0"/>
              </a:spcAft>
            </a:pPr>
            <a:r>
              <a:rPr lang="es-MX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38" name="Rectángulo 37"/>
          <p:cNvSpPr/>
          <p:nvPr/>
        </p:nvSpPr>
        <p:spPr>
          <a:xfrm>
            <a:off x="2060575" y="17616488"/>
            <a:ext cx="6886575" cy="295275"/>
          </a:xfrm>
          <a:prstGeom prst="rect">
            <a:avLst/>
          </a:prstGeom>
          <a:solidFill>
            <a:srgbClr val="950054"/>
          </a:solidFill>
          <a:ln>
            <a:noFill/>
          </a:ln>
        </p:spPr>
        <p:txBody>
          <a:bodyPr spcFirstLastPara="1" wrap="square" lIns="91425" tIns="91425" rIns="91425" bIns="91425" anchor="ctr" anchorCtr="0"/>
          <a:lstStyle/>
          <a:p>
            <a:pPr>
              <a:spcAft>
                <a:spcPts val="0"/>
              </a:spcAft>
            </a:pPr>
            <a:r>
              <a:rPr lang="es-MX" sz="12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sp>
        <p:nvSpPr>
          <p:cNvPr id="39" name="Google Shape;157;p27"/>
          <p:cNvSpPr/>
          <p:nvPr/>
        </p:nvSpPr>
        <p:spPr>
          <a:xfrm>
            <a:off x="6021508" y="2716278"/>
            <a:ext cx="279133" cy="277596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465B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dirty="0">
                <a:solidFill>
                  <a:schemeClr val="lt1"/>
                </a:solidFill>
              </a:rPr>
              <a:t>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172;p28"/>
          <p:cNvSpPr/>
          <p:nvPr/>
        </p:nvSpPr>
        <p:spPr>
          <a:xfrm>
            <a:off x="586683" y="5246914"/>
            <a:ext cx="279133" cy="277596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465B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000" dirty="0">
                <a:solidFill>
                  <a:schemeClr val="bg1"/>
                </a:solidFill>
              </a:rPr>
              <a:t>8</a:t>
            </a:r>
            <a:endParaRPr sz="1000" b="0" i="0" u="none" strike="noStrike" cap="none" dirty="0">
              <a:solidFill>
                <a:schemeClr val="bg1"/>
              </a:solidFill>
              <a:sym typeface="Arial"/>
            </a:endParaRPr>
          </a:p>
        </p:txBody>
      </p:sp>
      <p:sp>
        <p:nvSpPr>
          <p:cNvPr id="41" name="Google Shape;173;p28"/>
          <p:cNvSpPr/>
          <p:nvPr/>
        </p:nvSpPr>
        <p:spPr>
          <a:xfrm>
            <a:off x="2368701" y="5303902"/>
            <a:ext cx="288171" cy="230988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465B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0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174;p28"/>
          <p:cNvSpPr/>
          <p:nvPr/>
        </p:nvSpPr>
        <p:spPr>
          <a:xfrm>
            <a:off x="3972442" y="5208807"/>
            <a:ext cx="463756" cy="315703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465B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000" b="0" i="0" u="none" strike="noStrike" cap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" name="Tabla 42"/>
          <p:cNvGraphicFramePr>
            <a:graphicFrameLocks noGrp="1"/>
          </p:cNvGraphicFramePr>
          <p:nvPr/>
        </p:nvGraphicFramePr>
        <p:xfrm>
          <a:off x="523797" y="5629987"/>
          <a:ext cx="5565661" cy="457200"/>
        </p:xfrm>
        <a:graphic>
          <a:graphicData uri="http://schemas.openxmlformats.org/drawingml/2006/table">
            <a:tbl>
              <a:tblPr/>
              <a:tblGrid>
                <a:gridCol w="1295180">
                  <a:extLst>
                    <a:ext uri="{9D8B030D-6E8A-4147-A177-3AD203B41FA5}">
                      <a16:colId xmlns:a16="http://schemas.microsoft.com/office/drawing/2014/main" val="1963729991"/>
                    </a:ext>
                  </a:extLst>
                </a:gridCol>
                <a:gridCol w="1346212">
                  <a:extLst>
                    <a:ext uri="{9D8B030D-6E8A-4147-A177-3AD203B41FA5}">
                      <a16:colId xmlns:a16="http://schemas.microsoft.com/office/drawing/2014/main" val="2225691112"/>
                    </a:ext>
                  </a:extLst>
                </a:gridCol>
                <a:gridCol w="2924269">
                  <a:extLst>
                    <a:ext uri="{9D8B030D-6E8A-4147-A177-3AD203B41FA5}">
                      <a16:colId xmlns:a16="http://schemas.microsoft.com/office/drawing/2014/main" val="1250725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Número de Versión</a:t>
                      </a:r>
                      <a:endParaRPr lang="es-MX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Fecha de Actualización</a:t>
                      </a:r>
                      <a:endParaRPr lang="es-MX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Descripción del Cambio</a:t>
                      </a:r>
                      <a:endParaRPr lang="es-MX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0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68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00</a:t>
                      </a:r>
                      <a:endParaRPr lang="es-MX" sz="120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N/A</a:t>
                      </a:r>
                      <a:endParaRPr lang="es-MX" sz="12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1000" dirty="0"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N/A</a:t>
                      </a:r>
                      <a:endParaRPr lang="es-MX" sz="1200" dirty="0"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041597"/>
                  </a:ext>
                </a:extLst>
              </a:tr>
            </a:tbl>
          </a:graphicData>
        </a:graphic>
      </p:graphicFrame>
      <p:sp>
        <p:nvSpPr>
          <p:cNvPr id="44" name="Rectangle 1"/>
          <p:cNvSpPr>
            <a:spLocks noChangeArrowheads="1"/>
          </p:cNvSpPr>
          <p:nvPr/>
        </p:nvSpPr>
        <p:spPr bwMode="auto">
          <a:xfrm>
            <a:off x="523797" y="4947196"/>
            <a:ext cx="1863011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1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CONTROL DE CAMBIOS.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28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291401" y="847840"/>
            <a:ext cx="306769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0">
              <a:buSzPts val="1600"/>
              <a:buFont typeface="Arial"/>
              <a:buNone/>
            </a:pPr>
            <a:r>
              <a:rPr lang="es-MX" sz="2400" b="1" kern="12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  <a:sym typeface="Calibri"/>
              </a:rPr>
              <a:t>Ciclo documental</a:t>
            </a:r>
            <a:endParaRPr sz="2400" b="1" kern="12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"/>
              <a:ea typeface="+mn-ea"/>
              <a:cs typeface="+mn-cs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3281604" y="714714"/>
            <a:ext cx="7582920" cy="5593557"/>
            <a:chOff x="2430579" y="1140227"/>
            <a:chExt cx="7582920" cy="5593557"/>
          </a:xfrm>
        </p:grpSpPr>
        <p:grpSp>
          <p:nvGrpSpPr>
            <p:cNvPr id="196" name="Google Shape;196;p30"/>
            <p:cNvGrpSpPr/>
            <p:nvPr/>
          </p:nvGrpSpPr>
          <p:grpSpPr>
            <a:xfrm>
              <a:off x="2925086" y="1140227"/>
              <a:ext cx="6369799" cy="5446970"/>
              <a:chOff x="812543" y="52713"/>
              <a:chExt cx="6369799" cy="5446970"/>
            </a:xfrm>
          </p:grpSpPr>
          <p:sp>
            <p:nvSpPr>
              <p:cNvPr id="197" name="Google Shape;197;p30"/>
              <p:cNvSpPr/>
              <p:nvPr/>
            </p:nvSpPr>
            <p:spPr>
              <a:xfrm>
                <a:off x="4656100" y="479452"/>
                <a:ext cx="1806300" cy="1174200"/>
              </a:xfrm>
              <a:prstGeom prst="roundRect">
                <a:avLst>
                  <a:gd name="adj" fmla="val 16667"/>
                </a:avLst>
              </a:prstGeom>
              <a:solidFill>
                <a:srgbClr val="F275A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1568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30"/>
              <p:cNvSpPr txBox="1"/>
              <p:nvPr/>
            </p:nvSpPr>
            <p:spPr>
              <a:xfrm>
                <a:off x="4713418" y="536770"/>
                <a:ext cx="1691700" cy="1059600"/>
              </a:xfrm>
              <a:prstGeom prst="rect">
                <a:avLst/>
              </a:prstGeom>
              <a:solidFill>
                <a:srgbClr val="F275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Calibri"/>
                  <a:buNone/>
                </a:pPr>
                <a:r>
                  <a:rPr lang="es-MX" sz="2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2-</a:t>
                </a:r>
                <a:r>
                  <a:rPr lang="es-MX" sz="24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Revisión</a:t>
                </a:r>
                <a:endParaRPr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30"/>
              <p:cNvSpPr/>
              <p:nvPr/>
            </p:nvSpPr>
            <p:spPr>
              <a:xfrm>
                <a:off x="1548490" y="196743"/>
                <a:ext cx="4691100" cy="4691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7025" y="41343"/>
                    </a:moveTo>
                    <a:lnTo>
                      <a:pt x="117025" y="41343"/>
                    </a:lnTo>
                    <a:cubicBezTo>
                      <a:pt x="118389" y="45513"/>
                      <a:pt x="119292" y="49821"/>
                      <a:pt x="119717" y="54188"/>
                    </a:cubicBezTo>
                  </a:path>
                </a:pathLst>
              </a:custGeom>
              <a:noFill/>
              <a:ln w="9525" cap="flat" cmpd="sng">
                <a:solidFill>
                  <a:srgbClr val="406CBA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0"/>
              <p:cNvSpPr/>
              <p:nvPr/>
            </p:nvSpPr>
            <p:spPr>
              <a:xfrm>
                <a:off x="5376042" y="2484493"/>
                <a:ext cx="1806300" cy="1174200"/>
              </a:xfrm>
              <a:prstGeom prst="roundRect">
                <a:avLst>
                  <a:gd name="adj" fmla="val 16667"/>
                </a:avLst>
              </a:prstGeom>
              <a:solidFill>
                <a:srgbClr val="F275A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1568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0"/>
              <p:cNvSpPr txBox="1"/>
              <p:nvPr/>
            </p:nvSpPr>
            <p:spPr>
              <a:xfrm>
                <a:off x="5433360" y="2541811"/>
                <a:ext cx="1691700" cy="10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Calibri"/>
                  <a:buNone/>
                </a:pPr>
                <a:r>
                  <a:rPr lang="es-MX" sz="2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3- </a:t>
                </a:r>
                <a:r>
                  <a:rPr lang="es-MX" sz="24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Aprobación </a:t>
                </a:r>
                <a:endParaRPr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30"/>
              <p:cNvSpPr/>
              <p:nvPr/>
            </p:nvSpPr>
            <p:spPr>
              <a:xfrm>
                <a:off x="1843008" y="52713"/>
                <a:ext cx="4691100" cy="4691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07630" y="96487"/>
                    </a:moveTo>
                    <a:cubicBezTo>
                      <a:pt x="104433" y="100661"/>
                      <a:pt x="100701" y="104396"/>
                      <a:pt x="96530" y="107597"/>
                    </a:cubicBezTo>
                  </a:path>
                </a:pathLst>
              </a:custGeom>
              <a:noFill/>
              <a:ln w="9525" cap="flat" cmpd="sng">
                <a:solidFill>
                  <a:srgbClr val="5479C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30"/>
              <p:cNvSpPr/>
              <p:nvPr/>
            </p:nvSpPr>
            <p:spPr>
              <a:xfrm>
                <a:off x="3644346" y="4325483"/>
                <a:ext cx="1806300" cy="1174200"/>
              </a:xfrm>
              <a:prstGeom prst="roundRect">
                <a:avLst>
                  <a:gd name="adj" fmla="val 16667"/>
                </a:avLst>
              </a:prstGeom>
              <a:solidFill>
                <a:srgbClr val="F6A3B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1568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30"/>
              <p:cNvSpPr txBox="1"/>
              <p:nvPr/>
            </p:nvSpPr>
            <p:spPr>
              <a:xfrm>
                <a:off x="3701664" y="4382801"/>
                <a:ext cx="1691700" cy="10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200" tIns="76200" rIns="76200" bIns="762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Pts val="2000"/>
                  <a:buFont typeface="Calibri"/>
                  <a:buNone/>
                </a:pPr>
                <a:r>
                  <a:rPr lang="es-MX" sz="2000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4- </a:t>
                </a:r>
                <a:r>
                  <a:rPr lang="es-MX" sz="2000" b="0" i="0" u="none" strike="noStrike" cap="none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Divulgación</a:t>
                </a:r>
                <a:endParaRPr sz="2000" b="0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30"/>
              <p:cNvSpPr/>
              <p:nvPr/>
            </p:nvSpPr>
            <p:spPr>
              <a:xfrm>
                <a:off x="1287690" y="272848"/>
                <a:ext cx="4691100" cy="4691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1368" y="119375"/>
                    </a:moveTo>
                    <a:lnTo>
                      <a:pt x="51368" y="119375"/>
                    </a:lnTo>
                    <a:cubicBezTo>
                      <a:pt x="42107" y="118029"/>
                      <a:pt x="33290" y="114535"/>
                      <a:pt x="25621" y="109174"/>
                    </a:cubicBezTo>
                  </a:path>
                </a:pathLst>
              </a:custGeom>
              <a:noFill/>
              <a:ln w="9525" cap="flat" cmpd="sng">
                <a:solidFill>
                  <a:srgbClr val="6C89C9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0"/>
              <p:cNvSpPr/>
              <p:nvPr/>
            </p:nvSpPr>
            <p:spPr>
              <a:xfrm>
                <a:off x="812543" y="3145511"/>
                <a:ext cx="1806300" cy="1174200"/>
              </a:xfrm>
              <a:prstGeom prst="roundRect">
                <a:avLst>
                  <a:gd name="adj" fmla="val 16667"/>
                </a:avLst>
              </a:prstGeom>
              <a:solidFill>
                <a:srgbClr val="FBD0D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1568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0"/>
              <p:cNvSpPr txBox="1"/>
              <p:nvPr/>
            </p:nvSpPr>
            <p:spPr>
              <a:xfrm>
                <a:off x="869861" y="3202829"/>
                <a:ext cx="1691700" cy="105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200" tIns="76200" rIns="76200" bIns="762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Pts val="2000"/>
                  <a:buFont typeface="Calibri"/>
                  <a:buNone/>
                </a:pPr>
                <a:r>
                  <a:rPr lang="es-MX" sz="2000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5- </a:t>
                </a:r>
                <a:r>
                  <a:rPr lang="es-MX" sz="2000" b="0" i="0" u="none" strike="noStrike" cap="none">
                    <a:solidFill>
                      <a:srgbClr val="00206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Actualización</a:t>
                </a:r>
                <a:endParaRPr sz="2400" b="0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30"/>
              <p:cNvSpPr/>
              <p:nvPr/>
            </p:nvSpPr>
            <p:spPr>
              <a:xfrm>
                <a:off x="1508476" y="191664"/>
                <a:ext cx="4691100" cy="4691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802" y="69780"/>
                    </a:moveTo>
                    <a:lnTo>
                      <a:pt x="802" y="69780"/>
                    </a:lnTo>
                    <a:cubicBezTo>
                      <a:pt x="-181" y="63829"/>
                      <a:pt x="-261" y="57763"/>
                      <a:pt x="564" y="51787"/>
                    </a:cubicBezTo>
                  </a:path>
                </a:pathLst>
              </a:custGeom>
              <a:noFill/>
              <a:ln w="9525" cap="flat" cmpd="sng">
                <a:solidFill>
                  <a:srgbClr val="849AD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30"/>
              <p:cNvSpPr/>
              <p:nvPr/>
            </p:nvSpPr>
            <p:spPr>
              <a:xfrm>
                <a:off x="994149" y="814730"/>
                <a:ext cx="1806300" cy="1174200"/>
              </a:xfrm>
              <a:prstGeom prst="roundRect">
                <a:avLst>
                  <a:gd name="adj" fmla="val 16667"/>
                </a:avLst>
              </a:prstGeom>
              <a:solidFill>
                <a:srgbClr val="B31148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1568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0"/>
              <p:cNvSpPr txBox="1"/>
              <p:nvPr/>
            </p:nvSpPr>
            <p:spPr>
              <a:xfrm>
                <a:off x="1051467" y="872048"/>
                <a:ext cx="1691700" cy="1059600"/>
              </a:xfrm>
              <a:prstGeom prst="rect">
                <a:avLst/>
              </a:prstGeom>
              <a:solidFill>
                <a:srgbClr val="B311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Calibri"/>
                  <a:buNone/>
                </a:pPr>
                <a:r>
                  <a:rPr lang="es-MX" sz="2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1-</a:t>
                </a:r>
                <a:r>
                  <a:rPr lang="es-MX" sz="24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Creación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0"/>
              <p:cNvSpPr/>
              <p:nvPr/>
            </p:nvSpPr>
            <p:spPr>
              <a:xfrm>
                <a:off x="1452214" y="421930"/>
                <a:ext cx="4691100" cy="4691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36518" y="4785"/>
                    </a:moveTo>
                    <a:lnTo>
                      <a:pt x="36518" y="4785"/>
                    </a:lnTo>
                    <a:cubicBezTo>
                      <a:pt x="47489" y="119"/>
                      <a:pt x="59602" y="-1172"/>
                      <a:pt x="71310" y="1075"/>
                    </a:cubicBezTo>
                  </a:path>
                </a:pathLst>
              </a:custGeom>
              <a:noFill/>
              <a:ln w="9525" cap="flat" cmpd="sng">
                <a:solidFill>
                  <a:srgbClr val="9BABD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3" name="Google Shape;213;p30" descr="Envi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90813" y="5820847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30" descr="Lista de comprobació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00562" y="3359255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30" descr="Lápiz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390744" y="1383025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30" descr="Descargar desde la nub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30579" y="4949518"/>
              <a:ext cx="989014" cy="989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30" descr="Papel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692309" y="1840225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3811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548792" y="721664"/>
            <a:ext cx="8367000" cy="5277137"/>
            <a:chOff x="1621220" y="1083802"/>
            <a:chExt cx="8367000" cy="5277137"/>
          </a:xfrm>
        </p:grpSpPr>
        <p:sp>
          <p:nvSpPr>
            <p:cNvPr id="223" name="Google Shape;223;p31"/>
            <p:cNvSpPr txBox="1"/>
            <p:nvPr/>
          </p:nvSpPr>
          <p:spPr>
            <a:xfrm>
              <a:off x="1910695" y="2476935"/>
              <a:ext cx="1728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1.-Identificación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1"/>
            <p:cNvSpPr txBox="1"/>
            <p:nvPr/>
          </p:nvSpPr>
          <p:spPr>
            <a:xfrm>
              <a:off x="4841363" y="2476935"/>
              <a:ext cx="2060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2.-Almacenamiento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1"/>
            <p:cNvSpPr txBox="1"/>
            <p:nvPr/>
          </p:nvSpPr>
          <p:spPr>
            <a:xfrm>
              <a:off x="8013321" y="2476935"/>
              <a:ext cx="1660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3.-Preservación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1"/>
            <p:cNvSpPr txBox="1"/>
            <p:nvPr/>
          </p:nvSpPr>
          <p:spPr>
            <a:xfrm>
              <a:off x="8419496" y="4252727"/>
              <a:ext cx="1254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4.-Acceso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1"/>
            <p:cNvSpPr txBox="1"/>
            <p:nvPr/>
          </p:nvSpPr>
          <p:spPr>
            <a:xfrm>
              <a:off x="4975822" y="4237745"/>
              <a:ext cx="1776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5.- Recuperación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31"/>
            <p:cNvSpPr txBox="1"/>
            <p:nvPr/>
          </p:nvSpPr>
          <p:spPr>
            <a:xfrm>
              <a:off x="1979688" y="4234287"/>
              <a:ext cx="1587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6.-Distribución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1"/>
            <p:cNvSpPr txBox="1"/>
            <p:nvPr/>
          </p:nvSpPr>
          <p:spPr>
            <a:xfrm>
              <a:off x="1955206" y="5991639"/>
              <a:ext cx="1572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i="0" u="none" strike="noStrike" cap="none" dirty="0" smtClean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7.- </a:t>
              </a:r>
              <a:r>
                <a:rPr lang="es-MX" sz="1800" b="1" i="0" u="none" strike="noStrike" cap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Disposición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31"/>
            <p:cNvSpPr txBox="1"/>
            <p:nvPr/>
          </p:nvSpPr>
          <p:spPr>
            <a:xfrm>
              <a:off x="4495614" y="5991639"/>
              <a:ext cx="232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MX" sz="1800" b="1" dirty="0" smtClean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8.</a:t>
              </a:r>
              <a:r>
                <a:rPr lang="es-MX" sz="1800" b="1" i="0" u="none" strike="noStrike" cap="none" dirty="0" smtClean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- </a:t>
              </a:r>
              <a:r>
                <a:rPr lang="es-MX" sz="1800" b="1" i="0" u="none" strike="noStrike" cap="none" dirty="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Control de cambios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2" name="Google Shape;232;p31"/>
            <p:cNvCxnSpPr/>
            <p:nvPr/>
          </p:nvCxnSpPr>
          <p:spPr>
            <a:xfrm>
              <a:off x="3839715" y="2661601"/>
              <a:ext cx="808500" cy="0"/>
            </a:xfrm>
            <a:prstGeom prst="straightConnector1">
              <a:avLst/>
            </a:prstGeom>
            <a:noFill/>
            <a:ln w="76200" cap="flat" cmpd="sng">
              <a:solidFill>
                <a:srgbClr val="B3114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3" name="Google Shape;233;p31"/>
            <p:cNvCxnSpPr/>
            <p:nvPr/>
          </p:nvCxnSpPr>
          <p:spPr>
            <a:xfrm>
              <a:off x="7013611" y="2661601"/>
              <a:ext cx="808500" cy="0"/>
            </a:xfrm>
            <a:prstGeom prst="straightConnector1">
              <a:avLst/>
            </a:prstGeom>
            <a:noFill/>
            <a:ln w="76200" cap="flat" cmpd="sng">
              <a:solidFill>
                <a:srgbClr val="B3114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4" name="Google Shape;234;p31"/>
            <p:cNvCxnSpPr/>
            <p:nvPr/>
          </p:nvCxnSpPr>
          <p:spPr>
            <a:xfrm>
              <a:off x="8956792" y="2846267"/>
              <a:ext cx="0" cy="562500"/>
            </a:xfrm>
            <a:prstGeom prst="straightConnector1">
              <a:avLst/>
            </a:prstGeom>
            <a:noFill/>
            <a:ln w="76200" cap="flat" cmpd="sng">
              <a:solidFill>
                <a:srgbClr val="B3114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5" name="Google Shape;235;p31"/>
            <p:cNvCxnSpPr/>
            <p:nvPr/>
          </p:nvCxnSpPr>
          <p:spPr>
            <a:xfrm rot="10800000">
              <a:off x="7013677" y="4442290"/>
              <a:ext cx="854700" cy="0"/>
            </a:xfrm>
            <a:prstGeom prst="straightConnector1">
              <a:avLst/>
            </a:prstGeom>
            <a:noFill/>
            <a:ln w="76200" cap="flat" cmpd="sng">
              <a:solidFill>
                <a:srgbClr val="B3114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6" name="Google Shape;236;p31"/>
            <p:cNvCxnSpPr/>
            <p:nvPr/>
          </p:nvCxnSpPr>
          <p:spPr>
            <a:xfrm rot="10800000">
              <a:off x="3793397" y="4437392"/>
              <a:ext cx="854700" cy="0"/>
            </a:xfrm>
            <a:prstGeom prst="straightConnector1">
              <a:avLst/>
            </a:prstGeom>
            <a:noFill/>
            <a:ln w="76200" cap="flat" cmpd="sng">
              <a:solidFill>
                <a:srgbClr val="B3114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7" name="Google Shape;237;p31"/>
            <p:cNvCxnSpPr/>
            <p:nvPr/>
          </p:nvCxnSpPr>
          <p:spPr>
            <a:xfrm>
              <a:off x="2867418" y="4622058"/>
              <a:ext cx="0" cy="562500"/>
            </a:xfrm>
            <a:prstGeom prst="straightConnector1">
              <a:avLst/>
            </a:prstGeom>
            <a:noFill/>
            <a:ln w="76200" cap="flat" cmpd="sng">
              <a:solidFill>
                <a:srgbClr val="B3114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9" name="Google Shape;239;p31"/>
            <p:cNvCxnSpPr/>
            <p:nvPr/>
          </p:nvCxnSpPr>
          <p:spPr>
            <a:xfrm>
              <a:off x="3545450" y="6208571"/>
              <a:ext cx="808500" cy="0"/>
            </a:xfrm>
            <a:prstGeom prst="straightConnector1">
              <a:avLst/>
            </a:prstGeom>
            <a:noFill/>
            <a:ln w="76200" cap="flat" cmpd="sng">
              <a:solidFill>
                <a:srgbClr val="B3114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pic>
          <p:nvPicPr>
            <p:cNvPr id="240" name="Google Shape;240;p31" descr="Código de barra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4392" y="1789981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31" descr="PC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337492" y="1789981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31" descr="Señal de negación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499592" y="1752742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31" descr="Usuarios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452894" y="3537902"/>
              <a:ext cx="1085550" cy="91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31" descr="Disco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412410" y="3498139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1" descr="Descargar desde la nub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340784" y="3408620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1" descr="Reciclaje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387205" y="5148107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31" descr="Contrato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219842" y="5095026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31"/>
            <p:cNvSpPr txBox="1"/>
            <p:nvPr/>
          </p:nvSpPr>
          <p:spPr>
            <a:xfrm>
              <a:off x="1621220" y="1083802"/>
              <a:ext cx="8367000" cy="59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>
                <a:buSzPts val="1600"/>
              </a:pPr>
              <a:r>
                <a:rPr lang="es-MX" sz="2400" b="1" kern="1200" dirty="0">
                  <a:solidFill>
                    <a:srgbClr val="0070C0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Lato"/>
                  <a:ea typeface="+mn-ea"/>
                  <a:cs typeface="+mn-cs"/>
                </a:rPr>
                <a:t>7.5.3 Control de la información documentada</a:t>
              </a:r>
              <a:endParaRPr sz="2400" b="1" kern="12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822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32"/>
          <p:cNvGraphicFramePr/>
          <p:nvPr/>
        </p:nvGraphicFramePr>
        <p:xfrm>
          <a:off x="1384300" y="1003213"/>
          <a:ext cx="9829800" cy="46331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3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Descripción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75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Ejemplo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27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Identificación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 smtClean="0"/>
                        <a:t>Nombre y </a:t>
                      </a:r>
                      <a:r>
                        <a:rPr lang="es-MX" sz="1600" u="none" strike="noStrike" cap="none" dirty="0"/>
                        <a:t>tipo de archivo.</a:t>
                      </a: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Almacenamiento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 smtClean="0"/>
                        <a:t>Digital</a:t>
                      </a:r>
                      <a:r>
                        <a:rPr lang="es-MX" sz="1600" u="none" strike="noStrike" cap="none" baseline="0" dirty="0" smtClean="0"/>
                        <a:t> e I</a:t>
                      </a:r>
                      <a:r>
                        <a:rPr lang="es-MX" sz="1600" u="none" strike="noStrike" cap="none" dirty="0" smtClean="0"/>
                        <a:t>mpresa</a:t>
                      </a:r>
                      <a:r>
                        <a:rPr lang="es-MX" sz="1600" u="none" strike="noStrike" cap="none" dirty="0"/>
                        <a:t>.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/>
                        <a:t>Preservación</a:t>
                      </a: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 err="1" smtClean="0"/>
                        <a:t>PC,SIIRFE</a:t>
                      </a:r>
                      <a:r>
                        <a:rPr lang="es-MX" sz="1600" u="none" strike="noStrike" cap="none" dirty="0" smtClean="0"/>
                        <a:t>-MAC, </a:t>
                      </a:r>
                      <a:r>
                        <a:rPr lang="es-MX" sz="1600" u="none" strike="noStrike" cap="none" dirty="0" err="1" smtClean="0"/>
                        <a:t>USB,Correo</a:t>
                      </a:r>
                      <a:r>
                        <a:rPr lang="es-MX" sz="1600" u="none" strike="noStrike" cap="none" dirty="0" smtClean="0"/>
                        <a:t> Electrónico, Archivo.</a:t>
                      </a: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Acceso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 smtClean="0"/>
                        <a:t>Todo Personal del SGC.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Recuperación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 smtClean="0"/>
                        <a:t>Todo Personal del SGC.</a:t>
                      </a:r>
                      <a:endParaRPr lang="es-MX"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Distribución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 smtClean="0"/>
                        <a:t>Correo Electrónico, </a:t>
                      </a:r>
                      <a:r>
                        <a:rPr lang="es-MX" sz="1600" u="none" strike="noStrike" cap="none" dirty="0" err="1" smtClean="0"/>
                        <a:t>Oficio,SIIRFE</a:t>
                      </a:r>
                      <a:r>
                        <a:rPr lang="es-MX" sz="1600" u="none" strike="noStrike" cap="none" dirty="0" smtClean="0"/>
                        <a:t>-MAC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/>
                        <a:t>Disposición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 smtClean="0"/>
                        <a:t>Archivo Muerto, Eliminación, Resguardo Electrónico.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5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/>
                        <a:t>Control de cambios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MX" sz="1600" u="none" strike="noStrike" cap="none" dirty="0"/>
                        <a:t>Por medio de un numero de revisión.</a:t>
                      </a: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33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/>
        </p:nvSpPr>
        <p:spPr>
          <a:xfrm>
            <a:off x="900330" y="724468"/>
            <a:ext cx="5399762" cy="64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2400" b="1" kern="12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Lato"/>
                <a:ea typeface="+mn-ea"/>
                <a:cs typeface="+mn-cs"/>
                <a:sym typeface="Calibri"/>
              </a:rPr>
              <a:t>¿Cuáles son los beneficios?</a:t>
            </a:r>
            <a:endParaRPr sz="2400" b="1" kern="1200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Lato"/>
              <a:ea typeface="+mn-ea"/>
              <a:cs typeface="+mn-cs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3118019" y="910320"/>
            <a:ext cx="8494642" cy="5185351"/>
            <a:chOff x="1542716" y="1634597"/>
            <a:chExt cx="8494642" cy="5185351"/>
          </a:xfrm>
        </p:grpSpPr>
        <p:grpSp>
          <p:nvGrpSpPr>
            <p:cNvPr id="261" name="Google Shape;261;p33"/>
            <p:cNvGrpSpPr/>
            <p:nvPr/>
          </p:nvGrpSpPr>
          <p:grpSpPr>
            <a:xfrm>
              <a:off x="1542716" y="1634597"/>
              <a:ext cx="8494642" cy="5185351"/>
              <a:chOff x="0" y="67698"/>
              <a:chExt cx="8494642" cy="5185351"/>
            </a:xfrm>
          </p:grpSpPr>
          <p:sp>
            <p:nvSpPr>
              <p:cNvPr id="262" name="Google Shape;262;p33"/>
              <p:cNvSpPr/>
              <p:nvPr/>
            </p:nvSpPr>
            <p:spPr>
              <a:xfrm>
                <a:off x="1378680" y="2353401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3"/>
              <p:cNvSpPr txBox="1"/>
              <p:nvPr/>
            </p:nvSpPr>
            <p:spPr>
              <a:xfrm>
                <a:off x="1626827" y="2566478"/>
                <a:ext cx="1105795" cy="949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0300" rIns="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rPr lang="es-MX" sz="16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Preservación del “Cómo hacerlo”</a:t>
                </a:r>
                <a:endParaRPr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33"/>
              <p:cNvSpPr/>
              <p:nvPr/>
            </p:nvSpPr>
            <p:spPr>
              <a:xfrm>
                <a:off x="0" y="1592710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>
                  <a:alpha val="88627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3"/>
              <p:cNvSpPr/>
              <p:nvPr/>
            </p:nvSpPr>
            <p:spPr>
              <a:xfrm>
                <a:off x="4131585" y="2317435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3"/>
              <p:cNvSpPr txBox="1"/>
              <p:nvPr/>
            </p:nvSpPr>
            <p:spPr>
              <a:xfrm>
                <a:off x="4379732" y="2530512"/>
                <a:ext cx="1105795" cy="949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0300" rIns="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rPr lang="es-MX" sz="1600" b="0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Lograr trazabilidad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3"/>
              <p:cNvSpPr/>
              <p:nvPr/>
            </p:nvSpPr>
            <p:spPr>
              <a:xfrm>
                <a:off x="3859965" y="2778600"/>
                <a:ext cx="186882" cy="161264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/>
              </a:solidFill>
              <a:ln w="9525" cap="flat" cmpd="sng">
                <a:solidFill>
                  <a:srgbClr val="4372C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3"/>
              <p:cNvSpPr/>
              <p:nvPr/>
            </p:nvSpPr>
            <p:spPr>
              <a:xfrm>
                <a:off x="2757891" y="1581659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>
                  <a:alpha val="88627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3"/>
              <p:cNvSpPr/>
              <p:nvPr/>
            </p:nvSpPr>
            <p:spPr>
              <a:xfrm>
                <a:off x="1378680" y="832537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3"/>
              <p:cNvSpPr txBox="1"/>
              <p:nvPr/>
            </p:nvSpPr>
            <p:spPr>
              <a:xfrm>
                <a:off x="1626827" y="1045614"/>
                <a:ext cx="1105795" cy="949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0300" rIns="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rPr lang="es-MX" sz="16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Define criterios de operación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3"/>
              <p:cNvSpPr/>
              <p:nvPr/>
            </p:nvSpPr>
            <p:spPr>
              <a:xfrm>
                <a:off x="2757361" y="67698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>
                  <a:alpha val="88627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3"/>
              <p:cNvSpPr/>
              <p:nvPr/>
            </p:nvSpPr>
            <p:spPr>
              <a:xfrm>
                <a:off x="4135192" y="829426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3"/>
              <p:cNvSpPr txBox="1"/>
              <p:nvPr/>
            </p:nvSpPr>
            <p:spPr>
              <a:xfrm>
                <a:off x="4383339" y="1042503"/>
                <a:ext cx="1105795" cy="949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0300" rIns="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rPr lang="es-MX" sz="1600" b="0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Unificación de criterios de operación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3"/>
              <p:cNvSpPr/>
              <p:nvPr/>
            </p:nvSpPr>
            <p:spPr>
              <a:xfrm>
                <a:off x="6892551" y="2384958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>
                  <a:alpha val="88627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3"/>
              <p:cNvSpPr/>
              <p:nvPr/>
            </p:nvSpPr>
            <p:spPr>
              <a:xfrm>
                <a:off x="5826475" y="1627451"/>
                <a:ext cx="186882" cy="161264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/>
              </a:solidFill>
              <a:ln w="9525" cap="flat" cmpd="sng">
                <a:solidFill>
                  <a:srgbClr val="4372C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3"/>
              <p:cNvSpPr/>
              <p:nvPr/>
            </p:nvSpPr>
            <p:spPr>
              <a:xfrm>
                <a:off x="5513872" y="82217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3"/>
              <p:cNvSpPr txBox="1"/>
              <p:nvPr/>
            </p:nvSpPr>
            <p:spPr>
              <a:xfrm>
                <a:off x="5762019" y="295294"/>
                <a:ext cx="1105795" cy="949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0300" rIns="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rPr lang="es-MX" sz="1600" b="0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Mejora la </a:t>
                </a:r>
                <a:r>
                  <a:rPr lang="es-MX" sz="1500" b="0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comunicación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3"/>
              <p:cNvSpPr/>
              <p:nvPr/>
            </p:nvSpPr>
            <p:spPr>
              <a:xfrm>
                <a:off x="5501074" y="1591770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>
                  <a:alpha val="88627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3"/>
              <p:cNvSpPr/>
              <p:nvPr/>
            </p:nvSpPr>
            <p:spPr>
              <a:xfrm>
                <a:off x="7211951" y="880242"/>
                <a:ext cx="186882" cy="161264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/>
              </a:solidFill>
              <a:ln w="9525" cap="flat" cmpd="sng">
                <a:solidFill>
                  <a:srgbClr val="4372C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3"/>
              <p:cNvSpPr/>
              <p:nvPr/>
            </p:nvSpPr>
            <p:spPr>
              <a:xfrm>
                <a:off x="6892553" y="857168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3"/>
              <p:cNvSpPr txBox="1"/>
              <p:nvPr/>
            </p:nvSpPr>
            <p:spPr>
              <a:xfrm>
                <a:off x="7140700" y="1070245"/>
                <a:ext cx="1105795" cy="949519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0" tIns="20300" rIns="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rPr lang="es-MX" sz="1600" b="0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Facilita la inducción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3"/>
              <p:cNvSpPr/>
              <p:nvPr/>
            </p:nvSpPr>
            <p:spPr>
              <a:xfrm rot="10800000">
                <a:off x="4452728" y="3892059"/>
                <a:ext cx="1021844" cy="115039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>
                  <a:alpha val="88627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3"/>
              <p:cNvSpPr/>
              <p:nvPr/>
            </p:nvSpPr>
            <p:spPr>
              <a:xfrm>
                <a:off x="2755662" y="3112536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3"/>
              <p:cNvSpPr txBox="1"/>
              <p:nvPr/>
            </p:nvSpPr>
            <p:spPr>
              <a:xfrm>
                <a:off x="3003809" y="3325613"/>
                <a:ext cx="1105795" cy="949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0300" rIns="0" bIns="203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rPr lang="es-MX" sz="16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Herramienta de </a:t>
                </a:r>
                <a:r>
                  <a:rPr lang="es-MX" sz="14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entrenamiento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3"/>
              <p:cNvSpPr/>
              <p:nvPr/>
            </p:nvSpPr>
            <p:spPr>
              <a:xfrm>
                <a:off x="1377831" y="3877376"/>
                <a:ext cx="1602089" cy="1375673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1">
                  <a:alpha val="88627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" name="Grupo 1"/>
            <p:cNvGrpSpPr/>
            <p:nvPr/>
          </p:nvGrpSpPr>
          <p:grpSpPr>
            <a:xfrm>
              <a:off x="1907151" y="1830457"/>
              <a:ext cx="7857594" cy="4892932"/>
              <a:chOff x="1907151" y="1830457"/>
              <a:chExt cx="7857594" cy="4892932"/>
            </a:xfrm>
          </p:grpSpPr>
          <p:pic>
            <p:nvPicPr>
              <p:cNvPr id="298" name="Google Shape;298;p33" descr="Correo electrónico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623847" y="1830457"/>
                <a:ext cx="912937" cy="9129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9" name="Google Shape;299;p33" descr="Enrutador inalámbrico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7261858" y="3247440"/>
                <a:ext cx="1077497" cy="10774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0" name="Google Shape;300;p33" descr="Documento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907151" y="3375580"/>
                <a:ext cx="912937" cy="9129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1" name="Google Shape;301;p33" descr="Engranajes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3185986" y="5578910"/>
                <a:ext cx="1144479" cy="11444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" name="Google Shape;302;p33" descr="Diana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4598173" y="3290270"/>
                <a:ext cx="1064264" cy="10642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3" name="Google Shape;303;p33" descr="Chat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656997" y="4128058"/>
                <a:ext cx="1107748" cy="11077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85332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/>
          <p:nvPr/>
        </p:nvSpPr>
        <p:spPr>
          <a:xfrm>
            <a:off x="2908852" y="1360518"/>
            <a:ext cx="6374295" cy="3233531"/>
          </a:xfrm>
          <a:prstGeom prst="roundRect">
            <a:avLst>
              <a:gd name="adj" fmla="val 16667"/>
            </a:avLst>
          </a:prstGeom>
          <a:solidFill>
            <a:srgbClr val="D5007F"/>
          </a:solidFill>
          <a:ln>
            <a:noFill/>
          </a:ln>
          <a:effectLst>
            <a:outerShdw blurRad="57150" dist="19050" dir="5400000" algn="ctr" rotWithShape="0">
              <a:srgbClr val="000000">
                <a:alpha val="6156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4"/>
          <p:cNvSpPr/>
          <p:nvPr/>
        </p:nvSpPr>
        <p:spPr>
          <a:xfrm>
            <a:off x="3468756" y="1767722"/>
            <a:ext cx="5029200" cy="241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2493" marR="0" lvl="0" indent="-5009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Todos los  dueños de procesos deben demostrar con evidencia documentada el cumplimiento de los requisitos que les aplica en el Sistema  de Gestión de la Calidad (SGC).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34"/>
          <p:cNvGrpSpPr/>
          <p:nvPr/>
        </p:nvGrpSpPr>
        <p:grpSpPr>
          <a:xfrm>
            <a:off x="4075043" y="5076870"/>
            <a:ext cx="4104638" cy="1147965"/>
            <a:chOff x="678795" y="788071"/>
            <a:chExt cx="3534941" cy="1071995"/>
          </a:xfrm>
        </p:grpSpPr>
        <p:pic>
          <p:nvPicPr>
            <p:cNvPr id="312" name="Google Shape;312;p34" descr="Carpeta abiert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02532" y="788071"/>
              <a:ext cx="1071995" cy="1071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34" descr="Clip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8795" y="877252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34" descr="Correo electrónico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88133" y="791051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4" descr="Libros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300799" y="865206"/>
              <a:ext cx="912937" cy="91293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7354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2420791" y="791355"/>
            <a:ext cx="8064110" cy="5361710"/>
            <a:chOff x="764007" y="872836"/>
            <a:chExt cx="8064110" cy="5361710"/>
          </a:xfrm>
        </p:grpSpPr>
        <p:sp>
          <p:nvSpPr>
            <p:cNvPr id="2" name="Onda 1"/>
            <p:cNvSpPr/>
            <p:nvPr/>
          </p:nvSpPr>
          <p:spPr>
            <a:xfrm>
              <a:off x="764007" y="872836"/>
              <a:ext cx="8064110" cy="5361710"/>
            </a:xfrm>
            <a:prstGeom prst="wave">
              <a:avLst/>
            </a:prstGeom>
            <a:solidFill>
              <a:srgbClr val="F03399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14100000"/>
              </a:lightRig>
            </a:scene3d>
            <a:sp3d prstMaterial="softEdge">
              <a:bevelT w="127000" prst="artDeco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sz="1400" dirty="0">
                <a:solidFill>
                  <a:schemeClr val="bg1"/>
                </a:solidFill>
              </a:endParaRPr>
            </a:p>
          </p:txBody>
        </p:sp>
        <p:sp>
          <p:nvSpPr>
            <p:cNvPr id="3" name="Rectángulo 2"/>
            <p:cNvSpPr/>
            <p:nvPr/>
          </p:nvSpPr>
          <p:spPr>
            <a:xfrm>
              <a:off x="1373922" y="2337530"/>
              <a:ext cx="7287107" cy="22159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MX" b="1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Contacto Coordinación Equipo implementador SGC JLE Puebla</a:t>
              </a:r>
            </a:p>
            <a:p>
              <a:endPara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Ricardo Sánchez Sánchez   	</a:t>
              </a: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ricardo.sanchezs@ine.mx</a:t>
              </a:r>
            </a:p>
            <a:p>
              <a:pPr lvl="7">
                <a:buClr>
                  <a:schemeClr val="bg1"/>
                </a:buClr>
              </a:pP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55 27 73 30 74 </a:t>
              </a: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lvl="7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MX" sz="1400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Daniel </a:t>
              </a: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Palacios Martínez</a:t>
              </a:r>
              <a:r>
                <a:rPr lang="es-MX" sz="1400" dirty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</a:t>
              </a:r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daniel.palacios@ine.mx</a:t>
              </a: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7"/>
              <a:r>
                <a:rPr lang="es-MX" sz="1400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	55 53 32 37 95</a:t>
              </a:r>
              <a:endParaRPr lang="es-MX" sz="1400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6"/>
              <a:endParaRPr lang="es-MX" sz="1400" b="1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6"/>
              <a:r>
                <a:rPr lang="es-MX" b="1" dirty="0" smtClean="0">
                  <a:solidFill>
                    <a:schemeClr val="bg1"/>
                  </a:solidFill>
                  <a:latin typeface="Century Gothic" panose="020B050202020202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IP 350497</a:t>
              </a:r>
              <a:endPara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997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359</Words>
  <Application>Microsoft Office PowerPoint</Application>
  <PresentationFormat>Panorámica</PresentationFormat>
  <Paragraphs>137</Paragraphs>
  <Slides>10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Lato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SANCHEZ SANCHEZ RICARDO</dc:creator>
  <cp:lastModifiedBy>SANCHEZ SANCHEZ RICARDO</cp:lastModifiedBy>
  <cp:revision>4</cp:revision>
  <dcterms:created xsi:type="dcterms:W3CDTF">2020-02-24T19:28:25Z</dcterms:created>
  <dcterms:modified xsi:type="dcterms:W3CDTF">2020-02-27T16:17:38Z</dcterms:modified>
</cp:coreProperties>
</file>