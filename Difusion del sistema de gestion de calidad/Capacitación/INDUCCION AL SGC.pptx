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1" r:id="rId1"/>
  </p:sldMasterIdLst>
  <p:notesMasterIdLst>
    <p:notesMasterId r:id="rId20"/>
  </p:notesMasterIdLst>
  <p:handoutMasterIdLst>
    <p:handoutMasterId r:id="rId21"/>
  </p:handoutMasterIdLst>
  <p:sldIdLst>
    <p:sldId id="261" r:id="rId2"/>
    <p:sldId id="368" r:id="rId3"/>
    <p:sldId id="311" r:id="rId4"/>
    <p:sldId id="310" r:id="rId5"/>
    <p:sldId id="364" r:id="rId6"/>
    <p:sldId id="366" r:id="rId7"/>
    <p:sldId id="308" r:id="rId8"/>
    <p:sldId id="315" r:id="rId9"/>
    <p:sldId id="319" r:id="rId10"/>
    <p:sldId id="318" r:id="rId11"/>
    <p:sldId id="370" r:id="rId12"/>
    <p:sldId id="371" r:id="rId13"/>
    <p:sldId id="360" r:id="rId14"/>
    <p:sldId id="369" r:id="rId15"/>
    <p:sldId id="322" r:id="rId16"/>
    <p:sldId id="358" r:id="rId17"/>
    <p:sldId id="374" r:id="rId18"/>
    <p:sldId id="372" r:id="rId19"/>
  </p:sldIdLst>
  <p:sldSz cx="9145588" cy="6858000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  <p15:guide id="3" orient="horz" pos="2208">
          <p15:clr>
            <a:srgbClr val="A4A3A4"/>
          </p15:clr>
        </p15:guide>
        <p15:guide id="4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6600CC"/>
    <a:srgbClr val="D5007F"/>
    <a:srgbClr val="003366"/>
    <a:srgbClr val="FF0066"/>
    <a:srgbClr val="009999"/>
    <a:srgbClr val="FF9933"/>
    <a:srgbClr val="D60093"/>
    <a:srgbClr val="FFFF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83" autoAdjust="0"/>
    <p:restoredTop sz="94057" autoAdjust="0"/>
  </p:normalViewPr>
  <p:slideViewPr>
    <p:cSldViewPr snapToGrid="0">
      <p:cViewPr varScale="1">
        <p:scale>
          <a:sx n="69" d="100"/>
          <a:sy n="69" d="100"/>
        </p:scale>
        <p:origin x="2154" y="72"/>
      </p:cViewPr>
      <p:guideLst>
        <p:guide orient="horz" pos="2160"/>
        <p:guide pos="3840"/>
        <p:guide pos="2881"/>
      </p:guideLst>
    </p:cSldViewPr>
  </p:slideViewPr>
  <p:outlineViewPr>
    <p:cViewPr>
      <p:scale>
        <a:sx n="33" d="100"/>
        <a:sy n="33" d="100"/>
      </p:scale>
      <p:origin x="0" y="19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5" d="100"/>
          <a:sy n="115" d="100"/>
        </p:scale>
        <p:origin x="-2406" y="-114"/>
      </p:cViewPr>
      <p:guideLst>
        <p:guide orient="horz" pos="2928"/>
        <p:guide pos="2208"/>
        <p:guide orient="horz" pos="2208"/>
        <p:guide pos="29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2629" tIns="46314" rIns="92629" bIns="46314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2629" tIns="46314" rIns="92629" bIns="46314" rtlCol="0"/>
          <a:lstStyle>
            <a:lvl1pPr algn="r">
              <a:defRPr sz="1200"/>
            </a:lvl1pPr>
          </a:lstStyle>
          <a:p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2629" tIns="46314" rIns="92629" bIns="46314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2629" tIns="46314" rIns="92629" bIns="46314" rtlCol="0" anchor="b"/>
          <a:lstStyle>
            <a:lvl1pPr algn="r">
              <a:defRPr sz="1200"/>
            </a:lvl1pPr>
          </a:lstStyle>
          <a:p>
            <a:fld id="{D7CB5ECC-A6C3-434E-AD5B-03A191D8F341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679" y="0"/>
            <a:ext cx="1817197" cy="521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30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2629" tIns="46314" rIns="92629" bIns="46314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2629" tIns="46314" rIns="92629" bIns="46314" rtlCol="0"/>
          <a:lstStyle>
            <a:lvl1pPr algn="r">
              <a:defRPr sz="1200"/>
            </a:lvl1pPr>
          </a:lstStyle>
          <a:p>
            <a:fld id="{AF117F0A-4A5D-482F-9360-A2858A2533E4}" type="datetimeFigureOut">
              <a:rPr lang="es-MX" smtClean="0"/>
              <a:t>04/03/2020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68638" y="874713"/>
            <a:ext cx="3159125" cy="2368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29" tIns="46314" rIns="92629" bIns="46314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2629" tIns="46314" rIns="92629" bIns="46314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2629" tIns="46314" rIns="92629" bIns="46314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2629" tIns="46314" rIns="92629" bIns="46314" rtlCol="0" anchor="b"/>
          <a:lstStyle>
            <a:lvl1pPr algn="r">
              <a:defRPr sz="1200"/>
            </a:lvl1pPr>
          </a:lstStyle>
          <a:p>
            <a:fld id="{FDEF80D6-6CE3-4325-8C8B-54AAE71670A6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8115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Se hizo</a:t>
            </a:r>
            <a:r>
              <a:rPr lang="es-MX" baseline="0" dirty="0" smtClean="0"/>
              <a:t> con Alta Dir. Comité y Coordinadores de Puebla </a:t>
            </a:r>
          </a:p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F80D6-6CE3-4325-8C8B-54AAE71670A6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27393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Debido al efecto potencial en la capacidad de proporcionar regularmente el servicio que satisfagan los requisitos de la ciudadanía, los legales y reglamentarios aplicables, </a:t>
            </a:r>
            <a:r>
              <a:rPr lang="es-MX" sz="1200" b="1" dirty="0" smtClean="0">
                <a:latin typeface="Lato"/>
                <a:ea typeface="Times New Roman" panose="02020603050405020304" pitchFamily="18" charset="0"/>
              </a:rPr>
              <a:t>La Junta Local Ejecutiva</a:t>
            </a: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 determina:</a:t>
            </a:r>
          </a:p>
          <a:p>
            <a:pPr algn="just">
              <a:spcAft>
                <a:spcPts val="0"/>
              </a:spcAft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Las partes interesadas que son pertinentes al SGC.</a:t>
            </a:r>
          </a:p>
          <a:p>
            <a:pPr algn="just">
              <a:spcAft>
                <a:spcPts val="0"/>
              </a:spcAft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Los requisitos pertinentes de estas partes interesadas para el SGC.</a:t>
            </a:r>
          </a:p>
          <a:p>
            <a:pPr algn="just">
              <a:spcAft>
                <a:spcPts val="0"/>
              </a:spcAft>
            </a:pPr>
            <a:r>
              <a:rPr lang="es-MX" sz="1200" dirty="0" smtClean="0">
                <a:latin typeface="Lato"/>
                <a:ea typeface="Times New Roman" panose="02020603050405020304" pitchFamily="18" charset="0"/>
              </a:rPr>
              <a:t> 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F80D6-6CE3-4325-8C8B-54AAE71670A6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5082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F80D6-6CE3-4325-8C8B-54AAE71670A6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00860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068638" y="874713"/>
            <a:ext cx="3159125" cy="23685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ke</a:t>
            </a:r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F80D6-6CE3-4325-8C8B-54AAE71670A6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47183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720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" y="86303"/>
            <a:ext cx="162905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4" y="4576007"/>
            <a:ext cx="913375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64" y="47480"/>
            <a:ext cx="1751724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1640891" y="151762"/>
            <a:ext cx="68088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  <p:extLst>
      <p:ext uri="{BB962C8B-B14F-4D97-AF65-F5344CB8AC3E}">
        <p14:creationId xmlns:p14="http://schemas.microsoft.com/office/powerpoint/2010/main" val="343481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1667933" y="193301"/>
            <a:ext cx="7560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Requisitos de la norma</a:t>
            </a:r>
            <a:r>
              <a:rPr lang="es-ES_tradnl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ISO 9001:2015</a:t>
            </a:r>
            <a:r>
              <a:rPr lang="es-MX" sz="1600" b="1" dirty="0" smtClean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para el Sistema de Gestión de la Calidad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" y="86303"/>
            <a:ext cx="162905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4" y="4576007"/>
            <a:ext cx="913375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64" y="47480"/>
            <a:ext cx="1751724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1640891" y="232200"/>
            <a:ext cx="4705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91">
              <a:buClr>
                <a:srgbClr val="000000"/>
              </a:buClr>
              <a:buSzPts val="1200"/>
            </a:pPr>
            <a:r>
              <a:rPr lang="es-MX" sz="9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685891">
              <a:buClr>
                <a:srgbClr val="000000"/>
              </a:buClr>
              <a:buSzPts val="1200"/>
            </a:pPr>
            <a:r>
              <a:rPr lang="es-MX" sz="9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9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9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" name="Grupo 5"/>
          <p:cNvGrpSpPr/>
          <p:nvPr userDrawn="1"/>
        </p:nvGrpSpPr>
        <p:grpSpPr>
          <a:xfrm>
            <a:off x="4266" y="1"/>
            <a:ext cx="9141322" cy="6853119"/>
            <a:chOff x="5686" y="0"/>
            <a:chExt cx="12186313" cy="6853119"/>
          </a:xfrm>
        </p:grpSpPr>
        <p:pic>
          <p:nvPicPr>
            <p:cNvPr id="7" name="Imagen 6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" y="0"/>
              <a:ext cx="12186313" cy="6853119"/>
            </a:xfrm>
            <a:prstGeom prst="rect">
              <a:avLst/>
            </a:prstGeom>
          </p:spPr>
        </p:pic>
        <p:sp>
          <p:nvSpPr>
            <p:cNvPr id="8" name="12 Rectángulo"/>
            <p:cNvSpPr/>
            <p:nvPr userDrawn="1"/>
          </p:nvSpPr>
          <p:spPr>
            <a:xfrm>
              <a:off x="2306009" y="151761"/>
              <a:ext cx="627261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91">
                <a:buClr>
                  <a:srgbClr val="000000"/>
                </a:buClr>
                <a:buSzPts val="1200"/>
              </a:pPr>
              <a:r>
                <a:rPr lang="es-MX" sz="9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Dirección Ejecutiva del Registro Federal de Electores</a:t>
              </a:r>
            </a:p>
            <a:p>
              <a:pPr defTabSz="685891">
                <a:buClr>
                  <a:srgbClr val="000000"/>
                </a:buClr>
                <a:buSzPts val="1200"/>
              </a:pPr>
              <a:r>
                <a:rPr lang="es-MX" sz="9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Coordinación de Operación en </a:t>
              </a:r>
              <a:r>
                <a:rPr lang="es-MX" sz="900" b="1" dirty="0" smtClean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Campo</a:t>
              </a:r>
              <a:endParaRPr lang="es-MX" sz="900" b="1" dirty="0">
                <a:solidFill>
                  <a:schemeClr val="bg1"/>
                </a:solidFill>
                <a:latin typeface="Lato"/>
                <a:ea typeface="Lato"/>
                <a:cs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55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" y="86303"/>
            <a:ext cx="1629058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4" y="4576007"/>
            <a:ext cx="913375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64" y="47480"/>
            <a:ext cx="1751724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640891" y="232201"/>
            <a:ext cx="4705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588" cy="685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68" r:id="rId2"/>
    <p:sldLayoutId id="2147484175" r:id="rId3"/>
    <p:sldLayoutId id="2147484178" r:id="rId4"/>
    <p:sldLayoutId id="2147484179" r:id="rId5"/>
    <p:sldLayoutId id="2147484180" r:id="rId6"/>
    <p:sldLayoutId id="2147484182" r:id="rId7"/>
    <p:sldLayoutId id="2147484183" r:id="rId8"/>
    <p:sldLayoutId id="2147484190" r:id="rId9"/>
    <p:sldLayoutId id="2147484192" r:id="rId10"/>
    <p:sldLayoutId id="2147484194" r:id="rId11"/>
    <p:sldLayoutId id="2147484195" r:id="rId12"/>
    <p:sldLayoutId id="2147484196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hyperlink" Target="CONTEXTO%20DE%20LA%20ORGANIZACION.docx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../PLAN%20ESTRAT&#201;GICO%20DE%20LA%20INSTITUCI&#211;N%20JLE%20PUEBLA.xlsx" TargetMode="External"/><Relationship Id="rId7" Type="http://schemas.openxmlformats.org/officeDocument/2006/relationships/hyperlink" Target="COMPRENSION%20DE%20LA%20ORGANIZACION%20Y%20SU%20SU%20CONTEXTO.doc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PLAN%20ESTRAT&#201;GICO%20DE%20LA%20INSTITUCI&#211;N%20JLE%20PUEBLA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hyperlink" Target="NUEVAS%20PRESENTACIONES/ROLES.docx" TargetMode="External"/><Relationship Id="rId1" Type="http://schemas.openxmlformats.org/officeDocument/2006/relationships/slideLayout" Target="../slideLayouts/slideLayout8.xml"/><Relationship Id="rId6" Type="http://schemas.openxmlformats.org/officeDocument/2006/relationships/slide" Target="slide13.xml"/><Relationship Id="rId5" Type="http://schemas.openxmlformats.org/officeDocument/2006/relationships/slide" Target="slide15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NUEVAS%20PRESENTACIONES/PLANIFICACION.docx" TargetMode="Externa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NUEVAS%20PRESENTACIONES/APOYO.docx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NUEVAS%20PRESENTACIONES/APOYO.docx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NUEVAS%20PRESENTACIONES/APOYO.docx" TargetMode="Externa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NUEVAS%20PRESENTACIONES/APOYO.docx" TargetMode="Externa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NUEVAS%20PRESENTACIONES/EVALUACION%20DEL%20DESEMPE&#209;O.doc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NUEVAS%20PRESENTACIONES/MEJORA.docx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0;p35"/>
          <p:cNvSpPr/>
          <p:nvPr/>
        </p:nvSpPr>
        <p:spPr>
          <a:xfrm>
            <a:off x="349476" y="930237"/>
            <a:ext cx="8343278" cy="2774784"/>
          </a:xfrm>
          <a:prstGeom prst="roundRect">
            <a:avLst>
              <a:gd name="adj" fmla="val 16667"/>
            </a:avLst>
          </a:prstGeom>
          <a:solidFill>
            <a:srgbClr val="950054"/>
          </a:solidFill>
          <a:ln w="15875" cap="rnd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s-MX" sz="3000" dirty="0" smtClean="0">
                <a:solidFill>
                  <a:schemeClr val="bg1"/>
                </a:solidFill>
                <a:latin typeface="Lato"/>
              </a:rPr>
              <a:t>Bienvenidos </a:t>
            </a:r>
          </a:p>
          <a:p>
            <a:pPr algn="ctr">
              <a:buClr>
                <a:srgbClr val="000000"/>
              </a:buClr>
              <a:buSzPts val="800"/>
            </a:pPr>
            <a:r>
              <a:rPr lang="es-MX" sz="3000" dirty="0" smtClean="0">
                <a:solidFill>
                  <a:schemeClr val="bg1"/>
                </a:solidFill>
                <a:latin typeface="Lato"/>
              </a:rPr>
              <a:t>Implementación </a:t>
            </a:r>
            <a:r>
              <a:rPr lang="es-MX" sz="3000" dirty="0">
                <a:solidFill>
                  <a:schemeClr val="bg1"/>
                </a:solidFill>
                <a:latin typeface="Lato"/>
              </a:rPr>
              <a:t>del Sistema de Gestión de Calidad en la </a:t>
            </a:r>
            <a:r>
              <a:rPr lang="es-MX" sz="3000" dirty="0" smtClean="0">
                <a:solidFill>
                  <a:schemeClr val="bg1"/>
                </a:solidFill>
                <a:latin typeface="Lato"/>
              </a:rPr>
              <a:t>Delegación Puebla</a:t>
            </a:r>
            <a:endParaRPr sz="3000" dirty="0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75" y="4061637"/>
            <a:ext cx="2419757" cy="2383164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-53446" y="6643044"/>
            <a:ext cx="10550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b="1" dirty="0" smtClean="0">
                <a:solidFill>
                  <a:schemeClr val="bg1"/>
                </a:solidFill>
                <a:latin typeface="Lato"/>
              </a:rPr>
              <a:t>Marzo  2020</a:t>
            </a:r>
            <a:endParaRPr lang="es-MX" sz="1200" b="1" dirty="0">
              <a:solidFill>
                <a:schemeClr val="bg1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7634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188" y="1608607"/>
            <a:ext cx="4032955" cy="3965174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  <p:sp>
        <p:nvSpPr>
          <p:cNvPr id="6" name="1 CuadroTexto"/>
          <p:cNvSpPr txBox="1"/>
          <p:nvPr/>
        </p:nvSpPr>
        <p:spPr>
          <a:xfrm>
            <a:off x="3547580" y="926381"/>
            <a:ext cx="329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Mejora Continua</a:t>
            </a:r>
          </a:p>
        </p:txBody>
      </p:sp>
    </p:spTree>
    <p:extLst>
      <p:ext uri="{BB962C8B-B14F-4D97-AF65-F5344CB8AC3E}">
        <p14:creationId xmlns:p14="http://schemas.microsoft.com/office/powerpoint/2010/main" val="49080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57;p34"/>
          <p:cNvSpPr txBox="1">
            <a:spLocks noGrp="1"/>
          </p:cNvSpPr>
          <p:nvPr>
            <p:ph type="title" idx="4294967295"/>
          </p:nvPr>
        </p:nvSpPr>
        <p:spPr>
          <a:xfrm>
            <a:off x="1511340" y="3388948"/>
            <a:ext cx="6712104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SzPts val="2600"/>
            </a:pPr>
            <a:r>
              <a:rPr lang="es-MX" sz="1800" b="1" dirty="0">
                <a:latin typeface="Lato"/>
                <a:ea typeface="+mn-ea"/>
                <a:cs typeface="Arial" panose="020B0604020202020204" pitchFamily="34" charset="0"/>
                <a:sym typeface="Arial"/>
              </a:rPr>
              <a:t>POLÍTICA </a:t>
            </a:r>
            <a:r>
              <a:rPr lang="es-MX" sz="1800" b="1" dirty="0" smtClean="0">
                <a:latin typeface="Lato"/>
                <a:ea typeface="+mn-ea"/>
                <a:cs typeface="Arial" panose="020B0604020202020204" pitchFamily="34" charset="0"/>
                <a:sym typeface="Arial"/>
              </a:rPr>
              <a:t>DE LA CALIDAD</a:t>
            </a:r>
            <a:endParaRPr sz="1800" b="1" dirty="0">
              <a:latin typeface="Lato"/>
              <a:ea typeface="+mn-ea"/>
              <a:cs typeface="Arial" panose="020B0604020202020204" pitchFamily="34" charset="0"/>
              <a:hlinkClick r:id="" action="ppaction://noaction"/>
            </a:endParaRPr>
          </a:p>
        </p:txBody>
      </p:sp>
      <p:sp>
        <p:nvSpPr>
          <p:cNvPr id="10" name="Marcador de contenido 2"/>
          <p:cNvSpPr>
            <a:spLocks noGrp="1"/>
          </p:cNvSpPr>
          <p:nvPr>
            <p:ph idx="4294967295"/>
          </p:nvPr>
        </p:nvSpPr>
        <p:spPr>
          <a:xfrm>
            <a:off x="2498104" y="3919575"/>
            <a:ext cx="6185180" cy="1484313"/>
          </a:xfrm>
          <a:prstGeom prst="rect">
            <a:avLst/>
          </a:prstGeom>
        </p:spPr>
        <p:txBody>
          <a:bodyPr/>
          <a:lstStyle/>
          <a:p>
            <a:pPr marL="0" indent="0" algn="just">
              <a:buNone/>
            </a:pPr>
            <a:r>
              <a:rPr lang="es-MX" sz="1800" dirty="0" smtClean="0">
                <a:solidFill>
                  <a:srgbClr val="434343"/>
                </a:solidFill>
                <a:latin typeface="Lato"/>
                <a:cs typeface="Arial" panose="020B0604020202020204" pitchFamily="34" charset="0"/>
              </a:rPr>
              <a:t>En el Instituto  Nacional Electoral INE, estamos comprometidos en proporcionar </a:t>
            </a:r>
            <a:r>
              <a:rPr lang="es-MX" sz="1800" dirty="0">
                <a:solidFill>
                  <a:srgbClr val="434343"/>
                </a:solidFill>
                <a:latin typeface="Lato"/>
                <a:cs typeface="Arial" panose="020B0604020202020204" pitchFamily="34" charset="0"/>
              </a:rPr>
              <a:t>a la ciudadanía un </a:t>
            </a:r>
            <a:r>
              <a:rPr lang="es-MX" sz="1800" dirty="0">
                <a:solidFill>
                  <a:schemeClr val="accent6"/>
                </a:solidFill>
                <a:latin typeface="Lato"/>
                <a:cs typeface="Arial" panose="020B0604020202020204" pitchFamily="34" charset="0"/>
              </a:rPr>
              <a:t>servicio eficiente y de calidad </a:t>
            </a:r>
            <a:r>
              <a:rPr lang="es-MX" sz="1800" dirty="0">
                <a:solidFill>
                  <a:srgbClr val="434343"/>
                </a:solidFill>
                <a:latin typeface="Lato"/>
                <a:cs typeface="Arial" panose="020B0604020202020204" pitchFamily="34" charset="0"/>
              </a:rPr>
              <a:t>en el trámite de  </a:t>
            </a:r>
            <a:r>
              <a:rPr lang="es-MX" sz="1800" dirty="0">
                <a:solidFill>
                  <a:srgbClr val="C01189"/>
                </a:solidFill>
                <a:latin typeface="Lato"/>
                <a:cs typeface="Arial" panose="020B0604020202020204" pitchFamily="34" charset="0"/>
              </a:rPr>
              <a:t>expedición de la credencial para votar,</a:t>
            </a:r>
            <a:r>
              <a:rPr lang="es-MX" sz="1800" dirty="0">
                <a:solidFill>
                  <a:srgbClr val="434343"/>
                </a:solidFill>
                <a:latin typeface="Lato"/>
                <a:cs typeface="Arial" panose="020B0604020202020204" pitchFamily="34" charset="0"/>
              </a:rPr>
              <a:t> desde la entrevista hasta la entrega de la credencial para votar, para contribuir al Derecho a la Identidad ciudadana, con base en el marco normativo, reglamentario y en un entorno de mejora continúa con apego a los requisitos de la norma ISO 9001:2015</a:t>
            </a:r>
            <a:endParaRPr lang="en-US" sz="1800" dirty="0">
              <a:solidFill>
                <a:srgbClr val="595959"/>
              </a:solidFill>
              <a:latin typeface="Lato"/>
              <a:cs typeface="Arial" panose="020B0604020202020204" pitchFamily="34" charset="0"/>
            </a:endParaRPr>
          </a:p>
        </p:txBody>
      </p:sp>
      <p:sp>
        <p:nvSpPr>
          <p:cNvPr id="12" name="Google Shape;281;p35"/>
          <p:cNvSpPr/>
          <p:nvPr/>
        </p:nvSpPr>
        <p:spPr>
          <a:xfrm>
            <a:off x="4753956" y="2508659"/>
            <a:ext cx="3929328" cy="790113"/>
          </a:xfrm>
          <a:prstGeom prst="roundRect">
            <a:avLst>
              <a:gd name="adj" fmla="val 16667"/>
            </a:avLst>
          </a:prstGeom>
          <a:solidFill>
            <a:srgbClr val="950054"/>
          </a:solidFill>
          <a:ln w="15875" cap="rnd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s-MX" dirty="0">
                <a:solidFill>
                  <a:srgbClr val="FFFFFF"/>
                </a:solidFill>
                <a:latin typeface="Lato"/>
                <a:ea typeface="Lato"/>
                <a:cs typeface="Arial" panose="020B0604020202020204" pitchFamily="34" charset="0"/>
                <a:sym typeface="Lato"/>
              </a:rPr>
              <a:t> Garantizar el Derecho a la Identidad.</a:t>
            </a:r>
            <a:endParaRPr dirty="0">
              <a:solidFill>
                <a:srgbClr val="FFFFFF"/>
              </a:solidFill>
              <a:latin typeface="Lato"/>
              <a:ea typeface="Lato"/>
              <a:cs typeface="Arial" panose="020B0604020202020204" pitchFamily="34" charset="0"/>
              <a:sym typeface="Lato"/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338071" y="1466457"/>
            <a:ext cx="7777370" cy="1837166"/>
            <a:chOff x="239135" y="884581"/>
            <a:chExt cx="10820024" cy="1837166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1" name="Google Shape;280;p35"/>
            <p:cNvSpPr/>
            <p:nvPr/>
          </p:nvSpPr>
          <p:spPr>
            <a:xfrm>
              <a:off x="239135" y="1940473"/>
              <a:ext cx="5466557" cy="781274"/>
            </a:xfrm>
            <a:prstGeom prst="roundRect">
              <a:avLst>
                <a:gd name="adj" fmla="val 16667"/>
              </a:avLst>
            </a:prstGeom>
            <a:solidFill>
              <a:srgbClr val="950054"/>
            </a:solid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800"/>
              </a:pPr>
              <a:r>
                <a:rPr lang="es-MX" dirty="0">
                  <a:solidFill>
                    <a:srgbClr val="FFFFFF"/>
                  </a:solidFill>
                  <a:latin typeface="Lato"/>
                  <a:ea typeface="Lato"/>
                  <a:cs typeface="Arial" panose="020B0604020202020204" pitchFamily="34" charset="0"/>
                  <a:sym typeface="Lato"/>
                </a:rPr>
                <a:t>Fortalecer la confianza y la participación ciudadana en la vida democrática y política del país.</a:t>
              </a:r>
              <a:endParaRPr dirty="0">
                <a:solidFill>
                  <a:srgbClr val="FFFFFF"/>
                </a:solidFill>
                <a:latin typeface="Lato"/>
                <a:ea typeface="Lato"/>
                <a:cs typeface="Arial" panose="020B0604020202020204" pitchFamily="34" charset="0"/>
                <a:sym typeface="Lato"/>
              </a:endParaRPr>
            </a:p>
          </p:txBody>
        </p:sp>
        <p:sp>
          <p:nvSpPr>
            <p:cNvPr id="13" name="Google Shape;257;p34"/>
            <p:cNvSpPr txBox="1">
              <a:spLocks/>
            </p:cNvSpPr>
            <p:nvPr/>
          </p:nvSpPr>
          <p:spPr>
            <a:xfrm>
              <a:off x="1040445" y="884581"/>
              <a:ext cx="10018714" cy="560290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000" kern="1200" cap="none">
                  <a:ln w="3175" cmpd="sng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spcBef>
                  <a:spcPts val="0"/>
                </a:spcBef>
                <a:buSzPts val="2600"/>
              </a:pPr>
              <a:r>
                <a:rPr lang="es-MX" sz="1800" b="1" dirty="0">
                  <a:solidFill>
                    <a:srgbClr val="1A1A1A"/>
                  </a:solidFill>
                  <a:latin typeface="Lato"/>
                  <a:cs typeface="Arial" panose="020B0604020202020204" pitchFamily="34" charset="0"/>
                </a:rPr>
                <a:t>Objetivos </a:t>
              </a:r>
              <a:r>
                <a:rPr lang="es-MX" sz="1800" b="1" dirty="0" smtClean="0">
                  <a:solidFill>
                    <a:srgbClr val="1A1A1A"/>
                  </a:solidFill>
                  <a:latin typeface="Lato"/>
                  <a:cs typeface="Arial" panose="020B0604020202020204" pitchFamily="34" charset="0"/>
                </a:rPr>
                <a:t>Estratégicos</a:t>
              </a:r>
              <a:endParaRPr lang="es-MX" sz="1800" dirty="0">
                <a:latin typeface="Lato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upo 41">
            <a:extLst>
              <a:ext uri="{FF2B5EF4-FFF2-40B4-BE49-F238E27FC236}">
                <a16:creationId xmlns:a16="http://schemas.microsoft.com/office/drawing/2014/main" id="{97940ADC-80CF-45B1-B10B-8161B5444B49}"/>
              </a:ext>
            </a:extLst>
          </p:cNvPr>
          <p:cNvGrpSpPr/>
          <p:nvPr/>
        </p:nvGrpSpPr>
        <p:grpSpPr>
          <a:xfrm>
            <a:off x="648306" y="4220381"/>
            <a:ext cx="1219029" cy="1412997"/>
            <a:chOff x="7284045" y="2726839"/>
            <a:chExt cx="1535700" cy="125648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5" name="Grupo 42">
              <a:extLst>
                <a:ext uri="{FF2B5EF4-FFF2-40B4-BE49-F238E27FC236}">
                  <a16:creationId xmlns:a16="http://schemas.microsoft.com/office/drawing/2014/main" id="{F70B6586-67E4-4225-80CE-92AE798F2F4C}"/>
                </a:ext>
              </a:extLst>
            </p:cNvPr>
            <p:cNvGrpSpPr/>
            <p:nvPr/>
          </p:nvGrpSpPr>
          <p:grpSpPr>
            <a:xfrm>
              <a:off x="7284045" y="2726839"/>
              <a:ext cx="1333698" cy="1256486"/>
              <a:chOff x="5601181" y="2937766"/>
              <a:chExt cx="1333698" cy="1256486"/>
            </a:xfrm>
            <a:grpFill/>
          </p:grpSpPr>
          <p:sp>
            <p:nvSpPr>
              <p:cNvPr id="17" name="Elipse 44">
                <a:extLst>
                  <a:ext uri="{FF2B5EF4-FFF2-40B4-BE49-F238E27FC236}">
                    <a16:creationId xmlns:a16="http://schemas.microsoft.com/office/drawing/2014/main" id="{A4EE0DC5-6434-4DE1-A766-175C51991D11}"/>
                  </a:ext>
                </a:extLst>
              </p:cNvPr>
              <p:cNvSpPr/>
              <p:nvPr/>
            </p:nvSpPr>
            <p:spPr>
              <a:xfrm>
                <a:off x="5601181" y="2937766"/>
                <a:ext cx="1333698" cy="12564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>
                  <a:latin typeface="Lato"/>
                </a:endParaRPr>
              </a:p>
            </p:txBody>
          </p:sp>
          <p:grpSp>
            <p:nvGrpSpPr>
              <p:cNvPr id="18" name="Grupo 45">
                <a:extLst>
                  <a:ext uri="{FF2B5EF4-FFF2-40B4-BE49-F238E27FC236}">
                    <a16:creationId xmlns:a16="http://schemas.microsoft.com/office/drawing/2014/main" id="{59B3F35E-FD68-4C6D-9854-BA13AB991A0A}"/>
                  </a:ext>
                </a:extLst>
              </p:cNvPr>
              <p:cNvGrpSpPr/>
              <p:nvPr/>
            </p:nvGrpSpPr>
            <p:grpSpPr>
              <a:xfrm>
                <a:off x="5971219" y="3099892"/>
                <a:ext cx="589933" cy="932233"/>
                <a:chOff x="7479648" y="2946954"/>
                <a:chExt cx="475632" cy="807268"/>
              </a:xfrm>
              <a:grpFill/>
            </p:grpSpPr>
            <p:pic>
              <p:nvPicPr>
                <p:cNvPr id="19" name="Imagen 46">
                  <a:extLst>
                    <a:ext uri="{FF2B5EF4-FFF2-40B4-BE49-F238E27FC236}">
                      <a16:creationId xmlns:a16="http://schemas.microsoft.com/office/drawing/2014/main" id="{BD7677F9-2CFA-4C5C-9E05-A9BA1C6A3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1380"/>
                <a:stretch/>
              </p:blipFill>
              <p:spPr>
                <a:xfrm>
                  <a:off x="7479648" y="2946954"/>
                  <a:ext cx="475632" cy="807268"/>
                </a:xfrm>
                <a:prstGeom prst="rect">
                  <a:avLst/>
                </a:prstGeom>
                <a:grpFill/>
              </p:spPr>
            </p:pic>
            <p:sp>
              <p:nvSpPr>
                <p:cNvPr id="20" name="Acorde 28">
                  <a:extLst>
                    <a:ext uri="{FF2B5EF4-FFF2-40B4-BE49-F238E27FC236}">
                      <a16:creationId xmlns:a16="http://schemas.microsoft.com/office/drawing/2014/main" id="{F3D5E07F-B931-4E7A-B21E-CF0AB65B0C29}"/>
                    </a:ext>
                  </a:extLst>
                </p:cNvPr>
                <p:cNvSpPr/>
                <p:nvPr/>
              </p:nvSpPr>
              <p:spPr>
                <a:xfrm rot="17520507">
                  <a:off x="7672492" y="3294848"/>
                  <a:ext cx="89942" cy="90394"/>
                </a:xfrm>
                <a:prstGeom prst="chord">
                  <a:avLst>
                    <a:gd name="adj1" fmla="val 3902310"/>
                    <a:gd name="adj2" fmla="val 14914242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 dirty="0">
                    <a:latin typeface="Lato"/>
                  </a:endParaRPr>
                </a:p>
              </p:txBody>
            </p:sp>
          </p:grpSp>
        </p:grpSp>
        <p:pic>
          <p:nvPicPr>
            <p:cNvPr id="16" name="Imagen 43">
              <a:extLst>
                <a:ext uri="{FF2B5EF4-FFF2-40B4-BE49-F238E27FC236}">
                  <a16:creationId xmlns:a16="http://schemas.microsoft.com/office/drawing/2014/main" id="{03527B59-8CDB-4A48-8316-AF037B8D3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2193" y="3171732"/>
              <a:ext cx="537552" cy="350206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3" name="2 CuadroTexto">
            <a:hlinkClick r:id="rId4" action="ppaction://hlinkfile"/>
          </p:cNvPr>
          <p:cNvSpPr txBox="1"/>
          <p:nvPr/>
        </p:nvSpPr>
        <p:spPr>
          <a:xfrm>
            <a:off x="104545" y="808115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</a:t>
            </a:r>
            <a:r>
              <a:rPr lang="es-MX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. Contexto </a:t>
            </a:r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del Instituto</a:t>
            </a:r>
            <a:endParaRPr lang="es-MX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791838" y="1098439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SzPts val="2600"/>
            </a:pPr>
            <a:r>
              <a:rPr lang="es-MX" b="1" dirty="0" smtClean="0">
                <a:solidFill>
                  <a:srgbClr val="1A1A1A"/>
                </a:solidFill>
                <a:latin typeface="Lato"/>
                <a:cs typeface="Arial" panose="020B0604020202020204" pitchFamily="34" charset="0"/>
              </a:rPr>
              <a:t>Plan </a:t>
            </a:r>
            <a:r>
              <a:rPr lang="es-MX" b="1" dirty="0">
                <a:solidFill>
                  <a:srgbClr val="1A1A1A"/>
                </a:solidFill>
                <a:latin typeface="Lato"/>
                <a:cs typeface="Arial" panose="020B0604020202020204" pitchFamily="34" charset="0"/>
              </a:rPr>
              <a:t>Estratégico INE </a:t>
            </a:r>
            <a:r>
              <a:rPr lang="es-MX" b="1" dirty="0" smtClean="0">
                <a:solidFill>
                  <a:srgbClr val="1A1A1A"/>
                </a:solidFill>
                <a:latin typeface="Lato"/>
                <a:cs typeface="Arial" panose="020B0604020202020204" pitchFamily="34" charset="0"/>
              </a:rPr>
              <a:t>2016-2026</a:t>
            </a:r>
            <a:endParaRPr lang="es-MX" dirty="0">
              <a:latin typeface="La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53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98E7828-FA5F-4972-816C-49CC8A463B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3142" y="3818242"/>
            <a:ext cx="2204230" cy="9429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s-MX" sz="1800" b="1" dirty="0">
                <a:latin typeface="Lato"/>
                <a:cs typeface="Arial" panose="020B0604020202020204" pitchFamily="34" charset="0"/>
              </a:rPr>
              <a:t>FODA </a:t>
            </a:r>
            <a:r>
              <a:rPr lang="es-MX" sz="1800" b="1" dirty="0" smtClean="0">
                <a:latin typeface="Lato"/>
                <a:cs typeface="Arial" panose="020B0604020202020204" pitchFamily="34" charset="0"/>
              </a:rPr>
              <a:t>INSTITUCIONAL</a:t>
            </a:r>
          </a:p>
        </p:txBody>
      </p:sp>
      <p:pic>
        <p:nvPicPr>
          <p:cNvPr id="11" name="Gráfico 5" descr="Piezas de rompecabezas">
            <a:hlinkClick r:id="rId3" action="ppaction://hlinkfile"/>
            <a:extLst>
              <a:ext uri="{FF2B5EF4-FFF2-40B4-BE49-F238E27FC236}">
                <a16:creationId xmlns:a16="http://schemas.microsoft.com/office/drawing/2014/main" id="{D8749839-62A2-48F1-B053-10D71170D8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544" y="2507161"/>
            <a:ext cx="891426" cy="118836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3" name="2 Rectángulo">
            <a:hlinkClick r:id="rId7" action="ppaction://hlinkfile"/>
          </p:cNvPr>
          <p:cNvSpPr/>
          <p:nvPr/>
        </p:nvSpPr>
        <p:spPr>
          <a:xfrm>
            <a:off x="183216" y="914667"/>
            <a:ext cx="5506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4.1 Comprensión  del Instituto  y de su contexto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  <a:cs typeface="Arial" panose="020B0604020202020204" pitchFamily="34" charset="0"/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4235213" y="1635915"/>
            <a:ext cx="3879730" cy="3490616"/>
            <a:chOff x="5635646" y="3018861"/>
            <a:chExt cx="5172075" cy="3490616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1898" y="3018861"/>
              <a:ext cx="2779569" cy="394991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5646" y="3413852"/>
              <a:ext cx="5172075" cy="3095625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653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">
            <a:hlinkClick r:id="rId3" action="ppaction://hlinkfile"/>
          </p:cNvPr>
          <p:cNvSpPr/>
          <p:nvPr/>
        </p:nvSpPr>
        <p:spPr>
          <a:xfrm>
            <a:off x="168678" y="1180699"/>
            <a:ext cx="834805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 smtClean="0">
                <a:latin typeface="Lato"/>
                <a:cs typeface="Arial" panose="020B0604020202020204" pitchFamily="34" charset="0"/>
              </a:rPr>
              <a:t>Partes Interesadas</a:t>
            </a:r>
          </a:p>
          <a:p>
            <a:endParaRPr lang="es-MX" sz="1600" dirty="0">
              <a:latin typeface="Lato"/>
              <a:cs typeface="Arial" panose="020B0604020202020204" pitchFamily="34" charset="0"/>
            </a:endParaRPr>
          </a:p>
          <a:p>
            <a:r>
              <a:rPr lang="es-MX" sz="1600" dirty="0" smtClean="0">
                <a:latin typeface="Lato"/>
                <a:cs typeface="Arial" panose="020B0604020202020204" pitchFamily="34" charset="0"/>
              </a:rPr>
              <a:t>Las partes interesadas pertinentes son aquellas que generan riesgo significativo para la sostenibilidad del Instituto si sus necesidades y expectativas no se cumplen. El Instituto  define qué resultados son necesarios para proporcionar a aquellas partes interesadas pertinentes para reducir dicho riesgos.</a:t>
            </a:r>
          </a:p>
          <a:p>
            <a:endParaRPr lang="es-MX" sz="1600" dirty="0" smtClean="0">
              <a:latin typeface="Lato"/>
              <a:cs typeface="Arial" panose="020B0604020202020204" pitchFamily="34" charset="0"/>
            </a:endParaRPr>
          </a:p>
          <a:p>
            <a:r>
              <a:rPr lang="es-MX" sz="1600" dirty="0" smtClean="0">
                <a:latin typeface="Lato"/>
                <a:cs typeface="Arial" panose="020B0604020202020204" pitchFamily="34" charset="0"/>
              </a:rPr>
              <a:t>Por ejemplo: </a:t>
            </a:r>
          </a:p>
          <a:p>
            <a:endParaRPr lang="es-MX" sz="1600" dirty="0">
              <a:latin typeface="Lato"/>
              <a:cs typeface="Arial" panose="020B0604020202020204" pitchFamily="34" charset="0"/>
            </a:endParaRPr>
          </a:p>
          <a:p>
            <a:r>
              <a:rPr lang="es-MX" sz="1600" dirty="0" smtClean="0">
                <a:latin typeface="Lato"/>
                <a:cs typeface="Arial" panose="020B0604020202020204" pitchFamily="34" charset="0"/>
              </a:rPr>
              <a:t>Partes interesadas externas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Ciudadanía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Partidos Políticos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Proveedores</a:t>
            </a:r>
          </a:p>
          <a:p>
            <a:endParaRPr lang="es-MX" sz="1600" dirty="0">
              <a:latin typeface="Lato"/>
              <a:cs typeface="Arial" panose="020B0604020202020204" pitchFamily="34" charset="0"/>
            </a:endParaRPr>
          </a:p>
          <a:p>
            <a:r>
              <a:rPr lang="es-MX" sz="1600" dirty="0" smtClean="0">
                <a:latin typeface="Lato"/>
                <a:cs typeface="Arial" panose="020B0604020202020204" pitchFamily="34" charset="0"/>
              </a:rPr>
              <a:t>Partes interesadas internas</a:t>
            </a:r>
            <a:endParaRPr lang="es-MX" sz="1600" dirty="0">
              <a:latin typeface="Lato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Dirección Ejecutiva de Administración (DEA)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Dirección de Operación y Seguimiento(DOS)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1600" dirty="0" smtClean="0">
                <a:latin typeface="Lato"/>
                <a:cs typeface="Arial" panose="020B0604020202020204" pitchFamily="34" charset="0"/>
              </a:rPr>
              <a:t>Junta </a:t>
            </a:r>
            <a:r>
              <a:rPr lang="es-MX" sz="1600" dirty="0">
                <a:latin typeface="Lato"/>
                <a:cs typeface="Arial" panose="020B0604020202020204" pitchFamily="34" charset="0"/>
              </a:rPr>
              <a:t>Local Ejecutiva </a:t>
            </a:r>
            <a:endParaRPr lang="es-MX" sz="1600" dirty="0" smtClean="0">
              <a:latin typeface="Lato"/>
              <a:cs typeface="Arial" panose="020B0604020202020204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81505" y="775208"/>
            <a:ext cx="868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4.2 Comprensión de las necesidades y expectativas de las partes </a:t>
            </a:r>
            <a:r>
              <a:rPr lang="es-ES_tradnl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interesadas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892" y="2796861"/>
            <a:ext cx="27813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49469" y="815625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4.3 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Determinación del alcance del </a:t>
            </a:r>
            <a:r>
              <a:rPr lang="es-ES_tradnl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Sistema de Gestión de Calidad (SGC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)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49469" y="1402797"/>
            <a:ext cx="85838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b="1" dirty="0" smtClean="0">
                <a:latin typeface="Lato"/>
                <a:ea typeface="Times New Roman" panose="02020603050405020304" pitchFamily="18" charset="0"/>
              </a:rPr>
              <a:t>Proporcionar </a:t>
            </a:r>
            <a:r>
              <a:rPr lang="es-MX" sz="1400" b="1" dirty="0">
                <a:latin typeface="Lato"/>
                <a:ea typeface="Times New Roman" panose="02020603050405020304" pitchFamily="18" charset="0"/>
              </a:rPr>
              <a:t>a la ciudadanía el servicio del trámite para la expedición de la credencial para </a:t>
            </a:r>
            <a:r>
              <a:rPr lang="es-MX" sz="1400" b="1" dirty="0" smtClean="0">
                <a:latin typeface="Lato"/>
                <a:ea typeface="Times New Roman" panose="02020603050405020304" pitchFamily="18" charset="0"/>
              </a:rPr>
              <a:t>votar</a:t>
            </a:r>
            <a:r>
              <a:rPr lang="es-MX" sz="1400" dirty="0" smtClean="0">
                <a:latin typeface="Lato"/>
                <a:ea typeface="Times New Roman" panose="02020603050405020304" pitchFamily="18" charset="0"/>
              </a:rPr>
              <a:t>, </a:t>
            </a:r>
            <a:r>
              <a:rPr lang="es-ES_tradnl" sz="1400" b="1" dirty="0">
                <a:latin typeface="Lato"/>
              </a:rPr>
              <a:t>desde la primera entrevista hasta la entrega de la </a:t>
            </a:r>
            <a:r>
              <a:rPr lang="es-ES_tradnl" sz="1400" b="1" dirty="0" smtClean="0">
                <a:latin typeface="Lato"/>
              </a:rPr>
              <a:t>credencial</a:t>
            </a:r>
            <a:r>
              <a:rPr lang="es-ES_tradnl" sz="1400" dirty="0" smtClean="0">
                <a:latin typeface="Lato"/>
              </a:rPr>
              <a:t>. </a:t>
            </a:r>
          </a:p>
          <a:p>
            <a:r>
              <a:rPr lang="es-ES_tradnl" sz="1400" dirty="0" smtClean="0">
                <a:latin typeface="Lato"/>
              </a:rPr>
              <a:t>Siendo aplicable a través de los siguientes puntos de trabajo </a:t>
            </a:r>
            <a:endParaRPr lang="es-MX" sz="1400" dirty="0">
              <a:latin typeface="Lato"/>
            </a:endParaRPr>
          </a:p>
          <a:p>
            <a:r>
              <a:rPr lang="es-ES_tradnl" sz="1400" dirty="0">
                <a:latin typeface="Lato"/>
              </a:rPr>
              <a:t> </a:t>
            </a:r>
            <a:endParaRPr lang="es-ES_tradnl" sz="1400" dirty="0" smtClean="0">
              <a:latin typeface="Lato"/>
            </a:endParaRPr>
          </a:p>
          <a:p>
            <a:endParaRPr lang="es-ES_tradnl" sz="1400" dirty="0">
              <a:latin typeface="Lato"/>
            </a:endParaRPr>
          </a:p>
          <a:p>
            <a:endParaRPr lang="es-ES_tradnl" sz="1400" dirty="0" smtClean="0">
              <a:latin typeface="Lato"/>
            </a:endParaRPr>
          </a:p>
          <a:p>
            <a:endParaRPr lang="es-ES_tradnl" sz="1400" dirty="0">
              <a:latin typeface="Lato"/>
            </a:endParaRPr>
          </a:p>
          <a:p>
            <a:endParaRPr lang="es-ES_tradnl" sz="1400" dirty="0" smtClean="0">
              <a:latin typeface="Lato"/>
            </a:endParaRPr>
          </a:p>
          <a:p>
            <a:endParaRPr lang="es-ES_tradnl" sz="1400" b="1" dirty="0">
              <a:latin typeface="Lato"/>
            </a:endParaRPr>
          </a:p>
          <a:p>
            <a:r>
              <a:rPr lang="es-ES_tradnl" sz="1400" b="1" dirty="0" smtClean="0">
                <a:latin typeface="Lato"/>
              </a:rPr>
              <a:t>Requisitos </a:t>
            </a:r>
            <a:r>
              <a:rPr lang="es-ES_tradnl" sz="1400" b="1" dirty="0">
                <a:latin typeface="Lato"/>
              </a:rPr>
              <a:t>determinados como No Aplicables</a:t>
            </a:r>
          </a:p>
          <a:p>
            <a:endParaRPr lang="es-ES_tradnl" sz="1400" b="1" dirty="0" smtClean="0">
              <a:latin typeface="Lato"/>
            </a:endParaRPr>
          </a:p>
          <a:p>
            <a:r>
              <a:rPr lang="es-ES_tradnl" sz="1400" b="1" dirty="0" smtClean="0">
                <a:latin typeface="Lato"/>
              </a:rPr>
              <a:t>7.1.5 </a:t>
            </a:r>
            <a:r>
              <a:rPr lang="es-ES_tradnl" sz="1400" b="1" dirty="0">
                <a:latin typeface="Lato"/>
              </a:rPr>
              <a:t>Recursos de seguimiento y medición</a:t>
            </a:r>
            <a:r>
              <a:rPr lang="es-ES_tradnl" sz="1400" dirty="0">
                <a:latin typeface="Lato"/>
              </a:rPr>
              <a:t>. </a:t>
            </a:r>
            <a:endParaRPr lang="es-ES_tradnl" sz="1400" dirty="0" smtClean="0">
              <a:latin typeface="Lato"/>
            </a:endParaRPr>
          </a:p>
          <a:p>
            <a:endParaRPr lang="es-ES_tradnl" sz="1400" b="1" dirty="0">
              <a:latin typeface="Lato"/>
            </a:endParaRPr>
          </a:p>
          <a:p>
            <a:r>
              <a:rPr lang="es-ES_tradnl" sz="1400" b="1" dirty="0" smtClean="0">
                <a:latin typeface="Lato"/>
              </a:rPr>
              <a:t>8.3 </a:t>
            </a:r>
            <a:r>
              <a:rPr lang="es-ES_tradnl" sz="1400" b="1" dirty="0">
                <a:latin typeface="Lato"/>
              </a:rPr>
              <a:t>Diseño y desarrollo de los productos y </a:t>
            </a:r>
            <a:r>
              <a:rPr lang="es-ES_tradnl" sz="1400" b="1" dirty="0" smtClean="0">
                <a:latin typeface="Lato"/>
              </a:rPr>
              <a:t>servicios</a:t>
            </a:r>
            <a:endParaRPr lang="es-MX" sz="1400" dirty="0">
              <a:latin typeface="Lato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9" y="2403934"/>
            <a:ext cx="78962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5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3">
            <a:extLst>
              <a:ext uri="{FF2B5EF4-FFF2-40B4-BE49-F238E27FC236}">
                <a16:creationId xmlns:a16="http://schemas.microsoft.com/office/drawing/2014/main" id="{D1CD51B7-A1F1-4F40-9277-A2E54FE642D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592" y="1398001"/>
            <a:ext cx="5108447" cy="4744899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2 Rectángulo">
            <a:hlinkClick r:id="rId3" action="ppaction://hlinksldjump"/>
          </p:cNvPr>
          <p:cNvSpPr/>
          <p:nvPr/>
        </p:nvSpPr>
        <p:spPr>
          <a:xfrm>
            <a:off x="103166" y="865525"/>
            <a:ext cx="8962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4.4 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Sistema de Gestión de Calidad y sus procesos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53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3" y="1122666"/>
            <a:ext cx="9110795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2 Rectángulo">
            <a:hlinkClick r:id="rId4" action="ppaction://hlinksldjump"/>
          </p:cNvPr>
          <p:cNvSpPr/>
          <p:nvPr/>
        </p:nvSpPr>
        <p:spPr>
          <a:xfrm>
            <a:off x="108854" y="753334"/>
            <a:ext cx="8962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4.4 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Lato"/>
                <a:cs typeface="Arial" panose="020B0604020202020204" pitchFamily="34" charset="0"/>
              </a:rPr>
              <a:t>Sistema de Gestión de Calidad y sus procesos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26 CuadroTexto">
            <a:hlinkClick r:id="rId2" action="ppaction://hlinkfile"/>
          </p:cNvPr>
          <p:cNvSpPr txBox="1"/>
          <p:nvPr/>
        </p:nvSpPr>
        <p:spPr>
          <a:xfrm>
            <a:off x="55711" y="771189"/>
            <a:ext cx="9089877" cy="39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18000"/>
              </a:lnSpc>
              <a:defRPr/>
            </a:pPr>
            <a:r>
              <a:rPr lang="es-MX" b="1" kern="1400" dirty="0" smtClean="0">
                <a:solidFill>
                  <a:schemeClr val="accent5">
                    <a:lumMod val="75000"/>
                  </a:schemeClr>
                </a:solidFill>
                <a:latin typeface="Lato"/>
                <a:ea typeface="Times New Roman" panose="02020603050405020304" pitchFamily="18" charset="0"/>
              </a:rPr>
              <a:t>5. Liderazgo  / 5.3 Roles, responsabilidades y autoridades en el Instituto</a:t>
            </a:r>
            <a:endParaRPr lang="es-MX" b="1" kern="1400" dirty="0">
              <a:solidFill>
                <a:schemeClr val="accent5">
                  <a:lumMod val="75000"/>
                </a:schemeClr>
              </a:solidFill>
              <a:latin typeface="Lato"/>
              <a:ea typeface="Times New Roman" panose="02020603050405020304" pitchFamily="18" charset="0"/>
            </a:endParaRPr>
          </a:p>
        </p:txBody>
      </p:sp>
      <p:grpSp>
        <p:nvGrpSpPr>
          <p:cNvPr id="28" name="Grupo 4"/>
          <p:cNvGrpSpPr>
            <a:grpSpLocks/>
          </p:cNvGrpSpPr>
          <p:nvPr/>
        </p:nvGrpSpPr>
        <p:grpSpPr bwMode="auto">
          <a:xfrm>
            <a:off x="639781" y="1161296"/>
            <a:ext cx="8505807" cy="4945791"/>
            <a:chOff x="999165" y="1112520"/>
            <a:chExt cx="115865" cy="71291"/>
          </a:xfrm>
        </p:grpSpPr>
        <p:sp>
          <p:nvSpPr>
            <p:cNvPr id="29" name="Rectangle 3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33008" y="1112520"/>
              <a:ext cx="38542" cy="6286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AC66B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100" b="1" i="0" u="none" strike="noStrike" kern="1400" cap="none" spc="0" normalizeH="0" baseline="0" noProof="0" dirty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ALTA DIRECCIÓN</a:t>
              </a: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Rectangle 4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35736" y="1138305"/>
              <a:ext cx="33147" cy="8263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B13F9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100" b="1" i="0" u="none" strike="noStrike" kern="1400" cap="none" spc="0" normalizeH="0" baseline="0" noProof="0" dirty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COORDINADORES DEL SGC</a:t>
              </a: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1" name="Rectangle 5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999861" y="1138307"/>
              <a:ext cx="33147" cy="8263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AC66B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100" b="1" i="0" u="none" strike="noStrike" kern="1400" cap="none" spc="0" normalizeH="0" baseline="0" noProof="0" dirty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LIDERES AUDITORES</a:t>
              </a: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2" name="Rectangle 6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73545" y="1138459"/>
              <a:ext cx="40577" cy="8263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B83D6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DUEÑOS DE PROCESOS </a:t>
              </a:r>
            </a:p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SUSTANTIVOS</a:t>
              </a:r>
            </a:p>
          </p:txBody>
        </p: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1033008" y="1119566"/>
              <a:ext cx="39013" cy="1445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C66BB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Dr. Marcos Rodríguez del Castillo</a:t>
              </a:r>
            </a:p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Mtro. Carlos Alberto Montero Catalán</a:t>
              </a:r>
            </a:p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Lic. Marcelo Pineda Pineda</a:t>
              </a:r>
            </a:p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C. Laura Luisa Osorno Amero</a:t>
              </a:r>
            </a:p>
            <a:p>
              <a:pPr marL="171450" marR="0" lvl="0" indent="-171450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999515" y="1148028"/>
              <a:ext cx="33147" cy="129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C66BB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Vocal Ejecutiva Distrito 14</a:t>
              </a:r>
              <a:endParaRPr lang="es-MX" sz="1100" kern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endParaRPr>
            </a:p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100" b="1" kern="1400" dirty="0">
                  <a:solidFill>
                    <a:srgbClr val="8B2E4E"/>
                  </a:solidFill>
                  <a:latin typeface="Arial" panose="020B0604020202020204" pitchFamily="34" charset="0"/>
                  <a:ea typeface="Times New Roman" panose="02020603050405020304" pitchFamily="18" charset="0"/>
                </a:rPr>
                <a:t>Vocal del RFE Distrital 12</a:t>
              </a:r>
              <a:endParaRPr lang="es-MX" sz="1100" kern="1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endParaRPr>
            </a:p>
            <a:p>
              <a:pPr marL="171450" marR="0" lvl="0" indent="-171450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1034877" y="1148379"/>
              <a:ext cx="35733" cy="129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13F9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L.A.P. Claudia Cardona Ramírez </a:t>
              </a:r>
              <a:endParaRPr lang="es-MX" sz="1000" b="1" kern="1400" dirty="0" smtClean="0">
                <a:solidFill>
                  <a:srgbClr val="8B2E4E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 smtClean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Ing</a:t>
              </a: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. Julio César Fernández </a:t>
              </a:r>
              <a:r>
                <a:rPr lang="es-MX" sz="1000" b="1" kern="1400" dirty="0" smtClean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 Hernández              </a:t>
              </a:r>
            </a:p>
            <a:p>
              <a:pPr marL="17145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 smtClean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C</a:t>
              </a: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. Jorge Alfonso Olvera Águila</a:t>
              </a:r>
              <a:endParaRPr lang="es-MX" sz="100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000" b="0" i="0" u="none" strike="noStrike" kern="1400" cap="none" spc="0" normalizeH="0" baseline="0" noProof="0" dirty="0" smtClean="0">
                <a:ln>
                  <a:noFill/>
                </a:ln>
                <a:solidFill>
                  <a:srgbClr val="8B2E4E"/>
                </a:solidFill>
                <a:effectLst/>
                <a:uLnTx/>
                <a:uFillTx/>
                <a:latin typeface="Lato"/>
                <a:ea typeface="Times New Roman" panose="02020603050405020304" pitchFamily="18" charset="0"/>
              </a:endParaRPr>
            </a:p>
          </p:txBody>
        </p:sp>
        <p:sp>
          <p:nvSpPr>
            <p:cNvPr id="36" name="Rectangle 10">
              <a:hlinkClick r:id="rId6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999515" y="1163574"/>
              <a:ext cx="33147" cy="6700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AC66B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100" b="1" i="0" u="none" strike="noStrike" kern="1400" cap="none" spc="0" normalizeH="0" baseline="0" noProof="0" dirty="0" smtClean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AUDITORES </a:t>
              </a:r>
              <a:r>
                <a:rPr kumimoji="0" lang="es-MX" sz="1100" b="1" i="0" u="none" strike="noStrike" kern="1400" cap="none" spc="0" normalizeH="0" baseline="0" noProof="0" dirty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INTERNOS</a:t>
              </a: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999165" y="1171659"/>
              <a:ext cx="33147" cy="121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C66BB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Vocal Ejecutiva Distrito 1, 2, 3, 4, 5, 6, 7, 8, 9, 10,11, 12,13, 15</a:t>
              </a:r>
              <a:endParaRPr lang="es-MX" sz="100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lvl="0" indent="-17145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Vocal del RFE Distrital 1, 2, 3, 4, 5, 6, 7, 8, 9, 10, 11, 13, 14 y 15</a:t>
              </a:r>
              <a:endParaRPr lang="es-MX" sz="100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marR="0" lvl="0" indent="-171450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8" name="Rectangle 12"/>
            <p:cNvSpPr>
              <a:spLocks noChangeArrowheads="1"/>
            </p:cNvSpPr>
            <p:nvPr/>
          </p:nvSpPr>
          <p:spPr bwMode="auto">
            <a:xfrm>
              <a:off x="1073545" y="1147454"/>
              <a:ext cx="41485" cy="13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13F9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Responsables de Módulo</a:t>
              </a:r>
              <a:endParaRPr lang="es-MX" sz="105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Operadores de Equipo Tecnológico</a:t>
              </a:r>
              <a:endParaRPr lang="es-MX" sz="105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Auxiliar de Atención Ciudadana</a:t>
              </a:r>
              <a:endParaRPr lang="es-MX" sz="105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Digitalizador de Medios </a:t>
              </a:r>
              <a:r>
                <a:rPr lang="es-MX" sz="1050" b="1" kern="1400" dirty="0" smtClean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de </a:t>
              </a: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Identificación</a:t>
              </a: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5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Chofer </a:t>
              </a:r>
              <a:endParaRPr lang="es-MX" sz="105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marR="0" lvl="0" indent="-171450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Rectangle 13">
              <a:hlinkClick r:id="rId6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054368" y="1164154"/>
              <a:ext cx="33147" cy="7843"/>
            </a:xfrm>
            <a:prstGeom prst="rect">
              <a:avLst/>
            </a:prstGeom>
            <a:solidFill>
              <a:srgbClr val="FFFFFF"/>
            </a:solidFill>
            <a:ln w="63500" cmpd="thickThin">
              <a:solidFill>
                <a:srgbClr val="B83D6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100" b="1" i="0" u="none" strike="noStrike" kern="1400" cap="none" spc="0" normalizeH="0" baseline="0" noProof="0" dirty="0">
                  <a:ln>
                    <a:noFill/>
                  </a:ln>
                  <a:solidFill>
                    <a:srgbClr val="8B2E4E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</a:rPr>
                <a:t>DUEÑOS DE PROCESOS DE SOPORTE</a:t>
              </a: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0" name="Rectangle 14"/>
            <p:cNvSpPr>
              <a:spLocks noChangeArrowheads="1"/>
            </p:cNvSpPr>
            <p:nvPr/>
          </p:nvSpPr>
          <p:spPr bwMode="auto">
            <a:xfrm>
              <a:off x="1053941" y="1172658"/>
              <a:ext cx="35525" cy="1115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13F9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Reclutamiento y Selección</a:t>
              </a: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Suministro de Bienes y Servicios</a:t>
              </a: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Capacitación</a:t>
              </a: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Evaluación del Personal</a:t>
              </a:r>
            </a:p>
            <a:p>
              <a:pPr marL="171450" lvl="0" indent="-171450" defTabSz="914400">
                <a:lnSpc>
                  <a:spcPct val="118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MX" sz="1000" b="1" kern="1400" dirty="0">
                  <a:solidFill>
                    <a:srgbClr val="8B2E4E"/>
                  </a:solidFill>
                  <a:latin typeface="Lato"/>
                  <a:ea typeface="Times New Roman" panose="02020603050405020304" pitchFamily="18" charset="0"/>
                </a:rPr>
                <a:t>Soporte Técnico </a:t>
              </a:r>
              <a:endParaRPr lang="es-MX" sz="1000" kern="1400" dirty="0">
                <a:solidFill>
                  <a:srgbClr val="000000"/>
                </a:solidFill>
                <a:latin typeface="Lato"/>
                <a:ea typeface="Times New Roman" panose="02020603050405020304" pitchFamily="18" charset="0"/>
              </a:endParaRPr>
            </a:p>
            <a:p>
              <a:pPr marL="171450" marR="0" lvl="0" indent="-171450" defTabSz="914400" eaLnBrk="1" fontAlgn="auto" latinLnBrk="0" hangingPunct="1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s-MX" sz="1100" b="0" i="0" u="none" strike="noStrike" kern="14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1" name="AutoShape 15"/>
            <p:cNvCxnSpPr>
              <a:cxnSpLocks noChangeShapeType="1"/>
            </p:cNvCxnSpPr>
            <p:nvPr/>
          </p:nvCxnSpPr>
          <p:spPr bwMode="auto">
            <a:xfrm>
              <a:off x="1012888" y="1135189"/>
              <a:ext cx="82106" cy="0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6"/>
            <p:cNvCxnSpPr>
              <a:cxnSpLocks noChangeShapeType="1"/>
            </p:cNvCxnSpPr>
            <p:nvPr/>
          </p:nvCxnSpPr>
          <p:spPr bwMode="auto">
            <a:xfrm>
              <a:off x="1052279" y="1134999"/>
              <a:ext cx="43" cy="2901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7"/>
            <p:cNvCxnSpPr>
              <a:cxnSpLocks noChangeShapeType="1"/>
            </p:cNvCxnSpPr>
            <p:nvPr/>
          </p:nvCxnSpPr>
          <p:spPr bwMode="auto">
            <a:xfrm>
              <a:off x="1095184" y="1134999"/>
              <a:ext cx="0" cy="2667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8"/>
            <p:cNvCxnSpPr>
              <a:cxnSpLocks noChangeShapeType="1"/>
            </p:cNvCxnSpPr>
            <p:nvPr/>
          </p:nvCxnSpPr>
          <p:spPr bwMode="auto">
            <a:xfrm>
              <a:off x="1012698" y="1134999"/>
              <a:ext cx="0" cy="2857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19"/>
            <p:cNvCxnSpPr>
              <a:cxnSpLocks noChangeShapeType="1"/>
            </p:cNvCxnSpPr>
            <p:nvPr/>
          </p:nvCxnSpPr>
          <p:spPr bwMode="auto">
            <a:xfrm>
              <a:off x="1070610" y="1134999"/>
              <a:ext cx="190" cy="28575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6" name="AutoShape 20"/>
            <p:cNvCxnSpPr>
              <a:cxnSpLocks noChangeShapeType="1"/>
            </p:cNvCxnSpPr>
            <p:nvPr/>
          </p:nvCxnSpPr>
          <p:spPr bwMode="auto">
            <a:xfrm>
              <a:off x="1014600" y="1160451"/>
              <a:ext cx="0" cy="2667"/>
            </a:xfrm>
            <a:prstGeom prst="straightConnector1">
              <a:avLst/>
            </a:prstGeom>
            <a:noFill/>
            <a:ln w="25400">
              <a:solidFill>
                <a:sysClr val="windowText" lastClr="000000">
                  <a:lumMod val="0"/>
                  <a:lumOff val="0"/>
                </a:sys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2" name="CuadroTexto 1"/>
          <p:cNvSpPr txBox="1"/>
          <p:nvPr/>
        </p:nvSpPr>
        <p:spPr>
          <a:xfrm>
            <a:off x="6124180" y="1997819"/>
            <a:ext cx="26733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 smtClean="0">
                <a:solidFill>
                  <a:srgbClr val="00B050"/>
                </a:solidFill>
                <a:latin typeface="Lato"/>
              </a:rPr>
              <a:t>Integración de la Alta Dirección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 smtClean="0">
                <a:solidFill>
                  <a:srgbClr val="00B050"/>
                </a:solidFill>
                <a:latin typeface="Lato"/>
              </a:rPr>
              <a:t>Integración del Comité d e la Calidad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 smtClean="0">
                <a:solidFill>
                  <a:srgbClr val="00B050"/>
                </a:solidFill>
                <a:latin typeface="Lato"/>
              </a:rPr>
              <a:t>Documento del Comité de la Calidad</a:t>
            </a:r>
            <a:endParaRPr lang="es-MX" sz="1100" dirty="0">
              <a:solidFill>
                <a:srgbClr val="00B05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9402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>
            <a:hlinkClick r:id="rId2" action="ppaction://hlinkfile"/>
          </p:cNvPr>
          <p:cNvSpPr txBox="1"/>
          <p:nvPr/>
        </p:nvSpPr>
        <p:spPr>
          <a:xfrm>
            <a:off x="11139" y="899776"/>
            <a:ext cx="9134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</a:rPr>
              <a:t>6. Planificación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18540" y="1438233"/>
            <a:ext cx="8262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b="1" dirty="0" smtClean="0">
                <a:solidFill>
                  <a:srgbClr val="00B050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6.1 Acciones </a:t>
            </a:r>
            <a:r>
              <a:rPr lang="es-ES" b="1" dirty="0">
                <a:solidFill>
                  <a:srgbClr val="00B050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para abordar riesgos y oportunidades</a:t>
            </a:r>
            <a:r>
              <a:rPr lang="es-ES" b="1" dirty="0" smtClean="0">
                <a:solidFill>
                  <a:srgbClr val="00B050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s-ES" b="1" dirty="0" smtClean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Análisis de e Riesgos y Oportunidades</a:t>
            </a:r>
            <a:endParaRPr lang="es-MX" dirty="0">
              <a:latin typeface="Lato"/>
              <a:ea typeface="Times New Roman" panose="02020603050405020304" pitchFamily="18" charset="0"/>
            </a:endParaRPr>
          </a:p>
          <a:p>
            <a:endParaRPr lang="es-MX" dirty="0"/>
          </a:p>
        </p:txBody>
      </p:sp>
      <p:sp>
        <p:nvSpPr>
          <p:cNvPr id="8" name="7 CuadroTexto"/>
          <p:cNvSpPr txBox="1"/>
          <p:nvPr/>
        </p:nvSpPr>
        <p:spPr>
          <a:xfrm>
            <a:off x="227343" y="4188649"/>
            <a:ext cx="8702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b="1" dirty="0" smtClean="0">
                <a:solidFill>
                  <a:srgbClr val="00B050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6.2 Objetivos de la Calidad y planificación para lograrlos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r>
              <a:rPr lang="es-ES_tradnl" b="1" dirty="0" smtClean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Tablero </a:t>
            </a:r>
            <a:r>
              <a:rPr lang="es-ES_tradnl" b="1" dirty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de Control de </a:t>
            </a:r>
            <a:r>
              <a:rPr lang="es-ES_tradnl" b="1" dirty="0" smtClean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Indicadores</a:t>
            </a:r>
          </a:p>
          <a:p>
            <a:pPr marL="742950" lvl="1" indent="-285750" algn="just">
              <a:buFont typeface="Wingdings" panose="05000000000000000000" pitchFamily="2" charset="2"/>
              <a:buChar char="v"/>
            </a:pPr>
            <a:endParaRPr lang="es-ES" b="1" dirty="0">
              <a:latin typeface="Lato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endParaRPr lang="es-ES" b="1" dirty="0">
              <a:latin typeface="Lato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ES" b="1" dirty="0" smtClean="0">
                <a:solidFill>
                  <a:srgbClr val="00B050"/>
                </a:solidFill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6.3 Planificación de los Cambios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s-ES" b="1" dirty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Plan de Cambios y </a:t>
            </a:r>
            <a:r>
              <a:rPr lang="es-ES" b="1" dirty="0" smtClean="0">
                <a:latin typeface="Lato"/>
                <a:ea typeface="Times New Roman" panose="02020603050405020304" pitchFamily="18" charset="0"/>
                <a:cs typeface="Arial" panose="020B0604020202020204" pitchFamily="34" charset="0"/>
              </a:rPr>
              <a:t>Mejoras al Sistema de Gestión de Calidad </a:t>
            </a:r>
            <a:endParaRPr lang="es-MX" b="1" dirty="0">
              <a:latin typeface="Lato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242" y="2228936"/>
            <a:ext cx="3196265" cy="19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2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/>
        </p:nvGrpSpPr>
        <p:grpSpPr>
          <a:xfrm>
            <a:off x="64855" y="847157"/>
            <a:ext cx="9208923" cy="4998846"/>
            <a:chOff x="64855" y="847157"/>
            <a:chExt cx="9208923" cy="4998846"/>
          </a:xfrm>
        </p:grpSpPr>
        <p:sp>
          <p:nvSpPr>
            <p:cNvPr id="2" name="1 CuadroTexto">
              <a:hlinkClick r:id="rId2" action="ppaction://hlinkfile"/>
            </p:cNvPr>
            <p:cNvSpPr txBox="1"/>
            <p:nvPr/>
          </p:nvSpPr>
          <p:spPr>
            <a:xfrm>
              <a:off x="64855" y="847157"/>
              <a:ext cx="920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7.  Apoyo</a:t>
              </a:r>
              <a:endParaRPr lang="es-MX" b="1" dirty="0">
                <a:solidFill>
                  <a:schemeClr val="accent5">
                    <a:lumMod val="75000"/>
                  </a:schemeClr>
                </a:solidFill>
                <a:latin typeface="Lato"/>
              </a:endParaRPr>
            </a:p>
          </p:txBody>
        </p:sp>
        <p:sp>
          <p:nvSpPr>
            <p:cNvPr id="3" name="4 CuadroTexto"/>
            <p:cNvSpPr txBox="1"/>
            <p:nvPr/>
          </p:nvSpPr>
          <p:spPr>
            <a:xfrm>
              <a:off x="64855" y="1251181"/>
              <a:ext cx="6986773" cy="2192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300" b="1" dirty="0" smtClean="0">
                  <a:solidFill>
                    <a:srgbClr val="00B050"/>
                  </a:solidFill>
                  <a:latin typeface="Lato"/>
                </a:rPr>
                <a:t>7.1.2 Personas</a:t>
              </a:r>
            </a:p>
            <a:p>
              <a:r>
                <a:rPr lang="es-MX" sz="1300" b="1" dirty="0">
                  <a:latin typeface="Lato"/>
                </a:rPr>
                <a:t>La Junta Local Ejecutiva </a:t>
              </a:r>
              <a:r>
                <a:rPr lang="es-MX" sz="1300" dirty="0">
                  <a:latin typeface="Lato"/>
                </a:rPr>
                <a:t>asegura el personal necesario para la implementación eficaz del SGC, así como </a:t>
              </a:r>
              <a:r>
                <a:rPr lang="es-MX" sz="1300" dirty="0" smtClean="0">
                  <a:latin typeface="Lato"/>
                </a:rPr>
                <a:t>la </a:t>
              </a:r>
              <a:r>
                <a:rPr lang="es-MX" sz="1300" dirty="0">
                  <a:latin typeface="Lato"/>
                </a:rPr>
                <a:t>operación y control de sus procesos con base </a:t>
              </a:r>
              <a:r>
                <a:rPr lang="es-MX" sz="1300" dirty="0" smtClean="0">
                  <a:latin typeface="Lato"/>
                </a:rPr>
                <a:t>en: </a:t>
              </a:r>
            </a:p>
            <a:p>
              <a:endParaRPr lang="es-MX" sz="1300" b="1" dirty="0">
                <a:latin typeface="Lato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Organigrama General,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>
                  <a:latin typeface="Lato"/>
                </a:rPr>
                <a:t>P</a:t>
              </a:r>
              <a:r>
                <a:rPr lang="es-MX" sz="1300" dirty="0" smtClean="0">
                  <a:latin typeface="Lato"/>
                </a:rPr>
                <a:t>erfiles </a:t>
              </a:r>
              <a:r>
                <a:rPr lang="es-MX" sz="1300" dirty="0">
                  <a:latin typeface="Lato"/>
                </a:rPr>
                <a:t>y</a:t>
              </a:r>
              <a:r>
                <a:rPr lang="es-MX" sz="1300" dirty="0" smtClean="0">
                  <a:latin typeface="Lato"/>
                </a:rPr>
                <a:t> </a:t>
              </a:r>
              <a:r>
                <a:rPr lang="es-MX" sz="1300" dirty="0">
                  <a:latin typeface="Lato"/>
                </a:rPr>
                <a:t>Descripciones de </a:t>
              </a:r>
              <a:r>
                <a:rPr lang="es-MX" sz="1300" dirty="0" smtClean="0">
                  <a:latin typeface="Lato"/>
                </a:rPr>
                <a:t>Puestos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Matriz </a:t>
              </a:r>
              <a:r>
                <a:rPr lang="es-MX" sz="1300" dirty="0">
                  <a:latin typeface="Lato"/>
                </a:rPr>
                <a:t>de Responsabilidades de los procesos Sustantivos y de Soporte  </a:t>
              </a:r>
              <a:endParaRPr lang="es-MX" sz="1300" dirty="0" smtClean="0">
                <a:latin typeface="Lato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Proceso </a:t>
              </a:r>
              <a:r>
                <a:rPr lang="es-MX" sz="1300" dirty="0">
                  <a:latin typeface="Lato"/>
                </a:rPr>
                <a:t>de </a:t>
              </a:r>
              <a:r>
                <a:rPr lang="es-MX" sz="1300" dirty="0" smtClean="0">
                  <a:latin typeface="Lato"/>
                </a:rPr>
                <a:t>Reclutamiento, Selección </a:t>
              </a:r>
              <a:r>
                <a:rPr lang="es-MX" sz="1300" dirty="0">
                  <a:latin typeface="Lato"/>
                </a:rPr>
                <a:t>y </a:t>
              </a:r>
              <a:r>
                <a:rPr lang="es-MX" sz="1300" dirty="0" smtClean="0">
                  <a:latin typeface="Lato"/>
                </a:rPr>
                <a:t>Contratación</a:t>
              </a:r>
            </a:p>
            <a:p>
              <a:endParaRPr lang="es-MX" sz="1300" dirty="0">
                <a:latin typeface="Lato"/>
              </a:endParaRPr>
            </a:p>
            <a:p>
              <a:pPr>
                <a:lnSpc>
                  <a:spcPct val="150000"/>
                </a:lnSpc>
              </a:pPr>
              <a:endParaRPr lang="es-MX" sz="1300" dirty="0" smtClean="0">
                <a:latin typeface="Lato"/>
              </a:endParaRPr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9987" y="1079491"/>
              <a:ext cx="1234159" cy="1529766"/>
            </a:xfrm>
            <a:prstGeom prst="rect">
              <a:avLst/>
            </a:prstGeom>
          </p:spPr>
        </p:pic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14" y="3554081"/>
              <a:ext cx="1507942" cy="1399370"/>
            </a:xfrm>
            <a:prstGeom prst="rect">
              <a:avLst/>
            </a:prstGeom>
          </p:spPr>
        </p:pic>
        <p:sp>
          <p:nvSpPr>
            <p:cNvPr id="6" name="CuadroTexto 5"/>
            <p:cNvSpPr txBox="1"/>
            <p:nvPr/>
          </p:nvSpPr>
          <p:spPr>
            <a:xfrm>
              <a:off x="1694782" y="3106792"/>
              <a:ext cx="4134870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300" b="1" dirty="0" smtClean="0">
                  <a:solidFill>
                    <a:srgbClr val="00B050"/>
                  </a:solidFill>
                  <a:latin typeface="Lato"/>
                </a:rPr>
                <a:t>7.1.3 Infraestructura</a:t>
              </a:r>
              <a:endParaRPr lang="es-MX" sz="1300" b="1" dirty="0">
                <a:solidFill>
                  <a:srgbClr val="00B050"/>
                </a:solidFill>
                <a:latin typeface="Lato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Dirección </a:t>
              </a:r>
              <a:r>
                <a:rPr lang="es-MX" sz="1300" dirty="0">
                  <a:latin typeface="Lato"/>
                </a:rPr>
                <a:t>de Operación y Seguimiento (DOS</a:t>
              </a:r>
              <a:r>
                <a:rPr lang="es-MX" sz="1300" dirty="0" smtClean="0">
                  <a:latin typeface="Lato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Coordinación </a:t>
              </a:r>
              <a:r>
                <a:rPr lang="es-MX" sz="1300" dirty="0">
                  <a:latin typeface="Lato"/>
                </a:rPr>
                <a:t>de Operación en Campo (COC) </a:t>
              </a:r>
              <a:endParaRPr lang="es-MX" sz="1300" dirty="0" smtClean="0">
                <a:latin typeface="Lato"/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Proceso </a:t>
              </a:r>
              <a:r>
                <a:rPr lang="es-MX" sz="1300" dirty="0">
                  <a:latin typeface="Lato"/>
                </a:rPr>
                <a:t>de Soporte Técnico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 smtClean="0">
                  <a:latin typeface="Lato"/>
                </a:rPr>
                <a:t>Proceso de Suministro de Bienes y Servicios</a:t>
              </a:r>
              <a:endParaRPr lang="es-MX" sz="1300" dirty="0">
                <a:latin typeface="Lato"/>
              </a:endParaRPr>
            </a:p>
            <a:p>
              <a:r>
                <a:rPr lang="es-MX" sz="1300" dirty="0">
                  <a:latin typeface="Lato"/>
                </a:rPr>
                <a:t> </a:t>
              </a:r>
            </a:p>
            <a:p>
              <a:endParaRPr lang="es-MX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Lato"/>
              </a:endParaRPr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1692615" y="4953451"/>
              <a:ext cx="3657755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300" b="1" dirty="0" smtClean="0">
                  <a:solidFill>
                    <a:srgbClr val="00B050"/>
                  </a:solidFill>
                  <a:latin typeface="Lato"/>
                </a:rPr>
                <a:t>7.1.5 </a:t>
              </a:r>
              <a:r>
                <a:rPr lang="es-ES_tradnl" sz="1300" b="1" dirty="0">
                  <a:solidFill>
                    <a:srgbClr val="00B050"/>
                  </a:solidFill>
                  <a:latin typeface="Lato"/>
                </a:rPr>
                <a:t>Recursos de seguimiento y medición</a:t>
              </a:r>
            </a:p>
            <a:p>
              <a:r>
                <a:rPr lang="es-ES_tradnl" sz="1300" dirty="0">
                  <a:latin typeface="Lato"/>
                </a:rPr>
                <a:t>No aplica </a:t>
              </a:r>
              <a:endParaRPr lang="es-MX" sz="1300" dirty="0">
                <a:latin typeface="Lato"/>
              </a:endParaRPr>
            </a:p>
            <a:p>
              <a:r>
                <a:rPr lang="es-ES_tradnl" sz="1300" dirty="0">
                  <a:latin typeface="Lato"/>
                </a:rPr>
                <a:t> </a:t>
              </a:r>
              <a:endParaRPr lang="es-MX" sz="1300" dirty="0">
                <a:latin typeface="Lato"/>
              </a:endParaRPr>
            </a:p>
          </p:txBody>
        </p:sp>
        <p:sp>
          <p:nvSpPr>
            <p:cNvPr id="8" name="CuadroTexto 7"/>
            <p:cNvSpPr txBox="1"/>
            <p:nvPr/>
          </p:nvSpPr>
          <p:spPr>
            <a:xfrm>
              <a:off x="5576688" y="3050585"/>
              <a:ext cx="3494840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300" b="1" dirty="0">
                  <a:solidFill>
                    <a:srgbClr val="00B050"/>
                  </a:solidFill>
                  <a:latin typeface="Lato"/>
                </a:rPr>
                <a:t>7.1.4  Ambiente para la operación de los procesos.</a:t>
              </a:r>
            </a:p>
            <a:p>
              <a:r>
                <a:rPr lang="es-ES_tradnl" sz="1300" b="1" dirty="0">
                  <a:latin typeface="Lato"/>
                </a:rPr>
                <a:t>La JLE </a:t>
              </a:r>
              <a:r>
                <a:rPr lang="es-ES_tradnl" sz="1300" dirty="0">
                  <a:latin typeface="Lato"/>
                </a:rPr>
                <a:t>Puebla </a:t>
              </a:r>
              <a:r>
                <a:rPr lang="es-MX" sz="1300" dirty="0" smtClean="0">
                  <a:latin typeface="Lato"/>
                </a:rPr>
                <a:t>p</a:t>
              </a:r>
              <a:r>
                <a:rPr lang="es-ES_tradnl" sz="1300" dirty="0" smtClean="0">
                  <a:latin typeface="Lato"/>
                </a:rPr>
                <a:t>proporciona  </a:t>
              </a:r>
              <a:r>
                <a:rPr lang="es-ES_tradnl" sz="1300" dirty="0">
                  <a:latin typeface="Lato"/>
                </a:rPr>
                <a:t>y mantiene el ambiente adecuado para la operación de los procesos, de acuerdo a la disponibilidad de</a:t>
              </a:r>
              <a:r>
                <a:rPr lang="es-ES_tradnl" sz="1300" b="1" dirty="0">
                  <a:latin typeface="Lato"/>
                </a:rPr>
                <a:t> </a:t>
              </a:r>
              <a:r>
                <a:rPr lang="es-ES_tradnl" sz="1300" dirty="0">
                  <a:latin typeface="Lato"/>
                </a:rPr>
                <a:t>recursos con actividades de desarrollo humano, para mejorar la calidad y el desarrollo del talento humano.</a:t>
              </a:r>
            </a:p>
            <a:p>
              <a:endParaRPr lang="es-MX" sz="1300" dirty="0"/>
            </a:p>
          </p:txBody>
        </p:sp>
        <p:sp>
          <p:nvSpPr>
            <p:cNvPr id="9" name="CuadroTexto 8"/>
            <p:cNvSpPr txBox="1"/>
            <p:nvPr/>
          </p:nvSpPr>
          <p:spPr>
            <a:xfrm>
              <a:off x="5590965" y="4953451"/>
              <a:ext cx="357804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300" b="1" dirty="0">
                  <a:solidFill>
                    <a:srgbClr val="00B050"/>
                  </a:solidFill>
                  <a:latin typeface="Lato"/>
                </a:rPr>
                <a:t>7.1.6 Conocimiento de la Institución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MX" sz="1300" dirty="0">
                  <a:latin typeface="Lato"/>
                </a:rPr>
                <a:t>Proceso de Capacitación</a:t>
              </a:r>
            </a:p>
            <a:p>
              <a:endParaRPr lang="es-MX" sz="1300" dirty="0">
                <a:latin typeface="Lato"/>
              </a:endParaRPr>
            </a:p>
            <a:p>
              <a:endParaRPr lang="es-MX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84027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83727" y="993461"/>
            <a:ext cx="8649377" cy="4039111"/>
            <a:chOff x="55711" y="1267781"/>
            <a:chExt cx="9208923" cy="4039111"/>
          </a:xfrm>
        </p:grpSpPr>
        <p:sp>
          <p:nvSpPr>
            <p:cNvPr id="2" name="CuadroTexto 6"/>
            <p:cNvSpPr txBox="1"/>
            <p:nvPr/>
          </p:nvSpPr>
          <p:spPr>
            <a:xfrm>
              <a:off x="285867" y="2013683"/>
              <a:ext cx="8748609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b="1" dirty="0" smtClean="0">
                  <a:solidFill>
                    <a:srgbClr val="00B050"/>
                  </a:solidFill>
                  <a:latin typeface="Lato"/>
                </a:rPr>
                <a:t>7.2 Competencias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MX" sz="1600" dirty="0" smtClean="0">
                  <a:latin typeface="Lato"/>
                </a:rPr>
                <a:t>Proceso de Capacitación 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MX" sz="1600" dirty="0" smtClean="0">
                  <a:latin typeface="Lato"/>
                </a:rPr>
                <a:t>Proceso Desempeño de Personal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s-MX" sz="1600" dirty="0" smtClean="0">
                <a:latin typeface="Lato"/>
              </a:endParaRPr>
            </a:p>
            <a:p>
              <a:endParaRPr lang="es-MX" sz="1600" dirty="0">
                <a:latin typeface="Lato"/>
              </a:endParaRPr>
            </a:p>
            <a:p>
              <a:r>
                <a:rPr lang="es-MX" sz="1600" b="1" dirty="0" smtClean="0">
                  <a:solidFill>
                    <a:srgbClr val="00B050"/>
                  </a:solidFill>
                  <a:latin typeface="Lato"/>
                </a:rPr>
                <a:t>7.3 Toma de consciencia  - 7.4 Comunicación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MX" sz="1600" dirty="0" smtClean="0">
                  <a:latin typeface="Lato"/>
                </a:rPr>
                <a:t>Matriz de comunicación</a:t>
              </a:r>
              <a:endParaRPr lang="es-MX" sz="1600" b="1" dirty="0">
                <a:solidFill>
                  <a:srgbClr val="FF0000"/>
                </a:solidFill>
                <a:latin typeface="Lato"/>
              </a:endParaRPr>
            </a:p>
            <a:p>
              <a:endParaRPr lang="es-MX" sz="1600" dirty="0" smtClean="0">
                <a:latin typeface="Lato"/>
              </a:endParaRPr>
            </a:p>
            <a:p>
              <a:endParaRPr lang="es-MX" sz="1600" dirty="0">
                <a:latin typeface="Lato"/>
              </a:endParaRPr>
            </a:p>
            <a:p>
              <a:r>
                <a:rPr lang="es-MX" sz="1600" b="1" dirty="0" smtClean="0">
                  <a:solidFill>
                    <a:srgbClr val="00B050"/>
                  </a:solidFill>
                  <a:latin typeface="Lato"/>
                </a:rPr>
                <a:t>7.5 Información Documentada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MX" sz="1600" dirty="0" smtClean="0">
                  <a:latin typeface="Lato"/>
                </a:rPr>
                <a:t>Procedimiento de Información Documentada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MX" sz="1600" dirty="0" smtClean="0">
                  <a:latin typeface="Lato"/>
                </a:rPr>
                <a:t>Lista Maestra de Documentos</a:t>
              </a:r>
              <a:endParaRPr lang="es-MX" sz="1600" dirty="0">
                <a:latin typeface="Lato"/>
              </a:endParaRPr>
            </a:p>
            <a:p>
              <a:endParaRPr lang="es-MX" sz="1600" dirty="0">
                <a:latin typeface="Lato"/>
              </a:endParaRPr>
            </a:p>
          </p:txBody>
        </p:sp>
        <p:sp>
          <p:nvSpPr>
            <p:cNvPr id="3" name="1 CuadroTexto">
              <a:hlinkClick r:id="rId2" action="ppaction://hlinkfile"/>
            </p:cNvPr>
            <p:cNvSpPr txBox="1"/>
            <p:nvPr/>
          </p:nvSpPr>
          <p:spPr>
            <a:xfrm>
              <a:off x="55711" y="1267781"/>
              <a:ext cx="920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7.  Apoyo</a:t>
              </a:r>
              <a:endParaRPr lang="es-MX" b="1" dirty="0">
                <a:solidFill>
                  <a:schemeClr val="accent5">
                    <a:lumMod val="75000"/>
                  </a:schemeClr>
                </a:solidFill>
                <a:latin typeface="Lato"/>
              </a:endParaRPr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0247" y="2013683"/>
              <a:ext cx="2471723" cy="20379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33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93435" y="1403714"/>
            <a:ext cx="8693726" cy="280076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ES_tradnl" sz="1600" dirty="0">
              <a:solidFill>
                <a:schemeClr val="tx1"/>
              </a:solidFill>
              <a:latin typeface="Lato"/>
            </a:endParaRPr>
          </a:p>
          <a:p>
            <a:r>
              <a:rPr lang="es-ES_tradnl" sz="1600" b="1" dirty="0" smtClean="0">
                <a:solidFill>
                  <a:srgbClr val="00B050"/>
                </a:solidFill>
                <a:latin typeface="Lato"/>
              </a:rPr>
              <a:t>8.1 Planeación  y Control Operacional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_tradnl" sz="1600" dirty="0" smtClean="0">
                <a:solidFill>
                  <a:schemeClr val="tx1"/>
                </a:solidFill>
                <a:latin typeface="Lato"/>
              </a:rPr>
              <a:t>Fichas de proceso sustantivos</a:t>
            </a:r>
          </a:p>
          <a:p>
            <a:endParaRPr lang="es-ES_tradnl" sz="1600" dirty="0">
              <a:solidFill>
                <a:schemeClr val="tx1"/>
              </a:solidFill>
              <a:latin typeface="Lato"/>
            </a:endParaRPr>
          </a:p>
          <a:p>
            <a:r>
              <a:rPr lang="es-ES_tradnl" sz="1600" b="1" dirty="0" smtClean="0">
                <a:solidFill>
                  <a:srgbClr val="00B050"/>
                </a:solidFill>
                <a:latin typeface="Lato"/>
              </a:rPr>
              <a:t>8.2  Requisitos para los servicios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_tradnl" sz="1600" dirty="0" smtClean="0">
                <a:solidFill>
                  <a:schemeClr val="tx1"/>
                </a:solidFill>
                <a:latin typeface="Lato"/>
              </a:rPr>
              <a:t>Documentación autorizada por la Comisión Nacional de Vigilancia /Acuerdo1ORD/12:14/12/2017 para el tramite y expedición de la credencial</a:t>
            </a:r>
          </a:p>
          <a:p>
            <a:endParaRPr lang="es-ES_tradnl" sz="1600" dirty="0">
              <a:solidFill>
                <a:schemeClr val="tx1"/>
              </a:solidFill>
              <a:latin typeface="Lato"/>
            </a:endParaRPr>
          </a:p>
          <a:p>
            <a:r>
              <a:rPr lang="es-ES_tradnl" sz="1600" b="1" dirty="0" smtClean="0">
                <a:solidFill>
                  <a:srgbClr val="00B050"/>
                </a:solidFill>
                <a:latin typeface="Lato"/>
              </a:rPr>
              <a:t>8.3 Diseño y desarrollo de servicio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s-ES_tradnl" sz="1600" dirty="0" smtClean="0">
                <a:solidFill>
                  <a:schemeClr val="tx1"/>
                </a:solidFill>
                <a:latin typeface="Lato"/>
              </a:rPr>
              <a:t>No aplica</a:t>
            </a:r>
          </a:p>
          <a:p>
            <a:endParaRPr lang="es-ES_tradnl" sz="1600" dirty="0" smtClean="0">
              <a:solidFill>
                <a:schemeClr val="tx1"/>
              </a:solidFill>
              <a:latin typeface="Lato"/>
            </a:endParaRPr>
          </a:p>
        </p:txBody>
      </p:sp>
      <p:sp>
        <p:nvSpPr>
          <p:cNvPr id="10" name="9 CuadroTexto">
            <a:hlinkClick r:id="rId2" action="ppaction://hlinkfile"/>
          </p:cNvPr>
          <p:cNvSpPr txBox="1"/>
          <p:nvPr/>
        </p:nvSpPr>
        <p:spPr>
          <a:xfrm>
            <a:off x="93435" y="896798"/>
            <a:ext cx="920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MX" b="1" dirty="0" smtClean="0">
                <a:solidFill>
                  <a:schemeClr val="accent5">
                    <a:lumMod val="75000"/>
                  </a:schemeClr>
                </a:solidFill>
                <a:latin typeface="Lato"/>
              </a:rPr>
              <a:t>8.  Operación</a:t>
            </a:r>
            <a:endParaRPr lang="es-MX" b="1" dirty="0">
              <a:solidFill>
                <a:schemeClr val="accent5">
                  <a:lumMod val="75000"/>
                </a:schemeClr>
              </a:solidFill>
              <a:latin typeface="Lato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72" y="3703342"/>
            <a:ext cx="2640562" cy="21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0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75147" y="948849"/>
            <a:ext cx="9208923" cy="4116945"/>
            <a:chOff x="11139" y="1204881"/>
            <a:chExt cx="9208923" cy="4116945"/>
          </a:xfrm>
        </p:grpSpPr>
        <p:sp>
          <p:nvSpPr>
            <p:cNvPr id="2" name="Rectángulo 1"/>
            <p:cNvSpPr/>
            <p:nvPr/>
          </p:nvSpPr>
          <p:spPr>
            <a:xfrm>
              <a:off x="308344" y="1782396"/>
              <a:ext cx="8293396" cy="353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sz="1600" b="1" dirty="0">
                  <a:solidFill>
                    <a:srgbClr val="00B050"/>
                  </a:solidFill>
                  <a:latin typeface="Lato"/>
                </a:rPr>
                <a:t>8.4  Control de los Procesos, los servicios suministrado externamente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Proceso de Suministro de Bienes y Servicios</a:t>
              </a:r>
            </a:p>
            <a:p>
              <a:endParaRPr lang="es-ES_tradnl" sz="1600" dirty="0">
                <a:latin typeface="Lato"/>
              </a:endParaRPr>
            </a:p>
            <a:p>
              <a:r>
                <a:rPr lang="es-ES_tradnl" sz="1600" b="1" dirty="0">
                  <a:solidFill>
                    <a:srgbClr val="00B050"/>
                  </a:solidFill>
                  <a:latin typeface="Lato"/>
                </a:rPr>
                <a:t>8.5 Producción y provisión del servicio</a:t>
              </a:r>
              <a:r>
                <a:rPr lang="es-ES_tradnl" sz="1600" dirty="0">
                  <a:solidFill>
                    <a:srgbClr val="00B050"/>
                  </a:solidFill>
                  <a:latin typeface="Lato"/>
                </a:rPr>
                <a:t> 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Proceso de Tramite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Proceso de Transferencia de la Información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Proceso de Conciliación</a:t>
              </a:r>
            </a:p>
            <a:p>
              <a:endParaRPr lang="es-ES_tradnl" sz="1600" dirty="0">
                <a:latin typeface="Lato"/>
              </a:endParaRPr>
            </a:p>
            <a:p>
              <a:r>
                <a:rPr lang="es-ES_tradnl" sz="1600" b="1" dirty="0">
                  <a:solidFill>
                    <a:srgbClr val="00B050"/>
                  </a:solidFill>
                  <a:latin typeface="Lato"/>
                </a:rPr>
                <a:t>8.6 Liberación del servicio </a:t>
              </a:r>
            </a:p>
            <a:p>
              <a:pPr marL="742950" lvl="1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Proceso de Entrega de Credencial para Votar</a:t>
              </a:r>
            </a:p>
            <a:p>
              <a:endParaRPr lang="es-ES_tradnl" sz="1600" dirty="0">
                <a:latin typeface="Lato"/>
              </a:endParaRPr>
            </a:p>
            <a:p>
              <a:r>
                <a:rPr lang="es-ES_tradnl" sz="1600" b="1" dirty="0">
                  <a:solidFill>
                    <a:srgbClr val="00B050"/>
                  </a:solidFill>
                  <a:latin typeface="Lato"/>
                </a:rPr>
                <a:t>8.7  Control de las salidas no conformes 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s-ES_tradnl" sz="1600" dirty="0">
                  <a:latin typeface="Lato"/>
                </a:rPr>
                <a:t>Manual para la Operación del Módulo de Atención Ciudadana, Entrega de la Credencial, Tomo ll en el apartado “Causas de no entrega de </a:t>
              </a:r>
              <a:r>
                <a:rPr lang="es-ES_tradnl" sz="1600" dirty="0" smtClean="0">
                  <a:latin typeface="Lato"/>
                </a:rPr>
                <a:t>credencia”, página 55.</a:t>
              </a:r>
              <a:endParaRPr lang="es-ES_tradnl" sz="1600" b="1" dirty="0">
                <a:solidFill>
                  <a:srgbClr val="FF0000"/>
                </a:solidFill>
                <a:latin typeface="Lato"/>
              </a:endParaRPr>
            </a:p>
          </p:txBody>
        </p:sp>
        <p:sp>
          <p:nvSpPr>
            <p:cNvPr id="4" name="9 CuadroTexto">
              <a:hlinkClick r:id="rId2" action="ppaction://hlinkfile"/>
            </p:cNvPr>
            <p:cNvSpPr txBox="1"/>
            <p:nvPr/>
          </p:nvSpPr>
          <p:spPr>
            <a:xfrm>
              <a:off x="11139" y="1204881"/>
              <a:ext cx="920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8.  Operación</a:t>
              </a:r>
              <a:endParaRPr lang="es-MX" b="1" dirty="0">
                <a:solidFill>
                  <a:schemeClr val="accent5">
                    <a:lumMod val="75000"/>
                  </a:schemeClr>
                </a:solidFill>
                <a:latin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6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84394" y="963219"/>
            <a:ext cx="8822154" cy="4505518"/>
            <a:chOff x="47818" y="1292403"/>
            <a:chExt cx="8822154" cy="4505518"/>
          </a:xfrm>
        </p:grpSpPr>
        <p:sp>
          <p:nvSpPr>
            <p:cNvPr id="30" name="29 CuadroTexto">
              <a:hlinkClick r:id="rId3" action="ppaction://hlinkfile"/>
            </p:cNvPr>
            <p:cNvSpPr txBox="1"/>
            <p:nvPr/>
          </p:nvSpPr>
          <p:spPr>
            <a:xfrm>
              <a:off x="47818" y="1292403"/>
              <a:ext cx="88221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9. Evaluación </a:t>
              </a:r>
              <a:r>
                <a:rPr lang="es-MX" b="1" dirty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del </a:t>
              </a:r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Desempeño</a:t>
              </a:r>
              <a:endParaRPr lang="es-MX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" name="1 CuadroTexto"/>
            <p:cNvSpPr txBox="1"/>
            <p:nvPr/>
          </p:nvSpPr>
          <p:spPr>
            <a:xfrm>
              <a:off x="488676" y="1827603"/>
              <a:ext cx="8160241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b="1" dirty="0" smtClean="0">
                  <a:solidFill>
                    <a:srgbClr val="00B050"/>
                  </a:solidFill>
                  <a:latin typeface="Lato"/>
                </a:rPr>
                <a:t>9.1 Seguimiento</a:t>
              </a:r>
              <a:r>
                <a:rPr lang="es-ES_tradnl" b="1" dirty="0">
                  <a:solidFill>
                    <a:srgbClr val="00B050"/>
                  </a:solidFill>
                  <a:latin typeface="Lato"/>
                </a:rPr>
                <a:t>, medición, análisis y </a:t>
              </a:r>
              <a:r>
                <a:rPr lang="es-ES_tradnl" b="1" dirty="0" smtClean="0">
                  <a:solidFill>
                    <a:srgbClr val="00B050"/>
                  </a:solidFill>
                  <a:latin typeface="Lato"/>
                </a:rPr>
                <a:t>evaluación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 smtClean="0">
                  <a:latin typeface="Lato"/>
                </a:rPr>
                <a:t>Tablero de Indicadores  de desempeño</a:t>
              </a:r>
            </a:p>
            <a:p>
              <a:endParaRPr lang="es-MX" dirty="0" smtClean="0">
                <a:latin typeface="Lato"/>
              </a:endParaRPr>
            </a:p>
            <a:p>
              <a:r>
                <a:rPr lang="es-MX" b="1" dirty="0" smtClean="0">
                  <a:solidFill>
                    <a:srgbClr val="00B050"/>
                  </a:solidFill>
                  <a:latin typeface="Lato"/>
                </a:rPr>
                <a:t>9.2 Auditorias Internas</a:t>
              </a:r>
            </a:p>
            <a:p>
              <a:r>
                <a:rPr lang="es-MX" dirty="0" smtClean="0">
                  <a:latin typeface="Lato"/>
                </a:rPr>
                <a:t>Procedimiento de Auditorias Internas</a:t>
              </a:r>
            </a:p>
            <a:p>
              <a:r>
                <a:rPr lang="es-MX" dirty="0" smtClean="0">
                  <a:latin typeface="Lato"/>
                </a:rPr>
                <a:t>Capacitación de Formación de Auditores</a:t>
              </a:r>
            </a:p>
            <a:p>
              <a:endParaRPr lang="es-MX" dirty="0">
                <a:latin typeface="Lato"/>
              </a:endParaRPr>
            </a:p>
            <a:p>
              <a:r>
                <a:rPr lang="es-MX" b="1" dirty="0" smtClean="0">
                  <a:solidFill>
                    <a:srgbClr val="00B050"/>
                  </a:solidFill>
                  <a:latin typeface="Lato"/>
                </a:rPr>
                <a:t>9.3 Revisión de la Dirección</a:t>
              </a:r>
            </a:p>
            <a:p>
              <a:r>
                <a:rPr lang="es-MX" dirty="0" smtClean="0">
                  <a:latin typeface="Lato"/>
                </a:rPr>
                <a:t>Minuta de la revisión por la Dirección</a:t>
              </a:r>
            </a:p>
            <a:p>
              <a:r>
                <a:rPr lang="es-MX" dirty="0" smtClean="0">
                  <a:latin typeface="Lato"/>
                </a:rPr>
                <a:t>Documento de responsabilidad  de la Alta Dirección</a:t>
              </a:r>
            </a:p>
            <a:p>
              <a:r>
                <a:rPr lang="es-MX" dirty="0" smtClean="0">
                  <a:latin typeface="Lato"/>
                </a:rPr>
                <a:t> </a:t>
              </a:r>
            </a:p>
            <a:p>
              <a:endParaRPr lang="es-MX" dirty="0">
                <a:latin typeface="Lato"/>
              </a:endParaRPr>
            </a:p>
            <a:p>
              <a:endParaRPr lang="es-MX" dirty="0">
                <a:latin typeface="Lato"/>
              </a:endParaRPr>
            </a:p>
            <a:p>
              <a:endParaRPr lang="es-ES_tradnl" dirty="0">
                <a:latin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153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95169" y="676512"/>
            <a:ext cx="9050419" cy="5543008"/>
            <a:chOff x="23609" y="1280016"/>
            <a:chExt cx="9050419" cy="5543008"/>
          </a:xfrm>
        </p:grpSpPr>
        <p:sp>
          <p:nvSpPr>
            <p:cNvPr id="13" name="12 CuadroTexto">
              <a:hlinkClick r:id="rId2" action="ppaction://hlinkfile"/>
            </p:cNvPr>
            <p:cNvSpPr txBox="1"/>
            <p:nvPr/>
          </p:nvSpPr>
          <p:spPr>
            <a:xfrm>
              <a:off x="78950" y="1280016"/>
              <a:ext cx="32547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 smtClean="0">
                  <a:solidFill>
                    <a:schemeClr val="accent5">
                      <a:lumMod val="75000"/>
                    </a:schemeClr>
                  </a:solidFill>
                  <a:latin typeface="Lato"/>
                </a:rPr>
                <a:t>10. Mejora  - Ciclo PHVA</a:t>
              </a:r>
              <a:endParaRPr lang="es-MX" dirty="0">
                <a:solidFill>
                  <a:schemeClr val="accent5">
                    <a:lumMod val="75000"/>
                  </a:schemeClr>
                </a:solidFill>
                <a:latin typeface="Lato"/>
              </a:endParaRPr>
            </a:p>
            <a:p>
              <a:endParaRPr lang="es-MX" dirty="0">
                <a:solidFill>
                  <a:schemeClr val="accent5">
                    <a:lumMod val="75000"/>
                  </a:schemeClr>
                </a:solidFill>
                <a:latin typeface="Lato"/>
              </a:endParaRPr>
            </a:p>
          </p:txBody>
        </p:sp>
        <p:sp>
          <p:nvSpPr>
            <p:cNvPr id="2" name="1 Rectángulo"/>
            <p:cNvSpPr/>
            <p:nvPr/>
          </p:nvSpPr>
          <p:spPr>
            <a:xfrm>
              <a:off x="78951" y="1697043"/>
              <a:ext cx="8995077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1700" dirty="0">
                  <a:latin typeface="Lato"/>
                </a:rPr>
                <a:t>Ejecución e Implementación de planes de mejora, de esta manera se </a:t>
              </a:r>
              <a:r>
                <a:rPr lang="es-MX" sz="1700" dirty="0" smtClean="0">
                  <a:latin typeface="Lato"/>
                </a:rPr>
                <a:t>mejora el servicio  </a:t>
              </a:r>
              <a:r>
                <a:rPr lang="es-MX" sz="1700" dirty="0">
                  <a:latin typeface="Lato"/>
                </a:rPr>
                <a:t>y aumentara la satisfacción de </a:t>
              </a:r>
              <a:r>
                <a:rPr lang="es-MX" sz="1700" dirty="0" smtClean="0">
                  <a:latin typeface="Lato"/>
                </a:rPr>
                <a:t>la Ciudadanía</a:t>
              </a:r>
              <a:endParaRPr lang="es-MX" sz="1700" dirty="0">
                <a:latin typeface="Lato"/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0874" y="2487718"/>
              <a:ext cx="3775258" cy="3711808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</p:pic>
        <p:sp>
          <p:nvSpPr>
            <p:cNvPr id="8" name="CuadroTexto 7"/>
            <p:cNvSpPr txBox="1"/>
            <p:nvPr/>
          </p:nvSpPr>
          <p:spPr>
            <a:xfrm>
              <a:off x="5396023" y="2384185"/>
              <a:ext cx="3290775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b="1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4. Contexto del Instituto</a:t>
              </a:r>
            </a:p>
            <a:p>
              <a:r>
                <a:rPr lang="es-MX" sz="1100" b="1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5. Liderazgo</a:t>
              </a:r>
            </a:p>
            <a:p>
              <a:r>
                <a:rPr lang="es-MX" sz="1100" b="1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6. Planificación</a:t>
              </a:r>
            </a:p>
            <a:p>
              <a:endParaRPr lang="es-MX" sz="1100" b="1" dirty="0">
                <a:solidFill>
                  <a:schemeClr val="accent2">
                    <a:lumMod val="75000"/>
                  </a:schemeClr>
                </a:solidFill>
                <a:latin typeface="Lato"/>
              </a:endParaRPr>
            </a:p>
            <a:p>
              <a:r>
                <a:rPr lang="es-MX" sz="1100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De acuerdo con los requisitos y recursos definir y establecer: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100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Qué hacer ?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100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Cómo hacerlo?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MX" sz="1100" dirty="0" smtClean="0">
                  <a:solidFill>
                    <a:schemeClr val="accent2">
                      <a:lumMod val="75000"/>
                    </a:schemeClr>
                  </a:solidFill>
                  <a:latin typeface="Lato"/>
                </a:rPr>
                <a:t>Cuándo hacerlo?</a:t>
              </a:r>
            </a:p>
            <a:p>
              <a:endParaRPr lang="es-MX" sz="1100" b="1" dirty="0" smtClean="0">
                <a:solidFill>
                  <a:schemeClr val="accent2">
                    <a:lumMod val="75000"/>
                  </a:schemeClr>
                </a:solidFill>
                <a:latin typeface="Lato"/>
              </a:endParaRP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5685761" y="4755210"/>
              <a:ext cx="32907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b="1" dirty="0" smtClean="0">
                  <a:solidFill>
                    <a:srgbClr val="00B050"/>
                  </a:solidFill>
                  <a:latin typeface="Lato"/>
                </a:rPr>
                <a:t>7. Soporte</a:t>
              </a:r>
            </a:p>
            <a:p>
              <a:r>
                <a:rPr lang="es-MX" sz="1100" b="1" dirty="0" smtClean="0">
                  <a:solidFill>
                    <a:srgbClr val="00B050"/>
                  </a:solidFill>
                  <a:latin typeface="Lato"/>
                </a:rPr>
                <a:t>8. Operación</a:t>
              </a:r>
              <a:endParaRPr lang="es-MX" sz="1100" b="1" dirty="0">
                <a:solidFill>
                  <a:srgbClr val="00B050"/>
                </a:solidFill>
                <a:latin typeface="Lato"/>
              </a:endParaRPr>
            </a:p>
            <a:p>
              <a:endParaRPr lang="es-MX" sz="1100" b="1" dirty="0">
                <a:solidFill>
                  <a:srgbClr val="00B050"/>
                </a:solidFill>
                <a:latin typeface="Lato"/>
              </a:endParaRPr>
            </a:p>
            <a:p>
              <a:r>
                <a:rPr lang="es-MX" sz="1100" dirty="0" smtClean="0">
                  <a:solidFill>
                    <a:srgbClr val="00B050"/>
                  </a:solidFill>
                  <a:latin typeface="Lato"/>
                </a:rPr>
                <a:t>Ejecutar lo planeado</a:t>
              </a:r>
              <a:endParaRPr lang="es-MX" sz="1100" b="1" dirty="0" smtClean="0">
                <a:solidFill>
                  <a:srgbClr val="00B050"/>
                </a:solidFill>
                <a:latin typeface="Lato"/>
              </a:endParaRPr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1120363" y="5032209"/>
              <a:ext cx="214250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b="1" dirty="0" smtClean="0">
                  <a:solidFill>
                    <a:srgbClr val="6600CC"/>
                  </a:solidFill>
                  <a:latin typeface="Lato"/>
                </a:rPr>
                <a:t>9. Evaluación del Desempeño</a:t>
              </a:r>
              <a:endParaRPr lang="es-MX" sz="1100" b="1" dirty="0">
                <a:solidFill>
                  <a:srgbClr val="6600CC"/>
                </a:solidFill>
                <a:latin typeface="Lato"/>
              </a:endParaRPr>
            </a:p>
            <a:p>
              <a:endParaRPr lang="es-MX" sz="1100" b="1" dirty="0">
                <a:solidFill>
                  <a:srgbClr val="6600CC"/>
                </a:solidFill>
                <a:latin typeface="Lato"/>
              </a:endParaRPr>
            </a:p>
            <a:p>
              <a:r>
                <a:rPr lang="es-MX" sz="1100" dirty="0" smtClean="0">
                  <a:solidFill>
                    <a:srgbClr val="6600CC"/>
                  </a:solidFill>
                  <a:latin typeface="Lato"/>
                </a:rPr>
                <a:t>Evaluar y demostrar conformidad vs el Plan y objetivos</a:t>
              </a:r>
              <a:endParaRPr lang="es-MX" sz="1100" b="1" dirty="0" smtClean="0">
                <a:solidFill>
                  <a:srgbClr val="6600CC"/>
                </a:solidFill>
                <a:latin typeface="Lato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1033294" y="2542960"/>
              <a:ext cx="214250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b="1" dirty="0" smtClean="0">
                  <a:solidFill>
                    <a:srgbClr val="0070C0"/>
                  </a:solidFill>
                  <a:latin typeface="Lato"/>
                </a:rPr>
                <a:t>19. Mejora Continua</a:t>
              </a:r>
            </a:p>
            <a:p>
              <a:endParaRPr lang="es-MX" sz="1100" b="1" dirty="0">
                <a:solidFill>
                  <a:srgbClr val="0070C0"/>
                </a:solidFill>
                <a:latin typeface="Lato"/>
              </a:endParaRPr>
            </a:p>
            <a:p>
              <a:r>
                <a:rPr lang="es-MX" sz="1100" dirty="0" smtClean="0">
                  <a:solidFill>
                    <a:srgbClr val="0070C0"/>
                  </a:solidFill>
                  <a:latin typeface="Lato"/>
                </a:rPr>
                <a:t>Generar y establecer mejoras hacia objetivos, recursos y la ejecución</a:t>
              </a:r>
            </a:p>
            <a:p>
              <a:endParaRPr lang="es-MX" sz="1100" dirty="0">
                <a:solidFill>
                  <a:srgbClr val="0070C0"/>
                </a:solidFill>
                <a:latin typeface="Lato"/>
              </a:endParaRPr>
            </a:p>
            <a:p>
              <a:r>
                <a:rPr lang="es-MX" sz="1100" dirty="0" smtClean="0">
                  <a:solidFill>
                    <a:srgbClr val="0070C0"/>
                  </a:solidFill>
                  <a:latin typeface="Lato"/>
                </a:rPr>
                <a:t>Auditorias Internas</a:t>
              </a:r>
            </a:p>
            <a:p>
              <a:r>
                <a:rPr lang="es-MX" sz="1100" dirty="0" smtClean="0">
                  <a:solidFill>
                    <a:srgbClr val="0070C0"/>
                  </a:solidFill>
                  <a:latin typeface="Lato"/>
                </a:rPr>
                <a:t>Auditorias Externas</a:t>
              </a:r>
              <a:endParaRPr lang="es-MX" sz="1100" b="1" dirty="0" smtClean="0">
                <a:solidFill>
                  <a:srgbClr val="0070C0"/>
                </a:solidFill>
                <a:latin typeface="Lato"/>
              </a:endParaRPr>
            </a:p>
          </p:txBody>
        </p:sp>
        <p:sp>
          <p:nvSpPr>
            <p:cNvPr id="5" name="4 CuadroTexto"/>
            <p:cNvSpPr txBox="1"/>
            <p:nvPr/>
          </p:nvSpPr>
          <p:spPr>
            <a:xfrm>
              <a:off x="23609" y="6299804"/>
              <a:ext cx="3580513" cy="523220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s-MX" sz="1400" b="1" dirty="0" smtClean="0">
                  <a:latin typeface="Lato"/>
                </a:rPr>
                <a:t>Procedimiento de Acciones Correctivas</a:t>
              </a:r>
            </a:p>
            <a:p>
              <a:r>
                <a:rPr lang="es-MX" sz="1400" b="1" dirty="0" smtClean="0">
                  <a:latin typeface="Lato"/>
                </a:rPr>
                <a:t>Cedula de No Conformidad </a:t>
              </a:r>
              <a:endParaRPr lang="es-MX" sz="1400" b="1" dirty="0">
                <a:latin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4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286" y="3904487"/>
            <a:ext cx="2690556" cy="1600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1 CuadroTexto"/>
          <p:cNvSpPr txBox="1"/>
          <p:nvPr/>
        </p:nvSpPr>
        <p:spPr>
          <a:xfrm>
            <a:off x="1746928" y="2516481"/>
            <a:ext cx="6131294" cy="784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501" b="1" dirty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       Dudas, comentarios?</a:t>
            </a:r>
            <a:endParaRPr lang="es-MX" sz="4501" b="1" dirty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0" y="1809128"/>
            <a:ext cx="1725815" cy="186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70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33756" y="1022370"/>
            <a:ext cx="8229600" cy="5029200"/>
            <a:chOff x="571500" y="958362"/>
            <a:chExt cx="8229600" cy="5029200"/>
          </a:xfrm>
        </p:grpSpPr>
        <p:sp>
          <p:nvSpPr>
            <p:cNvPr id="3" name="Onda 2"/>
            <p:cNvSpPr/>
            <p:nvPr/>
          </p:nvSpPr>
          <p:spPr>
            <a:xfrm>
              <a:off x="571500" y="958362"/>
              <a:ext cx="8229600" cy="5029200"/>
            </a:xfrm>
            <a:prstGeom prst="wave">
              <a:avLst/>
            </a:prstGeom>
            <a:solidFill>
              <a:srgbClr val="F03399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1400" dirty="0">
                <a:solidFill>
                  <a:schemeClr val="bg1"/>
                </a:solidFill>
              </a:endParaRPr>
            </a:p>
          </p:txBody>
        </p:sp>
        <p:sp>
          <p:nvSpPr>
            <p:cNvPr id="4" name="Rectángulo 3"/>
            <p:cNvSpPr/>
            <p:nvPr/>
          </p:nvSpPr>
          <p:spPr>
            <a:xfrm>
              <a:off x="1279128" y="2197722"/>
              <a:ext cx="7436653" cy="2215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Contacto Coordinación Equipo implementador SGC JLE Puebla</a:t>
              </a:r>
            </a:p>
            <a:p>
              <a:endPara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Ricardo Sánchez Sánchez   	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ricardo.sanchezs@ine.mx</a:t>
              </a:r>
            </a:p>
            <a:p>
              <a:pPr lvl="7">
                <a:buClr>
                  <a:schemeClr val="bg1"/>
                </a:buClr>
              </a:pP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55 27 73 30 74 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lvl="7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Daniel 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Palacios Martínez</a:t>
              </a: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daniel.palacios@ine.mx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7"/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55 53 32 37 95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6" algn="ctr"/>
              <a:endParaRPr lang="es-MX" sz="1400" b="1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6"/>
              <a:r>
                <a:rPr lang="es-MX" b="1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IP 350497</a:t>
              </a:r>
              <a:endPara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5747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7645</TotalTime>
  <Words>1067</Words>
  <Application>Microsoft Office PowerPoint</Application>
  <PresentationFormat>Personalizado</PresentationFormat>
  <Paragraphs>204</Paragraphs>
  <Slides>18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Calibri</vt:lpstr>
      <vt:lpstr>Century Gothic</vt:lpstr>
      <vt:lpstr>Footlight MT Light</vt:lpstr>
      <vt:lpstr>Franklin Gothic Book</vt:lpstr>
      <vt:lpstr>Lato</vt:lpstr>
      <vt:lpstr>Times New Roman</vt:lpstr>
      <vt:lpstr>Verdana</vt:lpstr>
      <vt:lpstr>Wingdings</vt:lpstr>
      <vt:lpstr>Tema de Office</vt:lpstr>
      <vt:lpstr>Presentación de PowerPoint</vt:lpstr>
      <vt:lpstr>Presentación de PowerPoint</vt:lpstr>
      <vt:lpstr>POLÍTICA DE LA CALIDAD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basada en Procesos</dc:title>
  <dc:creator/>
  <cp:lastModifiedBy>SANCHEZ SANCHEZ RICARDO</cp:lastModifiedBy>
  <cp:revision>562</cp:revision>
  <cp:lastPrinted>2019-11-22T17:08:26Z</cp:lastPrinted>
  <dcterms:created xsi:type="dcterms:W3CDTF">2019-06-24T02:02:22Z</dcterms:created>
  <dcterms:modified xsi:type="dcterms:W3CDTF">2020-03-04T21:36:01Z</dcterms:modified>
</cp:coreProperties>
</file>