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54" r:id="rId1"/>
    <p:sldMasterId id="2147484389" r:id="rId2"/>
  </p:sldMasterIdLst>
  <p:notesMasterIdLst>
    <p:notesMasterId r:id="rId14"/>
  </p:notesMasterIdLst>
  <p:handoutMasterIdLst>
    <p:handoutMasterId r:id="rId15"/>
  </p:handoutMasterIdLst>
  <p:sldIdLst>
    <p:sldId id="257" r:id="rId3"/>
    <p:sldId id="306" r:id="rId4"/>
    <p:sldId id="307" r:id="rId5"/>
    <p:sldId id="308" r:id="rId6"/>
    <p:sldId id="311" r:id="rId7"/>
    <p:sldId id="309" r:id="rId8"/>
    <p:sldId id="314" r:id="rId9"/>
    <p:sldId id="312" r:id="rId10"/>
    <p:sldId id="313" r:id="rId11"/>
    <p:sldId id="302" r:id="rId12"/>
    <p:sldId id="303" r:id="rId1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3399"/>
    <a:srgbClr val="ED2178"/>
    <a:srgbClr val="950054"/>
    <a:srgbClr val="D500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57" autoAdjust="0"/>
    <p:restoredTop sz="96404" autoAdjust="0"/>
  </p:normalViewPr>
  <p:slideViewPr>
    <p:cSldViewPr snapToGrid="0">
      <p:cViewPr varScale="1">
        <p:scale>
          <a:sx n="112" d="100"/>
          <a:sy n="112" d="100"/>
        </p:scale>
        <p:origin x="408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64308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3161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4e99df1c5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1" name="Google Shape;171;g4e99df1c5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2063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  <p:sp>
        <p:nvSpPr>
          <p:cNvPr id="7" name="4 Rectángulo"/>
          <p:cNvSpPr/>
          <p:nvPr userDrawn="1"/>
        </p:nvSpPr>
        <p:spPr>
          <a:xfrm>
            <a:off x="2209800" y="173315"/>
            <a:ext cx="43568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buClr>
                <a:srgbClr val="000000"/>
              </a:buClr>
              <a:buSzPts val="1200"/>
            </a:pPr>
            <a:r>
              <a:rPr lang="es-MX" sz="1200" b="1" dirty="0">
                <a:solidFill>
                  <a:schemeClr val="bg1"/>
                </a:solidFill>
                <a:latin typeface="Lato"/>
                <a:ea typeface="Lato"/>
                <a:cs typeface="Lato"/>
              </a:rPr>
              <a:t>Dirección Ejecutiva del Registro Federal de Electores</a:t>
            </a:r>
          </a:p>
          <a:p>
            <a:pPr defTabSz="914400">
              <a:buClr>
                <a:srgbClr val="000000"/>
              </a:buClr>
              <a:buSzPts val="1200"/>
            </a:pPr>
            <a:r>
              <a:rPr lang="es-MX" sz="1200" b="1" dirty="0">
                <a:solidFill>
                  <a:schemeClr val="bg1"/>
                </a:solidFill>
                <a:latin typeface="Lato"/>
                <a:ea typeface="Lato"/>
                <a:cs typeface="Lato"/>
              </a:rPr>
              <a:t>Coordinación de Operación en </a:t>
            </a:r>
            <a:r>
              <a:rPr lang="es-MX" sz="1200" b="1" dirty="0" smtClean="0">
                <a:solidFill>
                  <a:schemeClr val="bg1"/>
                </a:solidFill>
                <a:latin typeface="Lato"/>
                <a:ea typeface="Lato"/>
                <a:cs typeface="Lato"/>
              </a:rPr>
              <a:t>Campo</a:t>
            </a:r>
            <a:endParaRPr lang="es-MX" sz="1200" b="1" dirty="0">
              <a:solidFill>
                <a:schemeClr val="bg1"/>
              </a:solidFill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735502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  <p:sp>
        <p:nvSpPr>
          <p:cNvPr id="7" name="Rectángulo 6"/>
          <p:cNvSpPr/>
          <p:nvPr userDrawn="1"/>
        </p:nvSpPr>
        <p:spPr>
          <a:xfrm>
            <a:off x="2209800" y="218702"/>
            <a:ext cx="8001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800" dirty="0" smtClean="0">
                <a:solidFill>
                  <a:schemeClr val="bg1"/>
                </a:solidFill>
                <a:latin typeface="Lato"/>
              </a:rPr>
              <a:t>Evaluación de la Eficacia del Sistema de Gestión de Calidad</a:t>
            </a:r>
            <a:endParaRPr lang="es-MX" sz="18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06507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  <p:sp>
        <p:nvSpPr>
          <p:cNvPr id="7" name="Rectángulo 6"/>
          <p:cNvSpPr/>
          <p:nvPr userDrawn="1"/>
        </p:nvSpPr>
        <p:spPr>
          <a:xfrm>
            <a:off x="2209800" y="218702"/>
            <a:ext cx="8001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800" dirty="0" smtClean="0">
                <a:solidFill>
                  <a:schemeClr val="bg1"/>
                </a:solidFill>
                <a:latin typeface="Lato"/>
              </a:rPr>
              <a:t>Evaluación de la Eficacia del Sistema de Gestión de Calidad</a:t>
            </a:r>
            <a:endParaRPr lang="es-MX" sz="18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294687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  <p:sp>
        <p:nvSpPr>
          <p:cNvPr id="8" name="Rectángulo 7"/>
          <p:cNvSpPr/>
          <p:nvPr userDrawn="1"/>
        </p:nvSpPr>
        <p:spPr>
          <a:xfrm>
            <a:off x="2209800" y="218702"/>
            <a:ext cx="8001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800" dirty="0" smtClean="0">
                <a:solidFill>
                  <a:schemeClr val="bg1"/>
                </a:solidFill>
                <a:latin typeface="Lato"/>
              </a:rPr>
              <a:t>Evaluación de la Eficacia del Sistema de Gestión de Calidad</a:t>
            </a:r>
            <a:endParaRPr lang="es-MX" sz="18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755208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2/24/2020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0" name="Rectángulo 9"/>
          <p:cNvSpPr/>
          <p:nvPr userDrawn="1"/>
        </p:nvSpPr>
        <p:spPr>
          <a:xfrm>
            <a:off x="2209800" y="218702"/>
            <a:ext cx="8001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800" dirty="0" smtClean="0">
                <a:solidFill>
                  <a:schemeClr val="bg1"/>
                </a:solidFill>
                <a:latin typeface="Lato"/>
              </a:rPr>
              <a:t>Evaluación de la Eficacia del Sistema de Gestión de Calidad</a:t>
            </a:r>
            <a:endParaRPr lang="es-MX" sz="18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703243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9C5B0-21BA-48EA-B067-5E37072B4F18}" type="datetimeFigureOut">
              <a:rPr lang="en-US" smtClean="0"/>
              <a:t>2/24/2020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6" name="Rectángulo 5"/>
          <p:cNvSpPr/>
          <p:nvPr userDrawn="1"/>
        </p:nvSpPr>
        <p:spPr>
          <a:xfrm>
            <a:off x="2209800" y="218702"/>
            <a:ext cx="8001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800" dirty="0" smtClean="0">
                <a:solidFill>
                  <a:schemeClr val="bg1"/>
                </a:solidFill>
                <a:latin typeface="Lato"/>
              </a:rPr>
              <a:t>Evaluación de la Eficacia del Sistema de Gestión de Calidad</a:t>
            </a:r>
            <a:endParaRPr lang="es-MX" sz="18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428845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59AD-49F4-478E-A013-BE606CDD1B41}" type="datetimeFigureOut">
              <a:rPr lang="en-US" smtClean="0"/>
              <a:t>2/24/2020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" name="Rectángulo 4"/>
          <p:cNvSpPr/>
          <p:nvPr userDrawn="1"/>
        </p:nvSpPr>
        <p:spPr>
          <a:xfrm>
            <a:off x="2209800" y="218702"/>
            <a:ext cx="8001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800" dirty="0" smtClean="0">
                <a:solidFill>
                  <a:schemeClr val="bg1"/>
                </a:solidFill>
                <a:latin typeface="Lato"/>
              </a:rPr>
              <a:t>Evaluación de la Eficacia del Sistema de Gestión de Calidad</a:t>
            </a:r>
            <a:endParaRPr lang="es-MX" sz="18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327994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  <p:sp>
        <p:nvSpPr>
          <p:cNvPr id="8" name="Rectángulo 7"/>
          <p:cNvSpPr/>
          <p:nvPr userDrawn="1"/>
        </p:nvSpPr>
        <p:spPr>
          <a:xfrm>
            <a:off x="2209800" y="218702"/>
            <a:ext cx="8001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800" dirty="0" smtClean="0">
                <a:solidFill>
                  <a:schemeClr val="bg1"/>
                </a:solidFill>
                <a:latin typeface="Lato"/>
              </a:rPr>
              <a:t>Evaluación de la Eficacia del Sistema de Gestión de Calidad</a:t>
            </a:r>
            <a:endParaRPr lang="es-MX" sz="18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676262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  <p:sp>
        <p:nvSpPr>
          <p:cNvPr id="8" name="Rectángulo 7"/>
          <p:cNvSpPr/>
          <p:nvPr userDrawn="1"/>
        </p:nvSpPr>
        <p:spPr>
          <a:xfrm>
            <a:off x="2209800" y="218702"/>
            <a:ext cx="8001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800" dirty="0" smtClean="0">
                <a:solidFill>
                  <a:schemeClr val="bg1"/>
                </a:solidFill>
                <a:latin typeface="Lato"/>
              </a:rPr>
              <a:t>Evaluación de la Eficacia del Sistema de Gestión de Calidad</a:t>
            </a:r>
            <a:endParaRPr lang="es-MX" sz="18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600114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580A0-ED6C-4884-9FFE-87471827F59A}" type="datetimeFigureOut">
              <a:rPr lang="en-US" smtClean="0"/>
              <a:t>2/24/2020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Rectángulo 6"/>
          <p:cNvSpPr/>
          <p:nvPr userDrawn="1"/>
        </p:nvSpPr>
        <p:spPr>
          <a:xfrm>
            <a:off x="2209800" y="218702"/>
            <a:ext cx="8001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800" dirty="0" smtClean="0">
                <a:solidFill>
                  <a:schemeClr val="bg1"/>
                </a:solidFill>
                <a:latin typeface="Lato"/>
              </a:rPr>
              <a:t>Evaluación de la Eficacia del Sistema de Gestión de Calidad</a:t>
            </a:r>
            <a:endParaRPr lang="es-MX" sz="18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87944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  <p:sp>
        <p:nvSpPr>
          <p:cNvPr id="7" name="Rectángulo 6"/>
          <p:cNvSpPr/>
          <p:nvPr userDrawn="1"/>
        </p:nvSpPr>
        <p:spPr>
          <a:xfrm>
            <a:off x="2209800" y="218702"/>
            <a:ext cx="8001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800" dirty="0" smtClean="0">
                <a:solidFill>
                  <a:schemeClr val="bg1"/>
                </a:solidFill>
                <a:latin typeface="Lato"/>
              </a:rPr>
              <a:t>Evaluación de la Eficacia del Sistema de Gestión de Calidad</a:t>
            </a:r>
            <a:endParaRPr lang="es-MX" sz="18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50616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8" y="86304"/>
            <a:ext cx="2172077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9" y="4576007"/>
            <a:ext cx="12178340" cy="227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485" y="47481"/>
            <a:ext cx="2335632" cy="670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ángulo 9"/>
          <p:cNvSpPr/>
          <p:nvPr userDrawn="1"/>
        </p:nvSpPr>
        <p:spPr>
          <a:xfrm>
            <a:off x="2209800" y="218702"/>
            <a:ext cx="8001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800" dirty="0" smtClean="0">
                <a:solidFill>
                  <a:schemeClr val="bg1"/>
                </a:solidFill>
                <a:latin typeface="Lato"/>
              </a:rPr>
              <a:t>Evaluación de la Eficacia del Sistema de Gestión de Calidad</a:t>
            </a:r>
            <a:endParaRPr lang="es-MX" sz="18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1228456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48942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64395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dirty="0" smtClean="0"/>
              <a:t>Haga clic para modificar el estilo de título el patrón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531375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3624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98145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5130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44040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01048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8995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91001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84BCB-6E5B-4807-980D-4D0E8C2CA50D}" type="datetimeFigureOut">
              <a:rPr lang="es-MX" smtClean="0"/>
              <a:t>24/02/2020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8E08E-7D29-43FF-8D08-996DA55AEB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38269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84BCB-6E5B-4807-980D-4D0E8C2CA50D}" type="datetimeFigureOut">
              <a:rPr lang="es-MX" smtClean="0"/>
              <a:t>24/02/2020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8E08E-7D29-43FF-8D08-996DA55AEB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61764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84BCB-6E5B-4807-980D-4D0E8C2CA50D}" type="datetimeFigureOut">
              <a:rPr lang="es-MX" smtClean="0"/>
              <a:t>24/02/2020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8E08E-7D29-43FF-8D08-996DA55AEB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231291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84BCB-6E5B-4807-980D-4D0E8C2CA50D}" type="datetimeFigureOut">
              <a:rPr lang="es-MX" smtClean="0"/>
              <a:t>24/02/2020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8E08E-7D29-43FF-8D08-996DA55AEB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970712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84BCB-6E5B-4807-980D-4D0E8C2CA50D}" type="datetimeFigureOut">
              <a:rPr lang="es-MX" smtClean="0"/>
              <a:t>24/02/2020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8E08E-7D29-43FF-8D08-996DA55AEB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15057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84BCB-6E5B-4807-980D-4D0E8C2CA50D}" type="datetimeFigureOut">
              <a:rPr lang="es-MX" smtClean="0"/>
              <a:t>24/02/2020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8E08E-7D29-43FF-8D08-996DA55AEB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623923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84BCB-6E5B-4807-980D-4D0E8C2CA50D}" type="datetimeFigureOut">
              <a:rPr lang="es-MX" smtClean="0"/>
              <a:t>24/02/2020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8E08E-7D29-43FF-8D08-996DA55AEB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97092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84BCB-6E5B-4807-980D-4D0E8C2CA50D}" type="datetimeFigureOut">
              <a:rPr lang="es-MX" smtClean="0"/>
              <a:t>24/02/2020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8E08E-7D29-43FF-8D08-996DA55AEB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789656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84BCB-6E5B-4807-980D-4D0E8C2CA50D}" type="datetimeFigureOut">
              <a:rPr lang="es-MX" smtClean="0"/>
              <a:t>24/02/2020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8E08E-7D29-43FF-8D08-996DA55AEB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883760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84BCB-6E5B-4807-980D-4D0E8C2CA50D}" type="datetimeFigureOut">
              <a:rPr lang="es-MX" smtClean="0"/>
              <a:t>24/02/2020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8E08E-7D29-43FF-8D08-996DA55AEB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424402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84BCB-6E5B-4807-980D-4D0E8C2CA50D}" type="datetimeFigureOut">
              <a:rPr lang="es-MX" smtClean="0"/>
              <a:t>24/02/2020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8E08E-7D29-43FF-8D08-996DA55AEB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52856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4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2/24/2020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9" y="4576007"/>
            <a:ext cx="12178340" cy="227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8" y="86304"/>
            <a:ext cx="2172077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485" y="47481"/>
            <a:ext cx="2335632" cy="670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4 Rectángulo"/>
          <p:cNvSpPr/>
          <p:nvPr userDrawn="1"/>
        </p:nvSpPr>
        <p:spPr>
          <a:xfrm>
            <a:off x="2187855" y="232201"/>
            <a:ext cx="62737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buClr>
                <a:srgbClr val="000000"/>
              </a:buClr>
              <a:buSzPts val="1200"/>
            </a:pPr>
            <a:r>
              <a:rPr lang="es-MX" sz="1200" b="1" dirty="0">
                <a:solidFill>
                  <a:schemeClr val="bg2">
                    <a:lumMod val="10000"/>
                  </a:schemeClr>
                </a:solidFill>
                <a:latin typeface="Lato"/>
                <a:ea typeface="Lato"/>
                <a:cs typeface="Lato"/>
              </a:rPr>
              <a:t>Dirección Ejecutiva del Registro Federal de Electores</a:t>
            </a:r>
          </a:p>
          <a:p>
            <a:pPr defTabSz="914400">
              <a:buClr>
                <a:srgbClr val="000000"/>
              </a:buClr>
              <a:buSzPts val="1200"/>
            </a:pPr>
            <a:r>
              <a:rPr lang="es-MX" sz="1200" b="1" dirty="0">
                <a:solidFill>
                  <a:schemeClr val="bg2">
                    <a:lumMod val="10000"/>
                  </a:schemeClr>
                </a:solidFill>
                <a:latin typeface="Lato"/>
                <a:ea typeface="Lato"/>
                <a:cs typeface="Lato"/>
              </a:rPr>
              <a:t>Coordinación de Operación en </a:t>
            </a:r>
            <a:r>
              <a:rPr lang="es-MX" sz="1200" b="1" dirty="0" smtClean="0">
                <a:solidFill>
                  <a:schemeClr val="bg2">
                    <a:lumMod val="10000"/>
                  </a:schemeClr>
                </a:solidFill>
                <a:latin typeface="Lato"/>
                <a:ea typeface="Lato"/>
                <a:cs typeface="Lato"/>
              </a:rPr>
              <a:t>Campo</a:t>
            </a:r>
            <a:endParaRPr lang="es-MX" sz="1200" b="1" dirty="0">
              <a:solidFill>
                <a:schemeClr val="bg2">
                  <a:lumMod val="10000"/>
                </a:schemeClr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19" y="0"/>
            <a:ext cx="12196236" cy="6853119"/>
          </a:xfrm>
          <a:prstGeom prst="rect">
            <a:avLst/>
          </a:prstGeom>
        </p:spPr>
      </p:pic>
      <p:sp>
        <p:nvSpPr>
          <p:cNvPr id="12" name="Rectángulo 11"/>
          <p:cNvSpPr/>
          <p:nvPr userDrawn="1"/>
        </p:nvSpPr>
        <p:spPr>
          <a:xfrm>
            <a:off x="2209800" y="218702"/>
            <a:ext cx="8001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800" dirty="0" smtClean="0">
                <a:solidFill>
                  <a:schemeClr val="bg1"/>
                </a:solidFill>
                <a:latin typeface="Lato"/>
              </a:rPr>
              <a:t>Evaluación de la Eficacia del Sistema de Gestión de Calidad</a:t>
            </a:r>
            <a:endParaRPr lang="es-MX" sz="18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20340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55" r:id="rId1"/>
    <p:sldLayoutId id="2147484356" r:id="rId2"/>
    <p:sldLayoutId id="2147484357" r:id="rId3"/>
    <p:sldLayoutId id="2147484358" r:id="rId4"/>
    <p:sldLayoutId id="2147484359" r:id="rId5"/>
    <p:sldLayoutId id="2147484360" r:id="rId6"/>
    <p:sldLayoutId id="2147484361" r:id="rId7"/>
    <p:sldLayoutId id="2147484362" r:id="rId8"/>
    <p:sldLayoutId id="2147484363" r:id="rId9"/>
    <p:sldLayoutId id="2147484364" r:id="rId10"/>
    <p:sldLayoutId id="2147484365" r:id="rId11"/>
    <p:sldLayoutId id="2147484366" r:id="rId12"/>
    <p:sldLayoutId id="2147484371" r:id="rId13"/>
    <p:sldLayoutId id="2147484388" r:id="rId14"/>
    <p:sldLayoutId id="2147484327" r:id="rId15"/>
    <p:sldLayoutId id="2147484225" r:id="rId16"/>
    <p:sldLayoutId id="2147484268" r:id="rId17"/>
    <p:sldLayoutId id="2147484269" r:id="rId18"/>
    <p:sldLayoutId id="2147484270" r:id="rId19"/>
    <p:sldLayoutId id="2147484271" r:id="rId20"/>
    <p:sldLayoutId id="2147484227" r:id="rId21"/>
    <p:sldLayoutId id="2147484232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D84BCB-6E5B-4807-980D-4D0E8C2CA50D}" type="datetimeFigureOut">
              <a:rPr lang="es-MX" smtClean="0"/>
              <a:t>24/02/2020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E8E08E-7D29-43FF-8D08-996DA55AEB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03388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90" r:id="rId1"/>
    <p:sldLayoutId id="2147484391" r:id="rId2"/>
    <p:sldLayoutId id="2147484392" r:id="rId3"/>
    <p:sldLayoutId id="2147484393" r:id="rId4"/>
    <p:sldLayoutId id="2147484394" r:id="rId5"/>
    <p:sldLayoutId id="2147484395" r:id="rId6"/>
    <p:sldLayoutId id="2147484396" r:id="rId7"/>
    <p:sldLayoutId id="2147484397" r:id="rId8"/>
    <p:sldLayoutId id="2147484398" r:id="rId9"/>
    <p:sldLayoutId id="2147484399" r:id="rId10"/>
    <p:sldLayoutId id="21474844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3;p4"/>
          <p:cNvSpPr/>
          <p:nvPr/>
        </p:nvSpPr>
        <p:spPr>
          <a:xfrm>
            <a:off x="0" y="0"/>
            <a:ext cx="12192000" cy="4333885"/>
          </a:xfrm>
          <a:prstGeom prst="rect">
            <a:avLst/>
          </a:prstGeom>
          <a:solidFill>
            <a:srgbClr val="D5007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s-MX" sz="3000" b="1" dirty="0">
                <a:solidFill>
                  <a:schemeClr val="bg1"/>
                </a:solidFill>
                <a:latin typeface="Lato"/>
                <a:ea typeface="Arial"/>
                <a:cs typeface="Arial"/>
                <a:sym typeface="Arial"/>
              </a:rPr>
              <a:t>Tablero de Control por Proceso</a:t>
            </a:r>
            <a:endParaRPr sz="3000" b="1" dirty="0">
              <a:solidFill>
                <a:schemeClr val="bg1"/>
              </a:solidFill>
              <a:latin typeface="Lato"/>
              <a:ea typeface="Arial"/>
              <a:cs typeface="Arial"/>
              <a:sym typeface="Arial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1572148" y="3090277"/>
            <a:ext cx="10619852" cy="22344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ct val="80000"/>
              </a:lnSpc>
              <a:buClr>
                <a:schemeClr val="dk1"/>
              </a:buClr>
              <a:buSzPts val="2400"/>
            </a:pPr>
            <a:endParaRPr lang="es-MX" sz="2900" b="1" dirty="0" smtClean="0"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Lato"/>
              <a:sym typeface="Calibri"/>
            </a:endParaRPr>
          </a:p>
          <a:p>
            <a:pPr lvl="0" algn="r">
              <a:lnSpc>
                <a:spcPct val="80000"/>
              </a:lnSpc>
              <a:buClr>
                <a:schemeClr val="dk1"/>
              </a:buClr>
              <a:buSzPts val="2400"/>
            </a:pPr>
            <a:endParaRPr lang="es-MX" sz="2900" b="1" dirty="0"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Lato"/>
              <a:sym typeface="Calibri"/>
            </a:endParaRPr>
          </a:p>
          <a:p>
            <a:pPr lvl="0" algn="r">
              <a:lnSpc>
                <a:spcPct val="80000"/>
              </a:lnSpc>
              <a:buClr>
                <a:schemeClr val="dk1"/>
              </a:buClr>
              <a:buSzPts val="2400"/>
            </a:pPr>
            <a:endParaRPr lang="es-MX" sz="2900" b="1" dirty="0" smtClean="0"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Lato"/>
              <a:sym typeface="Calibri"/>
            </a:endParaRPr>
          </a:p>
          <a:p>
            <a:pPr lvl="0" algn="r">
              <a:lnSpc>
                <a:spcPct val="80000"/>
              </a:lnSpc>
              <a:buClr>
                <a:schemeClr val="dk1"/>
              </a:buClr>
              <a:buSzPts val="2400"/>
            </a:pPr>
            <a:endParaRPr lang="es-MX" sz="2900" b="1" dirty="0"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Lato"/>
              <a:sym typeface="Calibri"/>
            </a:endParaRPr>
          </a:p>
          <a:p>
            <a:pPr lvl="0" algn="r">
              <a:lnSpc>
                <a:spcPct val="80000"/>
              </a:lnSpc>
              <a:buClr>
                <a:schemeClr val="dk1"/>
              </a:buClr>
              <a:buSzPts val="2400"/>
            </a:pPr>
            <a:r>
              <a:rPr lang="es-MX" sz="2900" b="1" dirty="0" smtClean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Lato"/>
                <a:sym typeface="Calibri"/>
              </a:rPr>
              <a:t>INE </a:t>
            </a:r>
            <a:endParaRPr lang="es-MX" sz="2900" b="1" dirty="0"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Lato"/>
              <a:sym typeface="Calibri"/>
            </a:endParaRPr>
          </a:p>
          <a:p>
            <a:pPr lvl="0" algn="r">
              <a:lnSpc>
                <a:spcPct val="80000"/>
              </a:lnSpc>
              <a:buClr>
                <a:schemeClr val="dk1"/>
              </a:buClr>
              <a:buSzPts val="2400"/>
            </a:pPr>
            <a:r>
              <a:rPr lang="es-MX" sz="2900" b="1" dirty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Lato"/>
                <a:sym typeface="Calibri"/>
              </a:rPr>
              <a:t>Junta Local Ejecutiva Puebla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197224" y="5262844"/>
            <a:ext cx="9797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b="1" dirty="0">
                <a:solidFill>
                  <a:schemeClr val="bg1"/>
                </a:solidFill>
                <a:latin typeface="Arial Narrow" panose="020B0606020202030204" pitchFamily="34" charset="0"/>
              </a:rPr>
              <a:t>Marzo 2020</a:t>
            </a:r>
          </a:p>
        </p:txBody>
      </p:sp>
    </p:spTree>
    <p:extLst>
      <p:ext uri="{BB962C8B-B14F-4D97-AF65-F5344CB8AC3E}">
        <p14:creationId xmlns:p14="http://schemas.microsoft.com/office/powerpoint/2010/main" val="4107821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91588" y="4210191"/>
            <a:ext cx="11939451" cy="1846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sz="1200" dirty="0">
              <a:latin typeface="Lato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191588" y="808137"/>
            <a:ext cx="789363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dirty="0">
              <a:latin typeface="Lato"/>
            </a:endParaRPr>
          </a:p>
          <a:p>
            <a:r>
              <a:rPr lang="es-ES" b="1" dirty="0">
                <a:latin typeface="Lato"/>
              </a:rPr>
              <a:t>9.1 Seguimiento, medición, análisis y evaluación</a:t>
            </a:r>
            <a:r>
              <a:rPr lang="es-ES" b="1" dirty="0" smtClean="0">
                <a:latin typeface="Lato"/>
              </a:rPr>
              <a:t>.</a:t>
            </a:r>
            <a:endParaRPr lang="es-MX" dirty="0">
              <a:latin typeface="Lato"/>
            </a:endParaRPr>
          </a:p>
          <a:p>
            <a:r>
              <a:rPr lang="es-ES" b="1" dirty="0" smtClean="0">
                <a:latin typeface="Lato"/>
              </a:rPr>
              <a:t>9.1.1 </a:t>
            </a:r>
            <a:r>
              <a:rPr lang="es-ES" b="1" dirty="0">
                <a:latin typeface="Lato"/>
              </a:rPr>
              <a:t>Generalidades.</a:t>
            </a:r>
            <a:endParaRPr lang="es-MX" b="1" dirty="0">
              <a:latin typeface="Lato"/>
            </a:endParaRPr>
          </a:p>
          <a:p>
            <a:r>
              <a:rPr lang="es-ES_tradnl" dirty="0">
                <a:latin typeface="Lato"/>
              </a:rPr>
              <a:t> </a:t>
            </a:r>
            <a:endParaRPr lang="es-MX" dirty="0">
              <a:latin typeface="Lato"/>
            </a:endParaRPr>
          </a:p>
          <a:p>
            <a:r>
              <a:rPr lang="es-ES_tradnl" dirty="0">
                <a:latin typeface="Lato"/>
              </a:rPr>
              <a:t>La Alta Dirección en conjunto con los Coordinador del SGC y responsables de procesos involucrados en cada situación, determinan:</a:t>
            </a:r>
            <a:endParaRPr lang="es-MX" dirty="0">
              <a:latin typeface="Lato"/>
            </a:endParaRPr>
          </a:p>
          <a:p>
            <a:r>
              <a:rPr lang="es-ES_tradnl" dirty="0">
                <a:latin typeface="Lato"/>
              </a:rPr>
              <a:t> </a:t>
            </a:r>
            <a:endParaRPr lang="es-MX" dirty="0">
              <a:latin typeface="Lato"/>
            </a:endParaRP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s-ES_tradnl" dirty="0" smtClean="0">
                <a:latin typeface="Lato"/>
              </a:rPr>
              <a:t> Qué </a:t>
            </a:r>
            <a:r>
              <a:rPr lang="es-ES_tradnl" dirty="0">
                <a:latin typeface="Lato"/>
              </a:rPr>
              <a:t>necesita seguimiento y medición.</a:t>
            </a:r>
            <a:endParaRPr lang="es-MX" dirty="0">
              <a:latin typeface="Lato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_tradnl" dirty="0">
                <a:latin typeface="Lato"/>
              </a:rPr>
              <a:t> </a:t>
            </a:r>
            <a:r>
              <a:rPr lang="es-ES_tradnl" dirty="0" smtClean="0">
                <a:latin typeface="Lato"/>
              </a:rPr>
              <a:t>Los </a:t>
            </a:r>
            <a:r>
              <a:rPr lang="es-ES_tradnl" dirty="0">
                <a:latin typeface="Lato"/>
              </a:rPr>
              <a:t>métodos de seguimiento, medición, análisis y evaluación necesarios para asegurar resultados válidos.</a:t>
            </a:r>
            <a:endParaRPr lang="es-MX" dirty="0">
              <a:latin typeface="Lato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_tradnl" dirty="0">
                <a:latin typeface="Lato"/>
              </a:rPr>
              <a:t> </a:t>
            </a:r>
            <a:r>
              <a:rPr lang="es-ES_tradnl" dirty="0" smtClean="0">
                <a:latin typeface="Lato"/>
              </a:rPr>
              <a:t>Cuándo </a:t>
            </a:r>
            <a:r>
              <a:rPr lang="es-ES_tradnl" dirty="0">
                <a:latin typeface="Lato"/>
              </a:rPr>
              <a:t>se deben llevar a cabo el seguimiento y la medición.</a:t>
            </a:r>
            <a:endParaRPr lang="es-MX" dirty="0">
              <a:latin typeface="Lato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_tradnl" dirty="0">
                <a:latin typeface="Lato"/>
              </a:rPr>
              <a:t> </a:t>
            </a:r>
            <a:r>
              <a:rPr lang="es-ES_tradnl" dirty="0" smtClean="0">
                <a:latin typeface="Lato"/>
              </a:rPr>
              <a:t>Cuándo </a:t>
            </a:r>
            <a:r>
              <a:rPr lang="es-ES_tradnl" dirty="0">
                <a:latin typeface="Lato"/>
              </a:rPr>
              <a:t>se deben analizar y evaluar los resultados del seguimiento y la medición.</a:t>
            </a:r>
            <a:endParaRPr lang="es-MX" dirty="0">
              <a:latin typeface="Lato"/>
            </a:endParaRPr>
          </a:p>
          <a:p>
            <a:r>
              <a:rPr lang="es-ES_tradnl" dirty="0">
                <a:latin typeface="Lato"/>
              </a:rPr>
              <a:t> </a:t>
            </a:r>
            <a:endParaRPr lang="es-MX" dirty="0">
              <a:latin typeface="Lato"/>
            </a:endParaRPr>
          </a:p>
          <a:p>
            <a:endParaRPr lang="es-MX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305" y="756073"/>
            <a:ext cx="3421649" cy="3546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95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480" y="852979"/>
            <a:ext cx="2225842" cy="2960294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 rot="10800000" flipV="1">
            <a:off x="0" y="3873703"/>
            <a:ext cx="119553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Lato"/>
              </a:rPr>
              <a:t>9.1.2 Satisfacción del Cliente.</a:t>
            </a:r>
            <a:endParaRPr lang="es-MX" b="1" dirty="0">
              <a:latin typeface="Lato"/>
            </a:endParaRPr>
          </a:p>
          <a:p>
            <a:r>
              <a:rPr lang="es-ES_tradnl" dirty="0">
                <a:latin typeface="Lato"/>
              </a:rPr>
              <a:t> </a:t>
            </a:r>
            <a:endParaRPr lang="es-MX" dirty="0">
              <a:latin typeface="Lato"/>
            </a:endParaRPr>
          </a:p>
          <a:p>
            <a:pPr algn="just"/>
            <a:r>
              <a:rPr lang="es-ES_tradnl" b="1" dirty="0">
                <a:latin typeface="Lato"/>
              </a:rPr>
              <a:t>La JLE Puebla,</a:t>
            </a:r>
            <a:r>
              <a:rPr lang="es-ES_tradnl" dirty="0">
                <a:latin typeface="Lato"/>
              </a:rPr>
              <a:t> a través del objetivo de la calidad “Conocer la opinión ciudadana sobre el servicio de los Módulos de atención ciudadana” realiza el seguimiento de las percepciones de la ciudadanía y del grado en que se cumplen sus necesidades y expectativas, determinando los métodos, para la obtención, el seguimiento y revisión de la información, registrada mediante el uso de los medios electrónicos e impresos disponibles por el Instituto que se implementen en los Módulos de Atención Ciudadana.</a:t>
            </a:r>
            <a:endParaRPr lang="es-MX" dirty="0">
              <a:latin typeface="Lato"/>
            </a:endParaRPr>
          </a:p>
          <a:p>
            <a:r>
              <a:rPr lang="es-ES_tradnl" dirty="0">
                <a:latin typeface="Lato"/>
              </a:rPr>
              <a:t> </a:t>
            </a:r>
            <a:endParaRPr lang="es-MX" dirty="0"/>
          </a:p>
        </p:txBody>
      </p:sp>
      <p:sp>
        <p:nvSpPr>
          <p:cNvPr id="6" name="CuadroTexto 5"/>
          <p:cNvSpPr txBox="1"/>
          <p:nvPr/>
        </p:nvSpPr>
        <p:spPr>
          <a:xfrm>
            <a:off x="3729115" y="852979"/>
            <a:ext cx="8582526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b="1" dirty="0">
                <a:latin typeface="Lato"/>
              </a:rPr>
              <a:t>La eficacia del SGC se </a:t>
            </a:r>
            <a:r>
              <a:rPr lang="es-ES_tradnl" sz="2000" b="1" dirty="0" smtClean="0">
                <a:latin typeface="Lato"/>
              </a:rPr>
              <a:t>medirá </a:t>
            </a:r>
            <a:r>
              <a:rPr lang="es-ES_tradnl" sz="2000" b="1" dirty="0">
                <a:latin typeface="Lato"/>
              </a:rPr>
              <a:t>a </a:t>
            </a:r>
            <a:r>
              <a:rPr lang="es-ES_tradnl" sz="2000" b="1" dirty="0" smtClean="0">
                <a:latin typeface="Lato"/>
              </a:rPr>
              <a:t>con base en lo siguiente:</a:t>
            </a:r>
            <a:endParaRPr lang="es-ES_tradnl" sz="2000" b="1" dirty="0">
              <a:latin typeface="Lato"/>
            </a:endParaRPr>
          </a:p>
          <a:p>
            <a:endParaRPr lang="es-ES_tradnl" b="1" dirty="0">
              <a:latin typeface="Lato"/>
            </a:endParaRPr>
          </a:p>
          <a:p>
            <a:pPr marL="628650" lvl="1" indent="-171450">
              <a:buFont typeface="Wingdings" panose="05000000000000000000" pitchFamily="2" charset="2"/>
              <a:buChar char="v"/>
            </a:pPr>
            <a:r>
              <a:rPr lang="es-ES_tradnl" dirty="0">
                <a:latin typeface="Lato"/>
              </a:rPr>
              <a:t>Tablero de Control de Indicadores </a:t>
            </a:r>
          </a:p>
          <a:p>
            <a:pPr marL="628650" lvl="1" indent="-171450">
              <a:buFont typeface="Wingdings" panose="05000000000000000000" pitchFamily="2" charset="2"/>
              <a:buChar char="v"/>
            </a:pPr>
            <a:r>
              <a:rPr lang="es-ES_tradnl" dirty="0">
                <a:latin typeface="Lato"/>
              </a:rPr>
              <a:t>Procedimiento de Acciones Correctivas</a:t>
            </a:r>
          </a:p>
          <a:p>
            <a:endParaRPr lang="es-ES_tradnl" dirty="0">
              <a:latin typeface="Lato"/>
            </a:endParaRPr>
          </a:p>
          <a:p>
            <a:r>
              <a:rPr lang="es-ES_tradnl" dirty="0">
                <a:latin typeface="Lato"/>
              </a:rPr>
              <a:t>Se </a:t>
            </a:r>
            <a:r>
              <a:rPr lang="es-ES_tradnl" dirty="0" smtClean="0">
                <a:latin typeface="Lato"/>
              </a:rPr>
              <a:t>debe conservar la información </a:t>
            </a:r>
            <a:r>
              <a:rPr lang="es-ES_tradnl" dirty="0">
                <a:latin typeface="Lato"/>
              </a:rPr>
              <a:t>documentada apropiada como evidencia de los resultados </a:t>
            </a:r>
            <a:r>
              <a:rPr lang="es-ES_tradnl" b="1" dirty="0">
                <a:latin typeface="Lato"/>
              </a:rPr>
              <a:t>Procedimiento de Información Documentada</a:t>
            </a:r>
            <a:r>
              <a:rPr lang="es-ES_tradnl" dirty="0">
                <a:latin typeface="Lato"/>
              </a:rPr>
              <a:t>.</a:t>
            </a:r>
            <a:endParaRPr lang="es-MX" dirty="0">
              <a:latin typeface="Lato"/>
            </a:endParaRP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25270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134596" y="914798"/>
            <a:ext cx="776036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b="1" dirty="0" smtClean="0">
                <a:latin typeface="Lato"/>
              </a:rPr>
              <a:t>9.1.3 </a:t>
            </a:r>
            <a:r>
              <a:rPr lang="es-ES" sz="1600" b="1" dirty="0">
                <a:latin typeface="Lato"/>
              </a:rPr>
              <a:t>Análisis y evaluación.</a:t>
            </a:r>
            <a:endParaRPr lang="es-MX" sz="1600" b="1" dirty="0">
              <a:latin typeface="Lato"/>
            </a:endParaRPr>
          </a:p>
          <a:p>
            <a:r>
              <a:rPr lang="es-ES_tradnl" sz="1600" dirty="0">
                <a:latin typeface="Lato"/>
              </a:rPr>
              <a:t> </a:t>
            </a:r>
            <a:endParaRPr lang="es-MX" sz="1600" dirty="0">
              <a:latin typeface="Lato"/>
            </a:endParaRPr>
          </a:p>
          <a:p>
            <a:r>
              <a:rPr lang="es-ES_tradnl" sz="1600" b="1" dirty="0">
                <a:latin typeface="Lato"/>
              </a:rPr>
              <a:t>La JLE Puebla </a:t>
            </a:r>
            <a:r>
              <a:rPr lang="es-ES_tradnl" sz="1600" dirty="0">
                <a:latin typeface="Lato"/>
              </a:rPr>
              <a:t>analiza y evalúa los datos y la información apropiada que surge por el seguimiento y la medición. Dichos análisis se encuentran concentrado en el </a:t>
            </a:r>
            <a:r>
              <a:rPr lang="es-ES_tradnl" sz="1600" b="1" dirty="0">
                <a:latin typeface="Lato"/>
              </a:rPr>
              <a:t>Tablero de Control de Indicadores</a:t>
            </a:r>
            <a:r>
              <a:rPr lang="es-ES_tradnl" sz="1600" dirty="0">
                <a:latin typeface="Lato"/>
              </a:rPr>
              <a:t> vigente y se documentan los acuerdos y/o conclusiones en una </a:t>
            </a:r>
            <a:r>
              <a:rPr lang="es-ES_tradnl" sz="1600" b="1" dirty="0">
                <a:latin typeface="Lato"/>
              </a:rPr>
              <a:t>Minuta del </a:t>
            </a:r>
            <a:r>
              <a:rPr lang="es-ES_tradnl" sz="1600" b="1" dirty="0" smtClean="0">
                <a:latin typeface="Lato"/>
              </a:rPr>
              <a:t>SGC</a:t>
            </a:r>
          </a:p>
          <a:p>
            <a:endParaRPr lang="es-ES_tradnl" sz="1600" b="1" dirty="0">
              <a:latin typeface="Lato"/>
            </a:endParaRPr>
          </a:p>
          <a:p>
            <a:r>
              <a:rPr lang="es-ES_tradnl" sz="1600" dirty="0" smtClean="0">
                <a:latin typeface="Lato"/>
              </a:rPr>
              <a:t>Dichos </a:t>
            </a:r>
            <a:r>
              <a:rPr lang="es-ES_tradnl" sz="1600" dirty="0">
                <a:latin typeface="Lato"/>
              </a:rPr>
              <a:t>resultados del análisis son utilizados para evaluar:</a:t>
            </a:r>
            <a:endParaRPr lang="es-MX" sz="1600" dirty="0">
              <a:latin typeface="Lato"/>
            </a:endParaRPr>
          </a:p>
          <a:p>
            <a:r>
              <a:rPr lang="es-ES_tradnl" sz="1600" dirty="0">
                <a:latin typeface="Lato"/>
              </a:rPr>
              <a:t> </a:t>
            </a:r>
            <a:r>
              <a:rPr lang="es-ES_tradnl" sz="1600" dirty="0" smtClean="0">
                <a:latin typeface="Lato"/>
              </a:rPr>
              <a:t>La </a:t>
            </a:r>
            <a:r>
              <a:rPr lang="es-ES_tradnl" sz="1600" dirty="0">
                <a:latin typeface="Lato"/>
              </a:rPr>
              <a:t>conformidad del servicio ofrecido.</a:t>
            </a:r>
            <a:endParaRPr lang="es-MX" sz="1600" dirty="0">
              <a:latin typeface="Lato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s-ES_tradnl" sz="1600" dirty="0" smtClean="0">
                <a:latin typeface="Lato"/>
              </a:rPr>
              <a:t>El </a:t>
            </a:r>
            <a:r>
              <a:rPr lang="es-ES_tradnl" sz="1600" dirty="0">
                <a:latin typeface="Lato"/>
              </a:rPr>
              <a:t>grado de satisfacción de la ciudadanía.</a:t>
            </a:r>
            <a:endParaRPr lang="es-MX" sz="1600" dirty="0">
              <a:latin typeface="Lato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s-ES_tradnl" sz="1600" dirty="0" smtClean="0">
                <a:latin typeface="Lato"/>
              </a:rPr>
              <a:t>El </a:t>
            </a:r>
            <a:r>
              <a:rPr lang="es-ES_tradnl" sz="1600" dirty="0">
                <a:latin typeface="Lato"/>
              </a:rPr>
              <a:t>desempeño y la eficacia del SGC.</a:t>
            </a:r>
            <a:endParaRPr lang="es-MX" sz="1600" dirty="0">
              <a:latin typeface="Lato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s-ES_tradnl" sz="1600" dirty="0" smtClean="0">
                <a:latin typeface="Lato"/>
              </a:rPr>
              <a:t>La </a:t>
            </a:r>
            <a:r>
              <a:rPr lang="es-ES_tradnl" sz="1600" dirty="0">
                <a:latin typeface="Lato"/>
              </a:rPr>
              <a:t>planificación vs la eficacia de la implementación. </a:t>
            </a:r>
            <a:endParaRPr lang="es-MX" sz="1600" dirty="0">
              <a:latin typeface="Lato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s-ES_tradnl" sz="1600" dirty="0" smtClean="0">
                <a:latin typeface="Lato"/>
              </a:rPr>
              <a:t>La </a:t>
            </a:r>
            <a:r>
              <a:rPr lang="es-ES_tradnl" sz="1600" dirty="0">
                <a:latin typeface="Lato"/>
              </a:rPr>
              <a:t>eficacia de las acciones tomadas para abordar los riesgos y oportunidades determinadas en los procesos y matriz de contexto que se encuentran declarados en el SGC.</a:t>
            </a:r>
            <a:endParaRPr lang="es-MX" sz="1600" dirty="0">
              <a:latin typeface="Lato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s-ES_tradnl" sz="1600" dirty="0" smtClean="0">
                <a:latin typeface="Lato"/>
              </a:rPr>
              <a:t>El </a:t>
            </a:r>
            <a:r>
              <a:rPr lang="es-ES_tradnl" sz="1600" dirty="0">
                <a:latin typeface="Lato"/>
              </a:rPr>
              <a:t>desempeño de los Proveedores externos.</a:t>
            </a:r>
            <a:endParaRPr lang="es-MX" sz="1600" dirty="0">
              <a:latin typeface="Lato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s-ES_tradnl" sz="1600" dirty="0" smtClean="0">
                <a:latin typeface="Lato"/>
              </a:rPr>
              <a:t>La </a:t>
            </a:r>
            <a:r>
              <a:rPr lang="es-ES_tradnl" sz="1600" dirty="0">
                <a:latin typeface="Lato"/>
              </a:rPr>
              <a:t>necesidad de mejoras en el SGC</a:t>
            </a:r>
            <a:r>
              <a:rPr lang="es-ES_tradnl" sz="1600" dirty="0" smtClean="0">
                <a:latin typeface="Lato"/>
              </a:rPr>
              <a:t>.</a:t>
            </a:r>
            <a:r>
              <a:rPr lang="es-MX" altLang="es-MX" sz="1600" dirty="0">
                <a:solidFill>
                  <a:srgbClr val="505050"/>
                </a:solidFill>
                <a:latin typeface="Lato"/>
              </a:rPr>
              <a:t>                                    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8968" y="2221791"/>
            <a:ext cx="3661110" cy="264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753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1297305"/>
            <a:ext cx="9577137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MX" dirty="0" smtClean="0">
                <a:latin typeface="Lato"/>
              </a:rPr>
              <a:t>Una herramienta que entrega información cuantitativa respecto del logro o resultado de los objetivos establecidos. Un indicador debe ser: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s-MX" altLang="es-MX" dirty="0">
              <a:latin typeface="Lato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s-MX" b="1" dirty="0" smtClean="0">
                <a:latin typeface="Lato"/>
              </a:rPr>
              <a:t>Medible</a:t>
            </a:r>
            <a:r>
              <a:rPr lang="es-MX" b="1" dirty="0">
                <a:latin typeface="Lato"/>
              </a:rPr>
              <a:t>:</a:t>
            </a:r>
            <a:r>
              <a:rPr lang="es-MX" dirty="0">
                <a:latin typeface="Lato"/>
              </a:rPr>
              <a:t> El medidor o indicador debe ser medible. Esto significa que la característica descrita debe ser cuantificable en términos ya sea del grado o frecuencia de la cantidad.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s-MX" b="1" dirty="0">
                <a:latin typeface="Lato"/>
              </a:rPr>
              <a:t>Entendible:</a:t>
            </a:r>
            <a:r>
              <a:rPr lang="es-MX" dirty="0">
                <a:latin typeface="Lato"/>
              </a:rPr>
              <a:t> El medidor o indicador debe ser reconocido fácilmente por todos aquellos que lo usan.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s-MX" b="1" dirty="0">
                <a:latin typeface="Lato"/>
              </a:rPr>
              <a:t>Controlable:</a:t>
            </a:r>
            <a:r>
              <a:rPr lang="es-MX" dirty="0">
                <a:latin typeface="Lato"/>
              </a:rPr>
              <a:t> El indicador debe ser controlable dentro de la estructura de la organización</a:t>
            </a:r>
            <a:r>
              <a:rPr lang="es-MX" dirty="0" smtClean="0">
                <a:latin typeface="Lato"/>
              </a:rPr>
              <a:t>.</a:t>
            </a:r>
            <a:endParaRPr lang="es-MX" dirty="0">
              <a:latin typeface="Lato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102781" y="4368069"/>
            <a:ext cx="4993106" cy="175432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b="1" dirty="0" smtClean="0">
                <a:latin typeface="Lato"/>
              </a:rPr>
              <a:t>¿</a:t>
            </a:r>
            <a:r>
              <a:rPr lang="es-MX" b="1" dirty="0">
                <a:latin typeface="Lato"/>
              </a:rPr>
              <a:t>Por qué medir y para qué?</a:t>
            </a:r>
            <a:br>
              <a:rPr lang="es-MX" b="1" dirty="0">
                <a:latin typeface="Lato"/>
              </a:rPr>
            </a:br>
            <a:endParaRPr lang="es-MX" dirty="0">
              <a:latin typeface="Lato"/>
            </a:endParaRPr>
          </a:p>
          <a:p>
            <a:pPr algn="ctr"/>
            <a:r>
              <a:rPr lang="es-MX" b="1" dirty="0">
                <a:latin typeface="Lato"/>
              </a:rPr>
              <a:t>Si no se mide lo que se hace, no se puede controlar y si no se puede controlar, no se puede dirigir y si no se puede dirigir no se puede mejorar</a:t>
            </a:r>
            <a:r>
              <a:rPr lang="es-MX" b="1" dirty="0" smtClean="0">
                <a:latin typeface="Lato"/>
              </a:rPr>
              <a:t>.</a:t>
            </a:r>
            <a:endParaRPr lang="es-MX" dirty="0">
              <a:latin typeface="Lato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6335921" y="4368069"/>
            <a:ext cx="5329990" cy="1828706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90000"/>
              </a:lnSpc>
              <a:spcBef>
                <a:spcPts val="150"/>
              </a:spcBef>
              <a:buClr>
                <a:srgbClr val="ED2178"/>
              </a:buClr>
              <a:buSzPct val="100000"/>
              <a:buFont typeface="Wingdings" panose="05000000000000000000" pitchFamily="2" charset="2"/>
              <a:buChar char="v"/>
            </a:pPr>
            <a:r>
              <a:rPr lang="es-MX" sz="1900" dirty="0">
                <a:solidFill>
                  <a:srgbClr val="F03399"/>
                </a:solidFill>
                <a:latin typeface="Lato"/>
                <a:ea typeface="Arial"/>
                <a:cs typeface="Arial"/>
                <a:sym typeface="Arial"/>
              </a:rPr>
              <a:t>Satisfacer necesidades de la </a:t>
            </a:r>
            <a:r>
              <a:rPr lang="es-MX" sz="1900" dirty="0" smtClean="0">
                <a:solidFill>
                  <a:srgbClr val="F03399"/>
                </a:solidFill>
                <a:latin typeface="Lato"/>
                <a:ea typeface="Arial"/>
                <a:cs typeface="Arial"/>
                <a:sym typeface="Arial"/>
              </a:rPr>
              <a:t>ciudadanía</a:t>
            </a:r>
          </a:p>
          <a:p>
            <a:pPr marL="171450" indent="-171450">
              <a:lnSpc>
                <a:spcPct val="90000"/>
              </a:lnSpc>
              <a:spcBef>
                <a:spcPts val="150"/>
              </a:spcBef>
              <a:buClr>
                <a:srgbClr val="ED2178"/>
              </a:buClr>
              <a:buSzPct val="100000"/>
              <a:buFont typeface="Wingdings" panose="05000000000000000000" pitchFamily="2" charset="2"/>
              <a:buChar char="v"/>
            </a:pPr>
            <a:endParaRPr lang="es-MX" sz="1900" dirty="0" smtClean="0">
              <a:solidFill>
                <a:srgbClr val="F03399"/>
              </a:solidFill>
              <a:latin typeface="Lato"/>
              <a:ea typeface="Calibri"/>
              <a:cs typeface="Calibri"/>
              <a:sym typeface="Calibri"/>
            </a:endParaRPr>
          </a:p>
          <a:p>
            <a:pPr marL="171450" indent="-171450">
              <a:lnSpc>
                <a:spcPct val="90000"/>
              </a:lnSpc>
              <a:spcBef>
                <a:spcPts val="150"/>
              </a:spcBef>
              <a:buClr>
                <a:srgbClr val="ED2178"/>
              </a:buClr>
              <a:buSzPct val="100000"/>
              <a:buFont typeface="Wingdings" panose="05000000000000000000" pitchFamily="2" charset="2"/>
              <a:buChar char="v"/>
            </a:pPr>
            <a:r>
              <a:rPr lang="es-MX" sz="1900" dirty="0" smtClean="0">
                <a:solidFill>
                  <a:srgbClr val="F03399"/>
                </a:solidFill>
                <a:latin typeface="Lato"/>
                <a:ea typeface="Calibri"/>
                <a:cs typeface="Calibri"/>
                <a:sym typeface="Calibri"/>
              </a:rPr>
              <a:t>Eliminar </a:t>
            </a:r>
            <a:r>
              <a:rPr lang="es-MX" sz="1900" dirty="0">
                <a:solidFill>
                  <a:srgbClr val="F03399"/>
                </a:solidFill>
                <a:latin typeface="Lato"/>
                <a:ea typeface="Calibri"/>
                <a:cs typeface="Calibri"/>
                <a:sym typeface="Calibri"/>
              </a:rPr>
              <a:t>desperdicios y generar </a:t>
            </a:r>
            <a:r>
              <a:rPr lang="es-MX" sz="1900" dirty="0" smtClean="0">
                <a:solidFill>
                  <a:srgbClr val="F03399"/>
                </a:solidFill>
                <a:latin typeface="Lato"/>
                <a:ea typeface="Calibri"/>
                <a:cs typeface="Calibri"/>
                <a:sym typeface="Calibri"/>
              </a:rPr>
              <a:t>ahorros</a:t>
            </a:r>
          </a:p>
          <a:p>
            <a:pPr marL="171450" indent="-171450">
              <a:lnSpc>
                <a:spcPct val="90000"/>
              </a:lnSpc>
              <a:spcBef>
                <a:spcPts val="150"/>
              </a:spcBef>
              <a:buClr>
                <a:srgbClr val="ED2178"/>
              </a:buClr>
              <a:buSzPct val="100000"/>
              <a:buFont typeface="Wingdings" panose="05000000000000000000" pitchFamily="2" charset="2"/>
              <a:buChar char="v"/>
            </a:pPr>
            <a:endParaRPr lang="es-MX" sz="1900" dirty="0">
              <a:solidFill>
                <a:srgbClr val="F03399"/>
              </a:solidFill>
              <a:latin typeface="Lato"/>
              <a:ea typeface="Arial"/>
              <a:cs typeface="Arial"/>
              <a:sym typeface="Arial"/>
            </a:endParaRPr>
          </a:p>
          <a:p>
            <a:pPr marL="171450" indent="-171450"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  <a:buClr>
                <a:srgbClr val="ED2178"/>
              </a:buClr>
              <a:buSzPct val="100000"/>
              <a:buFont typeface="Wingdings" panose="05000000000000000000" pitchFamily="2" charset="2"/>
              <a:buChar char="v"/>
            </a:pPr>
            <a:r>
              <a:rPr lang="es-MX" sz="1900" dirty="0">
                <a:solidFill>
                  <a:srgbClr val="F03399"/>
                </a:solidFill>
                <a:latin typeface="Lato"/>
                <a:ea typeface="Arial"/>
                <a:cs typeface="Arial"/>
                <a:sym typeface="Arial"/>
              </a:rPr>
              <a:t>Elevar el nivel de </a:t>
            </a:r>
            <a:r>
              <a:rPr lang="es-MX" sz="1900" dirty="0" smtClean="0">
                <a:solidFill>
                  <a:srgbClr val="F03399"/>
                </a:solidFill>
                <a:latin typeface="Lato"/>
                <a:ea typeface="Arial"/>
                <a:cs typeface="Arial"/>
                <a:sym typeface="Arial"/>
              </a:rPr>
              <a:t>servicio</a:t>
            </a:r>
            <a:endParaRPr lang="es-MX" sz="1900" dirty="0">
              <a:solidFill>
                <a:srgbClr val="F03399"/>
              </a:solidFill>
              <a:latin typeface="Lato"/>
            </a:endParaRPr>
          </a:p>
          <a:p>
            <a:pPr marL="171450" indent="-171450">
              <a:buClr>
                <a:srgbClr val="ED2178"/>
              </a:buClr>
              <a:buSzPct val="100000"/>
              <a:buFont typeface="Wingdings" panose="05000000000000000000" pitchFamily="2" charset="2"/>
              <a:buChar char="v"/>
            </a:pPr>
            <a:endParaRPr lang="es-MX" sz="1900" dirty="0">
              <a:solidFill>
                <a:srgbClr val="F03399"/>
              </a:solidFill>
              <a:latin typeface="Lato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102781" y="858030"/>
            <a:ext cx="30059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solidFill>
                  <a:schemeClr val="tx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Lato"/>
              </a:rPr>
              <a:t>Indicadores de Desempeño</a:t>
            </a:r>
            <a:endParaRPr lang="es-MX" dirty="0">
              <a:solidFill>
                <a:schemeClr val="tx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046920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02781" y="1293017"/>
            <a:ext cx="11237494" cy="2776401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s-MX" b="1" dirty="0">
                <a:solidFill>
                  <a:srgbClr val="0070C0"/>
                </a:solidFill>
                <a:latin typeface="Lato"/>
              </a:rPr>
              <a:t> ¿Por qué medir?</a:t>
            </a:r>
            <a:endParaRPr lang="es-MX" dirty="0">
              <a:solidFill>
                <a:srgbClr val="0070C0"/>
              </a:solidFill>
              <a:latin typeface="Lato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s-MX" dirty="0">
                <a:solidFill>
                  <a:srgbClr val="0070C0"/>
                </a:solidFill>
                <a:latin typeface="Lato"/>
              </a:rPr>
              <a:t>Por qué </a:t>
            </a:r>
            <a:r>
              <a:rPr lang="es-MX" dirty="0" smtClean="0">
                <a:solidFill>
                  <a:srgbClr val="0070C0"/>
                </a:solidFill>
                <a:latin typeface="Lato"/>
              </a:rPr>
              <a:t>el Instituto </a:t>
            </a:r>
            <a:r>
              <a:rPr lang="es-MX" dirty="0">
                <a:solidFill>
                  <a:srgbClr val="0070C0"/>
                </a:solidFill>
                <a:latin typeface="Lato"/>
              </a:rPr>
              <a:t>debe tomar </a:t>
            </a:r>
            <a:r>
              <a:rPr lang="es-MX" dirty="0" smtClean="0">
                <a:solidFill>
                  <a:srgbClr val="0070C0"/>
                </a:solidFill>
                <a:latin typeface="Lato"/>
              </a:rPr>
              <a:t>decisiones, sustentadas  en datos</a:t>
            </a:r>
            <a:endParaRPr lang="es-MX" dirty="0">
              <a:solidFill>
                <a:srgbClr val="0070C0"/>
              </a:solidFill>
              <a:latin typeface="Lato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s-MX" dirty="0">
                <a:solidFill>
                  <a:srgbClr val="0070C0"/>
                </a:solidFill>
                <a:latin typeface="Lato"/>
              </a:rPr>
              <a:t>Por qué se necesita conocer la eficiencia </a:t>
            </a:r>
            <a:r>
              <a:rPr lang="es-MX" dirty="0" smtClean="0">
                <a:solidFill>
                  <a:srgbClr val="0070C0"/>
                </a:solidFill>
                <a:latin typeface="Lato"/>
              </a:rPr>
              <a:t>del SGC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s-MX" dirty="0" smtClean="0">
                <a:solidFill>
                  <a:srgbClr val="0070C0"/>
                </a:solidFill>
                <a:latin typeface="Lato"/>
              </a:rPr>
              <a:t>Por </a:t>
            </a:r>
            <a:r>
              <a:rPr lang="es-MX" dirty="0">
                <a:solidFill>
                  <a:srgbClr val="0070C0"/>
                </a:solidFill>
                <a:latin typeface="Lato"/>
              </a:rPr>
              <a:t>qué se requiere saber si se está en el camino correcto </a:t>
            </a:r>
            <a:r>
              <a:rPr lang="es-MX" dirty="0" smtClean="0">
                <a:solidFill>
                  <a:srgbClr val="0070C0"/>
                </a:solidFill>
                <a:latin typeface="Lato"/>
              </a:rPr>
              <a:t>de cumplir con los objetivos.</a:t>
            </a:r>
            <a:endParaRPr lang="es-MX" dirty="0">
              <a:solidFill>
                <a:srgbClr val="0070C0"/>
              </a:solidFill>
              <a:latin typeface="Lato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s-MX" dirty="0">
                <a:solidFill>
                  <a:srgbClr val="0070C0"/>
                </a:solidFill>
                <a:latin typeface="Lato"/>
              </a:rPr>
              <a:t>Por qué se necesita mejorar </a:t>
            </a:r>
            <a:endParaRPr lang="es-MX" dirty="0" smtClean="0">
              <a:solidFill>
                <a:srgbClr val="0070C0"/>
              </a:solidFill>
              <a:latin typeface="Lato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3674721" y="3839925"/>
            <a:ext cx="9817769" cy="2585323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b="1" dirty="0">
                <a:solidFill>
                  <a:srgbClr val="00B050"/>
                </a:solidFill>
                <a:latin typeface="Lato"/>
              </a:rPr>
              <a:t>¿Para qué medir?</a:t>
            </a:r>
            <a:endParaRPr lang="es-MX" dirty="0">
              <a:solidFill>
                <a:srgbClr val="00B050"/>
              </a:solidFill>
              <a:latin typeface="Lato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s-MX" dirty="0">
                <a:solidFill>
                  <a:srgbClr val="00B050"/>
                </a:solidFill>
                <a:latin typeface="Lato"/>
              </a:rPr>
              <a:t>Para poder interpretar lo que esta ocurriendo.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s-MX" dirty="0">
                <a:solidFill>
                  <a:srgbClr val="00B050"/>
                </a:solidFill>
                <a:latin typeface="Lato"/>
              </a:rPr>
              <a:t>Para tomar medidas cuando las variables se salen de los limites establecidos.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s-MX" dirty="0">
                <a:solidFill>
                  <a:srgbClr val="00B050"/>
                </a:solidFill>
                <a:latin typeface="Lato"/>
              </a:rPr>
              <a:t>Para definir la necesidad de introducir cambios y/o mejoras y poder evaluar sus consecuencias en el menor tiempo posible.</a:t>
            </a:r>
          </a:p>
          <a:p>
            <a:pPr>
              <a:lnSpc>
                <a:spcPct val="150000"/>
              </a:lnSpc>
            </a:pPr>
            <a:endParaRPr lang="es-MX" dirty="0">
              <a:solidFill>
                <a:srgbClr val="00B050"/>
              </a:solidFill>
              <a:latin typeface="Lato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102781" y="731614"/>
            <a:ext cx="12000411" cy="461665"/>
          </a:xfrm>
          <a:prstGeom prst="rect">
            <a:avLst/>
          </a:prstGeom>
          <a:solidFill>
            <a:srgbClr val="F03399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s-MX" sz="2400" dirty="0" smtClean="0">
                <a:solidFill>
                  <a:schemeClr val="bg1"/>
                </a:solidFill>
                <a:latin typeface="Lato"/>
              </a:rPr>
              <a:t>Indicadores de Desempeño</a:t>
            </a:r>
            <a:endParaRPr lang="es-MX" sz="24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815812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0997"/>
            <a:ext cx="12191999" cy="561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507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49" y="752029"/>
            <a:ext cx="11955063" cy="545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722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3906"/>
            <a:ext cx="12192000" cy="563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201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CuadroTexto"/>
          <p:cNvSpPr txBox="1"/>
          <p:nvPr/>
        </p:nvSpPr>
        <p:spPr>
          <a:xfrm>
            <a:off x="4233094" y="1571848"/>
            <a:ext cx="57957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000" b="1" dirty="0">
                <a:solidFill>
                  <a:schemeClr val="accent1">
                    <a:lumMod val="50000"/>
                  </a:schemeClr>
                </a:solidFill>
                <a:latin typeface="Footlight MT Light" panose="0204060206030A020304" pitchFamily="18" charset="0"/>
              </a:rPr>
              <a:t>       Dudas, comentarios?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562" y="1117145"/>
            <a:ext cx="2300687" cy="2491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0882" y="4062873"/>
            <a:ext cx="3586785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1726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nda 2"/>
          <p:cNvSpPr/>
          <p:nvPr/>
        </p:nvSpPr>
        <p:spPr>
          <a:xfrm>
            <a:off x="886633" y="938463"/>
            <a:ext cx="11038864" cy="5249200"/>
          </a:xfrm>
          <a:prstGeom prst="wave">
            <a:avLst/>
          </a:prstGeom>
          <a:solidFill>
            <a:srgbClr val="F03399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1563050" y="2288401"/>
            <a:ext cx="9975235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Contacto Coordinación Equipo implementador SGC JLE Puebla</a:t>
            </a:r>
          </a:p>
          <a:p>
            <a:endParaRPr lang="es-MX" dirty="0">
              <a:solidFill>
                <a:schemeClr val="bg1"/>
              </a:solidFill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Ricardo Sánchez Sánchez   	</a:t>
            </a:r>
            <a:r>
              <a:rPr lang="es-MX" dirty="0" smtClean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ricardo.sanchezs@ine.mx</a:t>
            </a:r>
          </a:p>
          <a:p>
            <a:pPr lvl="7">
              <a:buClr>
                <a:schemeClr val="bg1"/>
              </a:buClr>
            </a:pPr>
            <a:r>
              <a:rPr lang="es-MX" dirty="0" smtClean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	55 27 73 30 74 </a:t>
            </a:r>
            <a:endParaRPr lang="es-MX" dirty="0">
              <a:solidFill>
                <a:schemeClr val="bg1"/>
              </a:solidFill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lvl="7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s-MX" dirty="0">
              <a:solidFill>
                <a:schemeClr val="bg1"/>
              </a:solidFill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Daniel </a:t>
            </a:r>
            <a:r>
              <a:rPr lang="es-MX" dirty="0" smtClean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Palacios Martínez</a:t>
            </a:r>
            <a:r>
              <a:rPr lang="es-MX" dirty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</a:t>
            </a:r>
            <a:r>
              <a:rPr lang="es-MX" dirty="0" smtClean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daniel.palacios@ine.mx</a:t>
            </a:r>
            <a:endParaRPr lang="es-MX" dirty="0">
              <a:solidFill>
                <a:schemeClr val="bg1"/>
              </a:solidFill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7"/>
            <a:r>
              <a:rPr lang="es-MX" dirty="0" smtClean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	55 53 32 37 95</a:t>
            </a:r>
            <a:endParaRPr lang="es-MX" dirty="0">
              <a:solidFill>
                <a:schemeClr val="bg1"/>
              </a:solidFill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6"/>
            <a:endParaRPr lang="es-MX" b="1" dirty="0" smtClean="0">
              <a:solidFill>
                <a:schemeClr val="bg1"/>
              </a:solidFill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6"/>
            <a:r>
              <a:rPr lang="es-MX" sz="2400" b="1" dirty="0" smtClean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IP </a:t>
            </a:r>
            <a:r>
              <a:rPr lang="es-MX" sz="2400" b="1" dirty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350497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solidFill>
                <a:schemeClr val="bg1"/>
              </a:solidFill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solidFill>
                <a:schemeClr val="bg1"/>
              </a:solidFill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endParaRPr lang="es-MX" dirty="0" smtClean="0">
              <a:solidFill>
                <a:schemeClr val="bg1"/>
              </a:solidFill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solidFill>
                <a:schemeClr val="bg1"/>
              </a:solidFill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solidFill>
                <a:schemeClr val="bg1"/>
              </a:solidFill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solidFill>
                <a:schemeClr val="bg1"/>
              </a:solidFill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48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871</TotalTime>
  <Words>186</Words>
  <Application>Microsoft Office PowerPoint</Application>
  <PresentationFormat>Panorámica</PresentationFormat>
  <Paragraphs>78</Paragraphs>
  <Slides>11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11</vt:i4>
      </vt:variant>
    </vt:vector>
  </HeadingPairs>
  <TitlesOfParts>
    <vt:vector size="22" baseType="lpstr">
      <vt:lpstr>Arial</vt:lpstr>
      <vt:lpstr>Arial Narrow</vt:lpstr>
      <vt:lpstr>Calibri</vt:lpstr>
      <vt:lpstr>Calibri Light</vt:lpstr>
      <vt:lpstr>Century Gothic</vt:lpstr>
      <vt:lpstr>Footlight MT Light</vt:lpstr>
      <vt:lpstr>Lato</vt:lpstr>
      <vt:lpstr>Verdana</vt:lpstr>
      <vt:lpstr>Wingdings</vt:lpstr>
      <vt:lpstr>Tema de Office</vt:lpstr>
      <vt:lpstr>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GUÍA DE TABLEROS DE CONTROL</dc:title>
  <dc:creator>SANCHEZ SANCHEZ RICARDO</dc:creator>
  <cp:lastModifiedBy>SANCHEZ SANCHEZ RICARDO</cp:lastModifiedBy>
  <cp:revision>83</cp:revision>
  <dcterms:created xsi:type="dcterms:W3CDTF">2019-02-27T17:42:32Z</dcterms:created>
  <dcterms:modified xsi:type="dcterms:W3CDTF">2020-02-24T17:40:22Z</dcterms:modified>
</cp:coreProperties>
</file>