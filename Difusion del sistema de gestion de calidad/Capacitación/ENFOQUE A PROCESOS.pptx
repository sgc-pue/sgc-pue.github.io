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009" r:id="rId1"/>
  </p:sldMasterIdLst>
  <p:notesMasterIdLst>
    <p:notesMasterId r:id="rId22"/>
  </p:notesMasterIdLst>
  <p:handoutMasterIdLst>
    <p:handoutMasterId r:id="rId23"/>
  </p:handoutMasterIdLst>
  <p:sldIdLst>
    <p:sldId id="261" r:id="rId2"/>
    <p:sldId id="293" r:id="rId3"/>
    <p:sldId id="325" r:id="rId4"/>
    <p:sldId id="305" r:id="rId5"/>
    <p:sldId id="320" r:id="rId6"/>
    <p:sldId id="292" r:id="rId7"/>
    <p:sldId id="295" r:id="rId8"/>
    <p:sldId id="310" r:id="rId9"/>
    <p:sldId id="272" r:id="rId10"/>
    <p:sldId id="317" r:id="rId11"/>
    <p:sldId id="319" r:id="rId12"/>
    <p:sldId id="321" r:id="rId13"/>
    <p:sldId id="322" r:id="rId14"/>
    <p:sldId id="326" r:id="rId15"/>
    <p:sldId id="328" r:id="rId16"/>
    <p:sldId id="327" r:id="rId17"/>
    <p:sldId id="329" r:id="rId18"/>
    <p:sldId id="330" r:id="rId19"/>
    <p:sldId id="313" r:id="rId20"/>
    <p:sldId id="314" r:id="rId21"/>
  </p:sldIdLst>
  <p:sldSz cx="12192000" cy="6858000"/>
  <p:notesSz cx="9296400" cy="701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guide id="3" orient="horz" pos="2208">
          <p15:clr>
            <a:srgbClr val="A4A3A4"/>
          </p15:clr>
        </p15:guide>
        <p15:guide id="4" pos="292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D60093"/>
    <a:srgbClr val="FFCC66"/>
    <a:srgbClr val="009999"/>
    <a:srgbClr val="FF0066"/>
    <a:srgbClr val="FFFF66"/>
    <a:srgbClr val="FF66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82" autoAdjust="0"/>
    <p:restoredTop sz="94629" autoAdjust="0"/>
  </p:normalViewPr>
  <p:slideViewPr>
    <p:cSldViewPr snapToGrid="0">
      <p:cViewPr varScale="1">
        <p:scale>
          <a:sx n="38" d="100"/>
          <a:sy n="38" d="100"/>
        </p:scale>
        <p:origin x="738" y="36"/>
      </p:cViewPr>
      <p:guideLst>
        <p:guide orient="horz" pos="2160"/>
        <p:guide pos="3840"/>
      </p:guideLst>
    </p:cSldViewPr>
  </p:slideViewPr>
  <p:outlineViewPr>
    <p:cViewPr>
      <p:scale>
        <a:sx n="33" d="100"/>
        <a:sy n="33" d="100"/>
      </p:scale>
      <p:origin x="0" y="199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5" d="100"/>
          <a:sy n="115" d="100"/>
        </p:scale>
        <p:origin x="-2406" y="-114"/>
      </p:cViewPr>
      <p:guideLst>
        <p:guide orient="horz" pos="2928"/>
        <p:guide pos="2208"/>
        <p:guide orient="horz" pos="2208"/>
        <p:guide pos="292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4028440" cy="351737"/>
          </a:xfrm>
          <a:prstGeom prst="rect">
            <a:avLst/>
          </a:prstGeom>
        </p:spPr>
        <p:txBody>
          <a:bodyPr vert="horz" lIns="92629" tIns="46314" rIns="92629" bIns="46314" rtlCol="0"/>
          <a:lstStyle>
            <a:lvl1pPr algn="l">
              <a:defRPr sz="1200"/>
            </a:lvl1pPr>
          </a:lstStyle>
          <a:p>
            <a:endParaRPr lang="es-MX" dirty="0"/>
          </a:p>
        </p:txBody>
      </p:sp>
      <p:sp>
        <p:nvSpPr>
          <p:cNvPr id="3" name="Marcador de fecha 2"/>
          <p:cNvSpPr>
            <a:spLocks noGrp="1"/>
          </p:cNvSpPr>
          <p:nvPr>
            <p:ph type="dt" sz="quarter" idx="1"/>
          </p:nvPr>
        </p:nvSpPr>
        <p:spPr>
          <a:xfrm>
            <a:off x="5265809" y="1"/>
            <a:ext cx="4028440" cy="351737"/>
          </a:xfrm>
          <a:prstGeom prst="rect">
            <a:avLst/>
          </a:prstGeom>
        </p:spPr>
        <p:txBody>
          <a:bodyPr vert="horz" lIns="92629" tIns="46314" rIns="92629" bIns="46314" rtlCol="0"/>
          <a:lstStyle>
            <a:lvl1pPr algn="r">
              <a:defRPr sz="1200"/>
            </a:lvl1pPr>
          </a:lstStyle>
          <a:p>
            <a:endParaRPr lang="es-MX" dirty="0"/>
          </a:p>
        </p:txBody>
      </p:sp>
      <p:sp>
        <p:nvSpPr>
          <p:cNvPr id="4" name="Marcador de pie de página 3"/>
          <p:cNvSpPr>
            <a:spLocks noGrp="1"/>
          </p:cNvSpPr>
          <p:nvPr>
            <p:ph type="ftr" sz="quarter" idx="2"/>
          </p:nvPr>
        </p:nvSpPr>
        <p:spPr>
          <a:xfrm>
            <a:off x="0" y="6658664"/>
            <a:ext cx="4028440" cy="351736"/>
          </a:xfrm>
          <a:prstGeom prst="rect">
            <a:avLst/>
          </a:prstGeom>
        </p:spPr>
        <p:txBody>
          <a:bodyPr vert="horz" lIns="92629" tIns="46314" rIns="92629" bIns="46314" rtlCol="0" anchor="b"/>
          <a:lstStyle>
            <a:lvl1pPr algn="l">
              <a:defRPr sz="1200"/>
            </a:lvl1pPr>
          </a:lstStyle>
          <a:p>
            <a:endParaRPr lang="es-MX" dirty="0"/>
          </a:p>
        </p:txBody>
      </p:sp>
      <p:sp>
        <p:nvSpPr>
          <p:cNvPr id="5" name="Marcador de número de diapositiva 4"/>
          <p:cNvSpPr>
            <a:spLocks noGrp="1"/>
          </p:cNvSpPr>
          <p:nvPr>
            <p:ph type="sldNum" sz="quarter" idx="3"/>
          </p:nvPr>
        </p:nvSpPr>
        <p:spPr>
          <a:xfrm>
            <a:off x="5265809" y="6658664"/>
            <a:ext cx="4028440" cy="351736"/>
          </a:xfrm>
          <a:prstGeom prst="rect">
            <a:avLst/>
          </a:prstGeom>
        </p:spPr>
        <p:txBody>
          <a:bodyPr vert="horz" lIns="92629" tIns="46314" rIns="92629" bIns="46314" rtlCol="0" anchor="b"/>
          <a:lstStyle>
            <a:lvl1pPr algn="r">
              <a:defRPr sz="1200"/>
            </a:lvl1pPr>
          </a:lstStyle>
          <a:p>
            <a:fld id="{D7CB5ECC-A6C3-434E-AD5B-03A191D8F341}" type="slidenum">
              <a:rPr lang="es-MX" smtClean="0"/>
              <a:t>‹Nº›</a:t>
            </a:fld>
            <a:endParaRPr lang="es-MX"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6679" y="0"/>
            <a:ext cx="1817197" cy="521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130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4028440" cy="351737"/>
          </a:xfrm>
          <a:prstGeom prst="rect">
            <a:avLst/>
          </a:prstGeom>
        </p:spPr>
        <p:txBody>
          <a:bodyPr vert="horz" lIns="92629" tIns="46314" rIns="92629" bIns="46314" rtlCol="0"/>
          <a:lstStyle>
            <a:lvl1pPr algn="l">
              <a:defRPr sz="1200"/>
            </a:lvl1pPr>
          </a:lstStyle>
          <a:p>
            <a:endParaRPr lang="es-MX" dirty="0"/>
          </a:p>
        </p:txBody>
      </p:sp>
      <p:sp>
        <p:nvSpPr>
          <p:cNvPr id="3" name="Marcador de fecha 2"/>
          <p:cNvSpPr>
            <a:spLocks noGrp="1"/>
          </p:cNvSpPr>
          <p:nvPr>
            <p:ph type="dt" idx="1"/>
          </p:nvPr>
        </p:nvSpPr>
        <p:spPr>
          <a:xfrm>
            <a:off x="5265809" y="1"/>
            <a:ext cx="4028440" cy="351737"/>
          </a:xfrm>
          <a:prstGeom prst="rect">
            <a:avLst/>
          </a:prstGeom>
        </p:spPr>
        <p:txBody>
          <a:bodyPr vert="horz" lIns="92629" tIns="46314" rIns="92629" bIns="46314" rtlCol="0"/>
          <a:lstStyle>
            <a:lvl1pPr algn="r">
              <a:defRPr sz="1200"/>
            </a:lvl1pPr>
          </a:lstStyle>
          <a:p>
            <a:fld id="{AF117F0A-4A5D-482F-9360-A2858A2533E4}" type="datetimeFigureOut">
              <a:rPr lang="es-MX" smtClean="0"/>
              <a:t>09/03/2020</a:t>
            </a:fld>
            <a:endParaRPr lang="es-MX" dirty="0"/>
          </a:p>
        </p:txBody>
      </p:sp>
      <p:sp>
        <p:nvSpPr>
          <p:cNvPr id="4" name="Marcador de imagen de diapositiva 3"/>
          <p:cNvSpPr>
            <a:spLocks noGrp="1" noRot="1" noChangeAspect="1"/>
          </p:cNvSpPr>
          <p:nvPr>
            <p:ph type="sldImg" idx="2"/>
          </p:nvPr>
        </p:nvSpPr>
        <p:spPr>
          <a:xfrm>
            <a:off x="2543175" y="874713"/>
            <a:ext cx="4210050" cy="2368550"/>
          </a:xfrm>
          <a:prstGeom prst="rect">
            <a:avLst/>
          </a:prstGeom>
          <a:noFill/>
          <a:ln w="12700">
            <a:solidFill>
              <a:prstClr val="black"/>
            </a:solidFill>
          </a:ln>
        </p:spPr>
        <p:txBody>
          <a:bodyPr vert="horz" lIns="92629" tIns="46314" rIns="92629" bIns="46314" rtlCol="0" anchor="ctr"/>
          <a:lstStyle/>
          <a:p>
            <a:endParaRPr lang="es-MX" dirty="0"/>
          </a:p>
        </p:txBody>
      </p:sp>
      <p:sp>
        <p:nvSpPr>
          <p:cNvPr id="5" name="Marcador de notas 4"/>
          <p:cNvSpPr>
            <a:spLocks noGrp="1"/>
          </p:cNvSpPr>
          <p:nvPr>
            <p:ph type="body" sz="quarter" idx="3"/>
          </p:nvPr>
        </p:nvSpPr>
        <p:spPr>
          <a:xfrm>
            <a:off x="929640" y="3373756"/>
            <a:ext cx="7437120" cy="2760345"/>
          </a:xfrm>
          <a:prstGeom prst="rect">
            <a:avLst/>
          </a:prstGeom>
        </p:spPr>
        <p:txBody>
          <a:bodyPr vert="horz" lIns="92629" tIns="46314" rIns="92629" bIns="46314"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6658664"/>
            <a:ext cx="4028440" cy="351736"/>
          </a:xfrm>
          <a:prstGeom prst="rect">
            <a:avLst/>
          </a:prstGeom>
        </p:spPr>
        <p:txBody>
          <a:bodyPr vert="horz" lIns="92629" tIns="46314" rIns="92629" bIns="46314" rtlCol="0" anchor="b"/>
          <a:lstStyle>
            <a:lvl1pPr algn="l">
              <a:defRPr sz="1200"/>
            </a:lvl1pPr>
          </a:lstStyle>
          <a:p>
            <a:endParaRPr lang="es-MX" dirty="0"/>
          </a:p>
        </p:txBody>
      </p:sp>
      <p:sp>
        <p:nvSpPr>
          <p:cNvPr id="7" name="Marcador de número de diapositiva 6"/>
          <p:cNvSpPr>
            <a:spLocks noGrp="1"/>
          </p:cNvSpPr>
          <p:nvPr>
            <p:ph type="sldNum" sz="quarter" idx="5"/>
          </p:nvPr>
        </p:nvSpPr>
        <p:spPr>
          <a:xfrm>
            <a:off x="5265809" y="6658664"/>
            <a:ext cx="4028440" cy="351736"/>
          </a:xfrm>
          <a:prstGeom prst="rect">
            <a:avLst/>
          </a:prstGeom>
        </p:spPr>
        <p:txBody>
          <a:bodyPr vert="horz" lIns="92629" tIns="46314" rIns="92629" bIns="46314" rtlCol="0" anchor="b"/>
          <a:lstStyle>
            <a:lvl1pPr algn="r">
              <a:defRPr sz="1200"/>
            </a:lvl1pPr>
          </a:lstStyle>
          <a:p>
            <a:fld id="{FDEF80D6-6CE3-4325-8C8B-54AAE71670A6}" type="slidenum">
              <a:rPr lang="es-MX" smtClean="0"/>
              <a:t>‹Nº›</a:t>
            </a:fld>
            <a:endParaRPr lang="es-MX" dirty="0"/>
          </a:p>
        </p:txBody>
      </p:sp>
    </p:spTree>
    <p:extLst>
      <p:ext uri="{BB962C8B-B14F-4D97-AF65-F5344CB8AC3E}">
        <p14:creationId xmlns:p14="http://schemas.microsoft.com/office/powerpoint/2010/main" val="2648115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es.wikipedia.org/wiki/Project_Management_Institute" TargetMode="External"/><Relationship Id="rId3" Type="http://schemas.openxmlformats.org/officeDocument/2006/relationships/hyperlink" Target="https://es.wikipedia.org/wiki/SIPOC#cite_note-3" TargetMode="External"/><Relationship Id="rId7" Type="http://schemas.openxmlformats.org/officeDocument/2006/relationships/hyperlink" Target="https://es.wikipedia.org/wiki/Gesti%C3%B3n_de_proyectos" TargetMode="External"/><Relationship Id="rId12" Type="http://schemas.openxmlformats.org/officeDocument/2006/relationships/hyperlink" Target="https://es.wikipedia.org/wiki/SIPOC#cite_note-5"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es.wikipedia.org/wiki/Gesti%C3%B3n_de_Procesos_de_Negocio" TargetMode="External"/><Relationship Id="rId11" Type="http://schemas.openxmlformats.org/officeDocument/2006/relationships/hyperlink" Target="https://es.wikipedia.org/wiki/DMAIC" TargetMode="External"/><Relationship Id="rId5" Type="http://schemas.openxmlformats.org/officeDocument/2006/relationships/hyperlink" Target="https://es.wikipedia.org/wiki/Lean_manufacturing" TargetMode="External"/><Relationship Id="rId10" Type="http://schemas.openxmlformats.org/officeDocument/2006/relationships/hyperlink" Target="https://es.wikipedia.org/wiki/Kaizen" TargetMode="External"/><Relationship Id="rId4" Type="http://schemas.openxmlformats.org/officeDocument/2006/relationships/hyperlink" Target="https://es.wikipedia.org/wiki/Six_Sigma" TargetMode="External"/><Relationship Id="rId9" Type="http://schemas.openxmlformats.org/officeDocument/2006/relationships/hyperlink" Target="https://es.wikipedia.org/wiki/SIPOC#cite_note-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Una </a:t>
            </a:r>
            <a:r>
              <a:rPr lang="es-MX" b="1" dirty="0"/>
              <a:t>de</a:t>
            </a:r>
            <a:r>
              <a:rPr lang="es-MX" dirty="0"/>
              <a:t> estas herramientas </a:t>
            </a:r>
            <a:r>
              <a:rPr lang="es-MX" b="1" dirty="0"/>
              <a:t>de</a:t>
            </a:r>
            <a:r>
              <a:rPr lang="es-MX" dirty="0"/>
              <a:t> Seis Sigma es </a:t>
            </a:r>
            <a:r>
              <a:rPr lang="es-MX" b="1" dirty="0"/>
              <a:t>SIPOC</a:t>
            </a:r>
            <a:r>
              <a:rPr lang="es-MX" dirty="0"/>
              <a:t> es un acrónimo </a:t>
            </a:r>
            <a:r>
              <a:rPr lang="es-MX" b="1" dirty="0"/>
              <a:t>de</a:t>
            </a:r>
            <a:r>
              <a:rPr lang="es-MX" dirty="0"/>
              <a:t> las palabras en inglés </a:t>
            </a:r>
            <a:r>
              <a:rPr lang="es-MX" b="1" dirty="0"/>
              <a:t>de</a:t>
            </a:r>
            <a:r>
              <a:rPr lang="es-MX" dirty="0"/>
              <a:t> “Supplier, Input, Process, Output, Customer” como en la siguiente figura: El </a:t>
            </a:r>
            <a:r>
              <a:rPr lang="es-MX" b="1" dirty="0"/>
              <a:t>SIPOC</a:t>
            </a:r>
            <a:r>
              <a:rPr lang="es-MX" dirty="0"/>
              <a:t> nos </a:t>
            </a:r>
            <a:r>
              <a:rPr lang="es-MX" b="1" dirty="0"/>
              <a:t>sirve para</a:t>
            </a:r>
            <a:r>
              <a:rPr lang="es-MX" dirty="0"/>
              <a:t>dos cosas: Nos provee </a:t>
            </a:r>
            <a:r>
              <a:rPr lang="es-MX" b="1" dirty="0"/>
              <a:t>de</a:t>
            </a:r>
            <a:r>
              <a:rPr lang="es-MX" dirty="0"/>
              <a:t> una vista macro del flujo del proceso o producto y sus interrelaciones dentro del negocio. SIPOC se utiliza desde los años 80 del siglo pasado en el marco de trabajo de la Gestión de la Calidad Total .</a:t>
            </a:r>
            <a:r>
              <a:rPr lang="es-MX" baseline="30000" dirty="0">
                <a:hlinkClick r:id="rId3"/>
              </a:rPr>
              <a:t>3</a:t>
            </a:r>
            <a:r>
              <a:rPr lang="es-MX" dirty="0"/>
              <a:t>​ Para el año 2017 su uso es recomendado dentro de </a:t>
            </a:r>
            <a:r>
              <a:rPr lang="es-MX" dirty="0">
                <a:hlinkClick r:id="rId4" tooltip="Six Sigma"/>
              </a:rPr>
              <a:t>Six Sigma</a:t>
            </a:r>
            <a:r>
              <a:rPr lang="es-MX" dirty="0"/>
              <a:t>, </a:t>
            </a:r>
            <a:r>
              <a:rPr lang="es-MX" dirty="0">
                <a:hlinkClick r:id="rId5" tooltip="Lean manufacturing"/>
              </a:rPr>
              <a:t>lean manufacturing</a:t>
            </a:r>
            <a:r>
              <a:rPr lang="es-MX" dirty="0"/>
              <a:t>, </a:t>
            </a:r>
            <a:r>
              <a:rPr lang="es-MX" dirty="0">
                <a:hlinkClick r:id="rId6" tooltip="Gestión de Procesos de Negocio"/>
              </a:rPr>
              <a:t>Gestión de Procesos de Negocio</a:t>
            </a:r>
            <a:r>
              <a:rPr lang="es-MX" dirty="0"/>
              <a:t> y </a:t>
            </a:r>
            <a:r>
              <a:rPr lang="es-MX" dirty="0">
                <a:hlinkClick r:id="rId7" tooltip="Gestión de proyectos"/>
              </a:rPr>
              <a:t>Gestión de Proyectos</a:t>
            </a:r>
            <a:r>
              <a:rPr lang="es-MX" dirty="0"/>
              <a:t> </a:t>
            </a:r>
            <a:r>
              <a:rPr lang="es-MX" dirty="0">
                <a:hlinkClick r:id="rId8" tooltip="Project Management Institute"/>
              </a:rPr>
              <a:t>PMI</a:t>
            </a:r>
            <a:r>
              <a:rPr lang="es-MX" dirty="0"/>
              <a:t>.</a:t>
            </a:r>
            <a:r>
              <a:rPr lang="es-MX" baseline="30000" dirty="0">
                <a:hlinkClick r:id="rId9"/>
              </a:rPr>
              <a:t>4</a:t>
            </a:r>
            <a:r>
              <a:rPr lang="es-MX" dirty="0"/>
              <a:t>​</a:t>
            </a:r>
          </a:p>
          <a:p>
            <a:r>
              <a:rPr lang="es-MX" dirty="0"/>
              <a:t>La herramienta también se conoce como COPIS para hacer énfasis en el enfoque centrado en el cliente. En este caso la información del proceso se define empezando desde el cliente, trabajando ascendentemente hasta llegar a los proveedores.</a:t>
            </a:r>
          </a:p>
          <a:p>
            <a:r>
              <a:rPr lang="es-MX" dirty="0"/>
              <a:t>La caracterización SIPOC se presenta como entrada en los proyectos de mejora tales como los eventos </a:t>
            </a:r>
            <a:r>
              <a:rPr lang="es-MX" dirty="0">
                <a:hlinkClick r:id="rId10" tooltip="Kaizen"/>
              </a:rPr>
              <a:t>Kaizen</a:t>
            </a:r>
            <a:r>
              <a:rPr lang="es-MX" dirty="0"/>
              <a:t>, durante el proceso de gestión de calidad en gestión de proyectos o durante la fase de definición del proceso </a:t>
            </a:r>
            <a:r>
              <a:rPr lang="es-MX" dirty="0">
                <a:hlinkClick r:id="rId11" tooltip="DMAIC"/>
              </a:rPr>
              <a:t>DMAIC</a:t>
            </a:r>
            <a:r>
              <a:rPr lang="es-MX" dirty="0"/>
              <a:t>.</a:t>
            </a:r>
            <a:r>
              <a:rPr lang="es-MX" baseline="30000" dirty="0">
                <a:hlinkClick r:id="rId12"/>
              </a:rPr>
              <a:t>5</a:t>
            </a:r>
            <a:endParaRPr lang="es-MX" dirty="0"/>
          </a:p>
          <a:p>
            <a:endParaRPr lang="es-MX" dirty="0"/>
          </a:p>
        </p:txBody>
      </p:sp>
      <p:sp>
        <p:nvSpPr>
          <p:cNvPr id="4" name="Marcador de número de diapositiva 3"/>
          <p:cNvSpPr>
            <a:spLocks noGrp="1"/>
          </p:cNvSpPr>
          <p:nvPr>
            <p:ph type="sldNum" sz="quarter" idx="10"/>
          </p:nvPr>
        </p:nvSpPr>
        <p:spPr/>
        <p:txBody>
          <a:bodyPr/>
          <a:lstStyle/>
          <a:p>
            <a:fld id="{FDEF80D6-6CE3-4325-8C8B-54AAE71670A6}" type="slidenum">
              <a:rPr lang="es-MX" smtClean="0"/>
              <a:t>4</a:t>
            </a:fld>
            <a:endParaRPr lang="es-MX" dirty="0"/>
          </a:p>
        </p:txBody>
      </p:sp>
    </p:spTree>
    <p:extLst>
      <p:ext uri="{BB962C8B-B14F-4D97-AF65-F5344CB8AC3E}">
        <p14:creationId xmlns:p14="http://schemas.microsoft.com/office/powerpoint/2010/main" val="2873777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FDEF80D6-6CE3-4325-8C8B-54AAE71670A6}" type="slidenum">
              <a:rPr lang="es-MX" smtClean="0"/>
              <a:t>5</a:t>
            </a:fld>
            <a:endParaRPr lang="es-MX" dirty="0"/>
          </a:p>
        </p:txBody>
      </p:sp>
    </p:spTree>
    <p:extLst>
      <p:ext uri="{BB962C8B-B14F-4D97-AF65-F5344CB8AC3E}">
        <p14:creationId xmlns:p14="http://schemas.microsoft.com/office/powerpoint/2010/main" val="3193324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FDEF80D6-6CE3-4325-8C8B-54AAE71670A6}" type="slidenum">
              <a:rPr lang="es-MX" smtClean="0"/>
              <a:t>9</a:t>
            </a:fld>
            <a:endParaRPr lang="es-MX" dirty="0"/>
          </a:p>
        </p:txBody>
      </p:sp>
    </p:spTree>
    <p:extLst>
      <p:ext uri="{BB962C8B-B14F-4D97-AF65-F5344CB8AC3E}">
        <p14:creationId xmlns:p14="http://schemas.microsoft.com/office/powerpoint/2010/main" val="766569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heme" Target="../theme/them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11 Forma libre"/>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13 Triángulo rectángulo"/>
          <p:cNvSpPr>
            <a:spLocks/>
          </p:cNvSpPr>
          <p:nvPr/>
        </p:nvSpPr>
        <p:spPr bwMode="auto">
          <a:xfrm>
            <a:off x="-8056" y="5791253"/>
            <a:ext cx="4536419" cy="1080868"/>
          </a:xfrm>
          <a:prstGeom prst="rtTriangle">
            <a:avLst/>
          </a:prstGeom>
          <a:blipFill>
            <a:blip r:embed="rId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14 Conector recto"/>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pic>
        <p:nvPicPr>
          <p:cNvPr id="19"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5775" y="86302"/>
            <a:ext cx="2171700" cy="96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775" y="4576007"/>
            <a:ext cx="12176225" cy="2277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9856773" y="47479"/>
            <a:ext cx="2335227" cy="6702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22 Rectángulo"/>
          <p:cNvSpPr/>
          <p:nvPr userDrawn="1"/>
        </p:nvSpPr>
        <p:spPr>
          <a:xfrm>
            <a:off x="2187475" y="232200"/>
            <a:ext cx="6272614" cy="461665"/>
          </a:xfrm>
          <a:prstGeom prst="rect">
            <a:avLst/>
          </a:prstGeom>
        </p:spPr>
        <p:txBody>
          <a:bodyPr wrap="square">
            <a:spAutoFit/>
          </a:bodyPr>
          <a:lstStyle/>
          <a:p>
            <a:pPr defTabSz="914400">
              <a:buClr>
                <a:srgbClr val="000000"/>
              </a:buClr>
              <a:buSzPts val="1200"/>
            </a:pPr>
            <a:r>
              <a:rPr lang="es-MX" sz="1200" b="1" dirty="0">
                <a:solidFill>
                  <a:schemeClr val="bg2">
                    <a:lumMod val="10000"/>
                  </a:schemeClr>
                </a:solidFill>
                <a:latin typeface="Lato"/>
                <a:ea typeface="Lato"/>
                <a:cs typeface="Lato"/>
              </a:rPr>
              <a:t>Dirección Ejecutiva del Registro Federal de Electores</a:t>
            </a:r>
          </a:p>
          <a:p>
            <a:pPr defTabSz="914400">
              <a:buClr>
                <a:srgbClr val="000000"/>
              </a:buClr>
              <a:buSzPts val="1200"/>
            </a:pPr>
            <a:r>
              <a:rPr lang="es-MX" sz="1200" b="1" dirty="0">
                <a:solidFill>
                  <a:schemeClr val="bg2">
                    <a:lumMod val="10000"/>
                  </a:schemeClr>
                </a:solidFill>
                <a:latin typeface="Lato"/>
                <a:ea typeface="Lato"/>
                <a:cs typeface="Lato"/>
              </a:rPr>
              <a:t>Coordinación de Operación en </a:t>
            </a:r>
            <a:r>
              <a:rPr lang="es-MX" sz="1200" b="1" dirty="0" smtClean="0">
                <a:solidFill>
                  <a:schemeClr val="bg2">
                    <a:lumMod val="10000"/>
                  </a:schemeClr>
                </a:solidFill>
                <a:latin typeface="Lato"/>
                <a:ea typeface="Lato"/>
                <a:cs typeface="Lato"/>
              </a:rPr>
              <a:t>Campo</a:t>
            </a:r>
            <a:endParaRPr lang="es-MX" sz="1200" b="1" dirty="0">
              <a:solidFill>
                <a:schemeClr val="bg2">
                  <a:lumMod val="10000"/>
                </a:schemeClr>
              </a:solidFill>
              <a:latin typeface="Lato"/>
              <a:ea typeface="Lato"/>
              <a:cs typeface="Lato"/>
            </a:endParaRPr>
          </a:p>
        </p:txBody>
      </p:sp>
      <p:pic>
        <p:nvPicPr>
          <p:cNvPr id="2" name="Imagen 1"/>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2316" y="-19342"/>
            <a:ext cx="12214405" cy="6872461"/>
          </a:xfrm>
          <a:prstGeom prst="rect">
            <a:avLst/>
          </a:prstGeom>
        </p:spPr>
      </p:pic>
    </p:spTree>
  </p:cSld>
  <p:clrMap bg1="lt1" tx1="dk1" bg2="lt2" tx2="dk2" accent1="accent1" accent2="accent2" accent3="accent3" accent4="accent4" accent5="accent5" accent6="accent6" hlink="hlink" folHlink="folHlink"/>
  <p:sldLayoutIdLst>
    <p:sldLayoutId id="2147484011" r:id="rId1"/>
    <p:sldLayoutId id="2147484016" r:id="rId2"/>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CuadroTexto"/>
          <p:cNvSpPr txBox="1"/>
          <p:nvPr/>
        </p:nvSpPr>
        <p:spPr>
          <a:xfrm>
            <a:off x="-71250" y="6643043"/>
            <a:ext cx="1011815" cy="276999"/>
          </a:xfrm>
          <a:prstGeom prst="rect">
            <a:avLst/>
          </a:prstGeom>
          <a:noFill/>
        </p:spPr>
        <p:txBody>
          <a:bodyPr wrap="none" rtlCol="0">
            <a:spAutoFit/>
          </a:bodyPr>
          <a:lstStyle/>
          <a:p>
            <a:r>
              <a:rPr lang="es-MX" sz="1200" b="1" dirty="0" smtClean="0">
                <a:solidFill>
                  <a:schemeClr val="bg1"/>
                </a:solidFill>
                <a:latin typeface="Lato"/>
              </a:rPr>
              <a:t>Marzo 2020</a:t>
            </a:r>
            <a:endParaRPr lang="es-MX" sz="1200" b="1" dirty="0">
              <a:solidFill>
                <a:schemeClr val="bg1"/>
              </a:solidFill>
              <a:latin typeface="Lato"/>
            </a:endParaRPr>
          </a:p>
        </p:txBody>
      </p:sp>
      <p:sp>
        <p:nvSpPr>
          <p:cNvPr id="11" name="Título 1">
            <a:extLst>
              <a:ext uri="{FF2B5EF4-FFF2-40B4-BE49-F238E27FC236}">
                <a16:creationId xmlns:a16="http://schemas.microsoft.com/office/drawing/2014/main" id="{AECA2CD0-CAA0-4E25-8774-9E89E3446609}"/>
              </a:ext>
            </a:extLst>
          </p:cNvPr>
          <p:cNvSpPr txBox="1">
            <a:spLocks/>
          </p:cNvSpPr>
          <p:nvPr/>
        </p:nvSpPr>
        <p:spPr>
          <a:xfrm>
            <a:off x="0" y="-1"/>
            <a:ext cx="12192000" cy="3253563"/>
          </a:xfrm>
          <a:prstGeom prst="rect">
            <a:avLst/>
          </a:prstGeom>
          <a:solidFill>
            <a:srgbClr val="D60093"/>
          </a:solidFill>
          <a:effectLst>
            <a:outerShdw blurRad="76200" dist="12700" dir="2700000" sy="-23000" kx="-800400" algn="bl" rotWithShape="0">
              <a:prstClr val="black">
                <a:alpha val="20000"/>
              </a:prstClr>
            </a:outerShdw>
          </a:effectLst>
        </p:spPr>
        <p:txBody>
          <a:bodyPr vert="horz" rtlCol="0" anchor="ctr">
            <a:norm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algn="ctr" defTabSz="914400"/>
            <a:r>
              <a:rPr lang="es-MX" sz="3200" dirty="0" smtClean="0">
                <a:solidFill>
                  <a:schemeClr val="bg1"/>
                </a:solidFill>
                <a:latin typeface="Lato"/>
              </a:rPr>
              <a:t>Enfoque a Procesos</a:t>
            </a:r>
            <a:endParaRPr lang="es-MX" sz="3200" dirty="0">
              <a:solidFill>
                <a:schemeClr val="bg1"/>
              </a:solidFill>
              <a:latin typeface="Lato"/>
            </a:endParaRPr>
          </a:p>
        </p:txBody>
      </p:sp>
      <p:sp>
        <p:nvSpPr>
          <p:cNvPr id="7" name="Rectángulo 6"/>
          <p:cNvSpPr/>
          <p:nvPr/>
        </p:nvSpPr>
        <p:spPr>
          <a:xfrm>
            <a:off x="1397977" y="4614733"/>
            <a:ext cx="10619852" cy="806375"/>
          </a:xfrm>
          <a:prstGeom prst="rect">
            <a:avLst/>
          </a:prstGeom>
        </p:spPr>
        <p:txBody>
          <a:bodyPr wrap="square">
            <a:spAutoFit/>
          </a:bodyPr>
          <a:lstStyle/>
          <a:p>
            <a:pPr lvl="0" algn="r">
              <a:lnSpc>
                <a:spcPct val="80000"/>
              </a:lnSpc>
              <a:buClr>
                <a:schemeClr val="dk1"/>
              </a:buClr>
              <a:buSzPts val="2400"/>
            </a:pPr>
            <a:r>
              <a:rPr lang="es-MX" sz="2900" b="1" dirty="0">
                <a:solidFill>
                  <a:schemeClr val="tx1"/>
                </a:solidFill>
                <a:effectLst>
                  <a:outerShdw blurRad="31750" dist="25400" dir="5400000" algn="tl" rotWithShape="0">
                    <a:srgbClr val="000000">
                      <a:alpha val="25000"/>
                    </a:srgbClr>
                  </a:outerShdw>
                </a:effectLst>
                <a:latin typeface="Lato"/>
                <a:sym typeface="Calibri"/>
              </a:rPr>
              <a:t>INE </a:t>
            </a:r>
          </a:p>
          <a:p>
            <a:pPr lvl="0" algn="r">
              <a:lnSpc>
                <a:spcPct val="80000"/>
              </a:lnSpc>
              <a:buClr>
                <a:schemeClr val="dk1"/>
              </a:buClr>
              <a:buSzPts val="2400"/>
            </a:pPr>
            <a:r>
              <a:rPr lang="es-MX" sz="2900" b="1" dirty="0">
                <a:solidFill>
                  <a:schemeClr val="tx1"/>
                </a:solidFill>
                <a:effectLst>
                  <a:outerShdw blurRad="31750" dist="25400" dir="5400000" algn="tl" rotWithShape="0">
                    <a:srgbClr val="000000">
                      <a:alpha val="25000"/>
                    </a:srgbClr>
                  </a:outerShdw>
                </a:effectLst>
                <a:latin typeface="Lato"/>
                <a:sym typeface="Calibri"/>
              </a:rPr>
              <a:t>Junta Local Ejecutiva Puebla</a:t>
            </a:r>
          </a:p>
        </p:txBody>
      </p:sp>
    </p:spTree>
    <p:extLst>
      <p:ext uri="{BB962C8B-B14F-4D97-AF65-F5344CB8AC3E}">
        <p14:creationId xmlns:p14="http://schemas.microsoft.com/office/powerpoint/2010/main" val="38763405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7DEFC13-6A05-4483-8F1F-355374A9237F}"/>
              </a:ext>
            </a:extLst>
          </p:cNvPr>
          <p:cNvSpPr>
            <a:spLocks noGrp="1"/>
          </p:cNvSpPr>
          <p:nvPr>
            <p:ph idx="4294967295"/>
          </p:nvPr>
        </p:nvSpPr>
        <p:spPr>
          <a:xfrm>
            <a:off x="29687" y="753873"/>
            <a:ext cx="12132626" cy="1574658"/>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normAutofit lnSpcReduction="10000"/>
          </a:bodyPr>
          <a:lstStyle/>
          <a:p>
            <a:pPr marL="0" indent="0">
              <a:buNone/>
            </a:pPr>
            <a:endParaRPr lang="es-MX" sz="1800" b="1" dirty="0" smtClean="0">
              <a:solidFill>
                <a:schemeClr val="tx2">
                  <a:lumMod val="50000"/>
                </a:schemeClr>
              </a:solidFill>
              <a:latin typeface="Lato"/>
            </a:endParaRPr>
          </a:p>
          <a:p>
            <a:pPr marL="0" lvl="0" indent="0" algn="just">
              <a:lnSpc>
                <a:spcPct val="100000"/>
              </a:lnSpc>
              <a:spcBef>
                <a:spcPts val="0"/>
              </a:spcBef>
              <a:spcAft>
                <a:spcPts val="0"/>
              </a:spcAft>
              <a:buClr>
                <a:srgbClr val="000000"/>
              </a:buClr>
              <a:buSzPts val="1650"/>
              <a:buNone/>
            </a:pPr>
            <a:r>
              <a:rPr lang="es-MX" sz="1800" b="1" dirty="0" smtClean="0">
                <a:solidFill>
                  <a:srgbClr val="0070C0"/>
                </a:solidFill>
                <a:latin typeface="Lato"/>
                <a:ea typeface="Calibri"/>
                <a:cs typeface="Calibri"/>
                <a:sym typeface="Calibri"/>
              </a:rPr>
              <a:t>Que nos dice la norma ISO 9001:2015 sobre el sistema </a:t>
            </a:r>
            <a:r>
              <a:rPr lang="es-MX" sz="1800" b="1" dirty="0">
                <a:solidFill>
                  <a:srgbClr val="0070C0"/>
                </a:solidFill>
                <a:latin typeface="Lato"/>
                <a:ea typeface="Calibri"/>
                <a:cs typeface="Calibri"/>
                <a:sym typeface="Calibri"/>
              </a:rPr>
              <a:t>de gestión de la calidad y sus </a:t>
            </a:r>
            <a:r>
              <a:rPr lang="es-MX" sz="1800" b="1" dirty="0" smtClean="0">
                <a:solidFill>
                  <a:srgbClr val="0070C0"/>
                </a:solidFill>
                <a:latin typeface="Lato"/>
                <a:ea typeface="Calibri"/>
                <a:cs typeface="Calibri"/>
                <a:sym typeface="Calibri"/>
              </a:rPr>
              <a:t>procesos…..</a:t>
            </a:r>
            <a:endParaRPr lang="es-MX" sz="1800" dirty="0">
              <a:solidFill>
                <a:srgbClr val="0070C0"/>
              </a:solidFill>
              <a:latin typeface="Lato"/>
              <a:ea typeface="Arial"/>
              <a:cs typeface="Arial"/>
              <a:sym typeface="Arial"/>
            </a:endParaRPr>
          </a:p>
          <a:p>
            <a:pPr marL="0" lvl="0" indent="0" algn="just">
              <a:lnSpc>
                <a:spcPct val="100000"/>
              </a:lnSpc>
              <a:spcBef>
                <a:spcPts val="0"/>
              </a:spcBef>
              <a:spcAft>
                <a:spcPts val="0"/>
              </a:spcAft>
              <a:buClr>
                <a:srgbClr val="000000"/>
              </a:buClr>
              <a:buSzPts val="1650"/>
              <a:buNone/>
            </a:pPr>
            <a:endParaRPr lang="es-MX" sz="1800" dirty="0">
              <a:solidFill>
                <a:srgbClr val="000000"/>
              </a:solidFill>
              <a:latin typeface="Lato"/>
              <a:ea typeface="Calibri"/>
              <a:cs typeface="Calibri"/>
              <a:sym typeface="Calibri"/>
            </a:endParaRPr>
          </a:p>
          <a:p>
            <a:pPr marL="0" lvl="0" indent="0" algn="just">
              <a:lnSpc>
                <a:spcPct val="100000"/>
              </a:lnSpc>
              <a:spcBef>
                <a:spcPts val="0"/>
              </a:spcBef>
              <a:spcAft>
                <a:spcPts val="0"/>
              </a:spcAft>
              <a:buClr>
                <a:srgbClr val="000000"/>
              </a:buClr>
              <a:buSzPts val="1650"/>
              <a:buNone/>
            </a:pPr>
            <a:r>
              <a:rPr lang="es-MX" sz="1800" dirty="0">
                <a:solidFill>
                  <a:srgbClr val="000000"/>
                </a:solidFill>
                <a:latin typeface="Lato"/>
                <a:ea typeface="Calibri"/>
                <a:cs typeface="Calibri"/>
                <a:sym typeface="Calibri"/>
              </a:rPr>
              <a:t>4.4.1 La organización debe establecer, implementar, mantener y mejorar continuamente un sistema </a:t>
            </a:r>
            <a:r>
              <a:rPr lang="es-MX" sz="1800" dirty="0" smtClean="0">
                <a:solidFill>
                  <a:srgbClr val="000000"/>
                </a:solidFill>
                <a:latin typeface="Lato"/>
                <a:ea typeface="Calibri"/>
                <a:cs typeface="Calibri"/>
                <a:sym typeface="Calibri"/>
              </a:rPr>
              <a:t>de gestión </a:t>
            </a:r>
            <a:r>
              <a:rPr lang="es-MX" sz="1800" dirty="0">
                <a:solidFill>
                  <a:srgbClr val="000000"/>
                </a:solidFill>
                <a:latin typeface="Lato"/>
                <a:ea typeface="Calibri"/>
                <a:cs typeface="Calibri"/>
                <a:sym typeface="Calibri"/>
              </a:rPr>
              <a:t>de la calidad, incluidos los procesos necesarios y sus interacciones, de acuerdo con los requisitos de esta Norma Internacional</a:t>
            </a:r>
            <a:r>
              <a:rPr lang="es-MX" sz="1800" dirty="0" smtClean="0">
                <a:solidFill>
                  <a:srgbClr val="000000"/>
                </a:solidFill>
                <a:latin typeface="Lato"/>
                <a:ea typeface="Calibri"/>
                <a:cs typeface="Calibri"/>
                <a:sym typeface="Calibri"/>
              </a:rPr>
              <a:t>.</a:t>
            </a:r>
          </a:p>
          <a:p>
            <a:pPr marL="0" lvl="0" indent="0" algn="just">
              <a:lnSpc>
                <a:spcPct val="100000"/>
              </a:lnSpc>
              <a:spcBef>
                <a:spcPts val="0"/>
              </a:spcBef>
              <a:spcAft>
                <a:spcPts val="0"/>
              </a:spcAft>
              <a:buClr>
                <a:srgbClr val="000000"/>
              </a:buClr>
              <a:buSzPts val="1650"/>
              <a:buNone/>
            </a:pPr>
            <a:endParaRPr lang="es-MX" sz="1800" dirty="0">
              <a:solidFill>
                <a:srgbClr val="000000"/>
              </a:solidFill>
              <a:latin typeface="Lato"/>
              <a:ea typeface="Arial"/>
              <a:cs typeface="Arial"/>
              <a:sym typeface="Calibri"/>
            </a:endParaRPr>
          </a:p>
          <a:p>
            <a:pPr marL="0" indent="0">
              <a:buNone/>
            </a:pPr>
            <a:endParaRPr lang="es-MX" sz="1800" b="1" dirty="0">
              <a:solidFill>
                <a:schemeClr val="tx2">
                  <a:lumMod val="50000"/>
                </a:schemeClr>
              </a:solidFill>
              <a:latin typeface="Lato"/>
            </a:endParaRPr>
          </a:p>
        </p:txBody>
      </p:sp>
      <p:sp>
        <p:nvSpPr>
          <p:cNvPr id="4" name="Título 1"/>
          <p:cNvSpPr txBox="1">
            <a:spLocks/>
          </p:cNvSpPr>
          <p:nvPr/>
        </p:nvSpPr>
        <p:spPr>
          <a:xfrm>
            <a:off x="0" y="219808"/>
            <a:ext cx="12192000" cy="1517552"/>
          </a:xfrm>
          <a:prstGeom prst="rect">
            <a:avLst/>
          </a:prstGeom>
        </p:spPr>
        <p:txBody>
          <a:bodyPr vert="horz" lIns="91440" tIns="45720" rIns="91440" bIns="45720" rtlCol="0" anchor="b">
            <a:normAutofit fontScale="70000" lnSpcReduction="2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s-MX" b="1" dirty="0" smtClean="0">
                <a:solidFill>
                  <a:schemeClr val="accent5">
                    <a:lumMod val="50000"/>
                  </a:schemeClr>
                </a:solidFill>
                <a:latin typeface="Lato"/>
              </a:rPr>
              <a:t/>
            </a:r>
            <a:br>
              <a:rPr lang="es-MX" b="1" dirty="0" smtClean="0">
                <a:solidFill>
                  <a:schemeClr val="accent5">
                    <a:lumMod val="50000"/>
                  </a:schemeClr>
                </a:solidFill>
                <a:latin typeface="Lato"/>
              </a:rPr>
            </a:br>
            <a:r>
              <a:rPr lang="es-MX" b="1" dirty="0" smtClean="0">
                <a:solidFill>
                  <a:schemeClr val="accent5">
                    <a:lumMod val="50000"/>
                  </a:schemeClr>
                </a:solidFill>
                <a:latin typeface="Lato"/>
              </a:rPr>
              <a:t/>
            </a:r>
            <a:br>
              <a:rPr lang="es-MX" b="1" dirty="0" smtClean="0">
                <a:solidFill>
                  <a:schemeClr val="accent5">
                    <a:lumMod val="50000"/>
                  </a:schemeClr>
                </a:solidFill>
                <a:latin typeface="Lato"/>
              </a:rPr>
            </a:br>
            <a:r>
              <a:rPr lang="es-MX" b="1" dirty="0" smtClean="0">
                <a:solidFill>
                  <a:schemeClr val="accent5">
                    <a:lumMod val="50000"/>
                  </a:schemeClr>
                </a:solidFill>
                <a:latin typeface="Lato"/>
              </a:rPr>
              <a:t/>
            </a:r>
            <a:br>
              <a:rPr lang="es-MX" b="1" dirty="0" smtClean="0">
                <a:solidFill>
                  <a:schemeClr val="accent5">
                    <a:lumMod val="50000"/>
                  </a:schemeClr>
                </a:solidFill>
                <a:latin typeface="Lato"/>
              </a:rPr>
            </a:br>
            <a:endParaRPr lang="es-MX" b="1" dirty="0">
              <a:solidFill>
                <a:schemeClr val="accent5">
                  <a:lumMod val="50000"/>
                </a:schemeClr>
              </a:solidFill>
              <a:latin typeface="Lato"/>
            </a:endParaRPr>
          </a:p>
        </p:txBody>
      </p:sp>
      <p:sp>
        <p:nvSpPr>
          <p:cNvPr id="6" name="CuadroTexto 5"/>
          <p:cNvSpPr txBox="1"/>
          <p:nvPr/>
        </p:nvSpPr>
        <p:spPr>
          <a:xfrm>
            <a:off x="0" y="139282"/>
            <a:ext cx="12192000" cy="430887"/>
          </a:xfrm>
          <a:prstGeom prst="rect">
            <a:avLst/>
          </a:prstGeom>
          <a:noFill/>
        </p:spPr>
        <p:txBody>
          <a:bodyPr wrap="square" rtlCol="0">
            <a:spAutoFit/>
          </a:bodyPr>
          <a:lstStyle/>
          <a:p>
            <a:pPr algn="r"/>
            <a:endParaRPr lang="es-MX" sz="2200" dirty="0">
              <a:solidFill>
                <a:srgbClr val="D60093"/>
              </a:solidFill>
              <a:latin typeface="Lato"/>
            </a:endParaRPr>
          </a:p>
        </p:txBody>
      </p:sp>
      <p:sp>
        <p:nvSpPr>
          <p:cNvPr id="5" name="Título 1">
            <a:extLst>
              <a:ext uri="{FF2B5EF4-FFF2-40B4-BE49-F238E27FC236}">
                <a16:creationId xmlns:a16="http://schemas.microsoft.com/office/drawing/2014/main" id="{AECA2CD0-CAA0-4E25-8774-9E89E3446609}"/>
              </a:ext>
            </a:extLst>
          </p:cNvPr>
          <p:cNvSpPr txBox="1">
            <a:spLocks/>
          </p:cNvSpPr>
          <p:nvPr/>
        </p:nvSpPr>
        <p:spPr>
          <a:xfrm>
            <a:off x="2303351" y="139282"/>
            <a:ext cx="3672147" cy="512410"/>
          </a:xfrm>
          <a:prstGeom prst="rect">
            <a:avLst/>
          </a:prstGeom>
        </p:spPr>
        <p:txBody>
          <a:bodyPr vert="horz" rtlCol="0" anchor="ctr">
            <a:norm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2500" dirty="0" smtClean="0">
                <a:solidFill>
                  <a:schemeClr val="bg1"/>
                </a:solidFill>
                <a:latin typeface="Lato"/>
              </a:rPr>
              <a:t>Enfoque a Procesos</a:t>
            </a:r>
            <a:endParaRPr lang="es-MX" sz="2500" dirty="0">
              <a:solidFill>
                <a:schemeClr val="bg1"/>
              </a:solidFill>
              <a:latin typeface="Lato"/>
            </a:endParaRPr>
          </a:p>
        </p:txBody>
      </p:sp>
      <p:pic>
        <p:nvPicPr>
          <p:cNvPr id="2" name="Imagen 1"/>
          <p:cNvPicPr>
            <a:picLocks noChangeAspect="1"/>
          </p:cNvPicPr>
          <p:nvPr/>
        </p:nvPicPr>
        <p:blipFill>
          <a:blip r:embed="rId2"/>
          <a:stretch>
            <a:fillRect/>
          </a:stretch>
        </p:blipFill>
        <p:spPr>
          <a:xfrm>
            <a:off x="3642232" y="2328531"/>
            <a:ext cx="4907536" cy="3743310"/>
          </a:xfrm>
          <a:prstGeom prst="rect">
            <a:avLst/>
          </a:prstGeom>
        </p:spPr>
      </p:pic>
    </p:spTree>
    <p:extLst>
      <p:ext uri="{BB962C8B-B14F-4D97-AF65-F5344CB8AC3E}">
        <p14:creationId xmlns:p14="http://schemas.microsoft.com/office/powerpoint/2010/main" val="28900743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221525" y="1125175"/>
            <a:ext cx="5897833" cy="1477328"/>
          </a:xfrm>
          <a:prstGeom prst="rect">
            <a:avLst/>
          </a:prstGeom>
          <a:noFill/>
        </p:spPr>
        <p:txBody>
          <a:bodyPr wrap="square" rtlCol="0">
            <a:spAutoFit/>
          </a:bodyPr>
          <a:lstStyle/>
          <a:p>
            <a:pPr algn="just">
              <a:buClr>
                <a:srgbClr val="000000"/>
              </a:buClr>
              <a:buSzPts val="1650"/>
            </a:pPr>
            <a:r>
              <a:rPr lang="es-MX" b="1" dirty="0">
                <a:solidFill>
                  <a:srgbClr val="0070C0"/>
                </a:solidFill>
                <a:effectLst>
                  <a:outerShdw blurRad="50800" dist="38100" dir="2700000" algn="tl" rotWithShape="0">
                    <a:prstClr val="black">
                      <a:alpha val="40000"/>
                    </a:prstClr>
                  </a:outerShdw>
                </a:effectLst>
                <a:latin typeface="Lato"/>
                <a:ea typeface="Calibri"/>
                <a:cs typeface="Calibri"/>
              </a:rPr>
              <a:t>La Gestión por </a:t>
            </a:r>
            <a:r>
              <a:rPr lang="es-MX" b="1" dirty="0" smtClean="0">
                <a:solidFill>
                  <a:srgbClr val="0070C0"/>
                </a:solidFill>
                <a:effectLst>
                  <a:outerShdw blurRad="50800" dist="38100" dir="2700000" algn="tl" rotWithShape="0">
                    <a:prstClr val="black">
                      <a:alpha val="40000"/>
                    </a:prstClr>
                  </a:outerShdw>
                </a:effectLst>
                <a:latin typeface="Lato"/>
                <a:ea typeface="Calibri"/>
                <a:cs typeface="Calibri"/>
              </a:rPr>
              <a:t>funciones: </a:t>
            </a:r>
            <a:r>
              <a:rPr lang="es-MX" dirty="0">
                <a:solidFill>
                  <a:srgbClr val="000000"/>
                </a:solidFill>
                <a:latin typeface="Lato"/>
                <a:ea typeface="Calibri"/>
                <a:cs typeface="Calibri"/>
              </a:rPr>
              <a:t>se basa en el funcionamiento de la organización de forma vertical, seccionándola en departamentos y dificultando con ello su interrelación, perdiéndose de vista a los clientes tanto internos como </a:t>
            </a:r>
            <a:r>
              <a:rPr lang="es-MX" dirty="0" smtClean="0">
                <a:solidFill>
                  <a:srgbClr val="000000"/>
                </a:solidFill>
                <a:latin typeface="Lato"/>
                <a:ea typeface="Calibri"/>
                <a:cs typeface="Calibri"/>
              </a:rPr>
              <a:t>externos</a:t>
            </a:r>
            <a:endParaRPr lang="es-MX" dirty="0">
              <a:solidFill>
                <a:srgbClr val="000000"/>
              </a:solidFill>
              <a:latin typeface="Lato"/>
              <a:ea typeface="Calibri"/>
              <a:cs typeface="Calibri"/>
            </a:endParaRPr>
          </a:p>
        </p:txBody>
      </p:sp>
      <p:sp>
        <p:nvSpPr>
          <p:cNvPr id="3" name="CuadroTexto 2"/>
          <p:cNvSpPr txBox="1"/>
          <p:nvPr/>
        </p:nvSpPr>
        <p:spPr>
          <a:xfrm>
            <a:off x="6382575" y="1079008"/>
            <a:ext cx="5184393" cy="923330"/>
          </a:xfrm>
          <a:prstGeom prst="rect">
            <a:avLst/>
          </a:prstGeom>
          <a:noFill/>
        </p:spPr>
        <p:txBody>
          <a:bodyPr wrap="square" rtlCol="0">
            <a:spAutoFit/>
          </a:bodyPr>
          <a:lstStyle/>
          <a:p>
            <a:pPr algn="just">
              <a:buClr>
                <a:srgbClr val="000000"/>
              </a:buClr>
              <a:buSzPts val="1650"/>
            </a:pPr>
            <a:r>
              <a:rPr lang="es-MX" b="1" dirty="0">
                <a:solidFill>
                  <a:srgbClr val="0070C0"/>
                </a:solidFill>
                <a:effectLst>
                  <a:outerShdw blurRad="50800" dist="38100" dir="2700000" algn="tl" rotWithShape="0">
                    <a:prstClr val="black">
                      <a:alpha val="40000"/>
                    </a:prstClr>
                  </a:outerShdw>
                </a:effectLst>
                <a:latin typeface="Lato"/>
                <a:ea typeface="Calibri"/>
                <a:cs typeface="Calibri"/>
              </a:rPr>
              <a:t>La Gestión por </a:t>
            </a:r>
            <a:r>
              <a:rPr lang="es-MX" b="1" dirty="0" smtClean="0">
                <a:solidFill>
                  <a:srgbClr val="0070C0"/>
                </a:solidFill>
                <a:effectLst>
                  <a:outerShdw blurRad="50800" dist="38100" dir="2700000" algn="tl" rotWithShape="0">
                    <a:prstClr val="black">
                      <a:alpha val="40000"/>
                    </a:prstClr>
                  </a:outerShdw>
                </a:effectLst>
                <a:latin typeface="Lato"/>
                <a:ea typeface="Calibri"/>
                <a:cs typeface="Calibri"/>
              </a:rPr>
              <a:t>procesos: </a:t>
            </a:r>
            <a:r>
              <a:rPr lang="es-MX" dirty="0">
                <a:solidFill>
                  <a:srgbClr val="000000"/>
                </a:solidFill>
                <a:latin typeface="Lato"/>
                <a:ea typeface="Calibri"/>
                <a:cs typeface="Calibri"/>
              </a:rPr>
              <a:t>es uno de los enfoques que facilitan mejorar la eficiencia y la eficacia de la gestión de una organización</a:t>
            </a:r>
          </a:p>
        </p:txBody>
      </p:sp>
      <p:sp>
        <p:nvSpPr>
          <p:cNvPr id="4" name="Título 1"/>
          <p:cNvSpPr txBox="1">
            <a:spLocks/>
          </p:cNvSpPr>
          <p:nvPr/>
        </p:nvSpPr>
        <p:spPr>
          <a:xfrm>
            <a:off x="2222204" y="81223"/>
            <a:ext cx="8995145" cy="785739"/>
          </a:xfrm>
          <a:prstGeom prst="rect">
            <a:avLst/>
          </a:prstGeom>
        </p:spPr>
        <p:txBody>
          <a:bodyPr>
            <a:normAutofit/>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3000" dirty="0" smtClean="0">
                <a:solidFill>
                  <a:schemeClr val="bg1"/>
                </a:solidFill>
                <a:latin typeface="Arial Narrow" panose="020B0606020202030204" pitchFamily="34" charset="0"/>
              </a:rPr>
              <a:t>Gestión de Funciones vs Gestión por Procesos</a:t>
            </a:r>
            <a:endParaRPr lang="es-MX" sz="3000" dirty="0">
              <a:solidFill>
                <a:schemeClr val="bg1"/>
              </a:solidFill>
              <a:latin typeface="Arial Narrow" panose="020B0606020202030204" pitchFamily="34" charset="0"/>
            </a:endParaRPr>
          </a:p>
        </p:txBody>
      </p:sp>
      <p:pic>
        <p:nvPicPr>
          <p:cNvPr id="6" name="Imagen 5"/>
          <p:cNvPicPr>
            <a:picLocks noChangeAspect="1"/>
          </p:cNvPicPr>
          <p:nvPr/>
        </p:nvPicPr>
        <p:blipFill>
          <a:blip r:embed="rId2"/>
          <a:stretch>
            <a:fillRect/>
          </a:stretch>
        </p:blipFill>
        <p:spPr>
          <a:xfrm>
            <a:off x="359748" y="3032706"/>
            <a:ext cx="4505325" cy="2400300"/>
          </a:xfrm>
          <a:prstGeom prst="rect">
            <a:avLst/>
          </a:prstGeom>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2575" y="3032706"/>
            <a:ext cx="5446125" cy="268292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uadroTexto 7"/>
          <p:cNvSpPr txBox="1"/>
          <p:nvPr/>
        </p:nvSpPr>
        <p:spPr>
          <a:xfrm>
            <a:off x="484742" y="3108813"/>
            <a:ext cx="756938" cy="307777"/>
          </a:xfrm>
          <a:prstGeom prst="rect">
            <a:avLst/>
          </a:prstGeom>
          <a:noFill/>
        </p:spPr>
        <p:txBody>
          <a:bodyPr wrap="none" rtlCol="0">
            <a:spAutoFit/>
          </a:bodyPr>
          <a:lstStyle/>
          <a:p>
            <a:r>
              <a:rPr lang="es-MX" sz="1400" b="1" dirty="0" smtClean="0">
                <a:latin typeface="Arial Narrow" panose="020B0606020202030204" pitchFamily="34" charset="0"/>
              </a:rPr>
              <a:t>Puestos</a:t>
            </a:r>
            <a:endParaRPr lang="es-MX" sz="1400" b="1" dirty="0">
              <a:latin typeface="Arial Narrow" panose="020B0606020202030204" pitchFamily="34" charset="0"/>
            </a:endParaRPr>
          </a:p>
        </p:txBody>
      </p:sp>
    </p:spTree>
    <p:extLst>
      <p:ext uri="{BB962C8B-B14F-4D97-AF65-F5344CB8AC3E}">
        <p14:creationId xmlns:p14="http://schemas.microsoft.com/office/powerpoint/2010/main" val="18642709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2234364" y="68983"/>
            <a:ext cx="4517311" cy="785739"/>
          </a:xfrm>
          <a:prstGeom prst="rect">
            <a:avLst/>
          </a:prstGeom>
        </p:spPr>
        <p:txBody>
          <a:bodyPr>
            <a:normAutofit/>
          </a:bodyPr>
          <a:lstStyle/>
          <a:p>
            <a:r>
              <a:rPr lang="es-MX" sz="3000" dirty="0">
                <a:solidFill>
                  <a:schemeClr val="bg1"/>
                </a:solidFill>
                <a:latin typeface="Lato"/>
              </a:rPr>
              <a:t>¿ Qué </a:t>
            </a:r>
            <a:r>
              <a:rPr lang="es-MX" sz="3000" b="1" dirty="0">
                <a:solidFill>
                  <a:schemeClr val="bg1"/>
                </a:solidFill>
                <a:latin typeface="Lato"/>
              </a:rPr>
              <a:t>es un </a:t>
            </a:r>
            <a:r>
              <a:rPr lang="es-MX" sz="3000" b="1" dirty="0" smtClean="0">
                <a:solidFill>
                  <a:schemeClr val="bg1"/>
                </a:solidFill>
                <a:latin typeface="Lato"/>
              </a:rPr>
              <a:t>Proceso?</a:t>
            </a:r>
            <a:endParaRPr lang="es-MX" sz="3000" b="1" dirty="0">
              <a:solidFill>
                <a:schemeClr val="bg1"/>
              </a:solidFill>
              <a:latin typeface="Lato"/>
            </a:endParaRPr>
          </a:p>
        </p:txBody>
      </p:sp>
      <p:sp>
        <p:nvSpPr>
          <p:cNvPr id="7" name="CuadroTexto 6"/>
          <p:cNvSpPr txBox="1"/>
          <p:nvPr/>
        </p:nvSpPr>
        <p:spPr>
          <a:xfrm>
            <a:off x="216081" y="876133"/>
            <a:ext cx="11975919" cy="923330"/>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just">
              <a:buClr>
                <a:srgbClr val="000000"/>
              </a:buClr>
              <a:buSzPts val="1650"/>
            </a:pPr>
            <a:r>
              <a:rPr lang="es-MX" dirty="0">
                <a:solidFill>
                  <a:srgbClr val="000000"/>
                </a:solidFill>
                <a:latin typeface="Lato"/>
                <a:ea typeface="Calibri"/>
                <a:cs typeface="Calibri"/>
              </a:rPr>
              <a:t>Conjunto de actividades mutuamente relacionadas o que interactúan, las cuales transforman elementos de entrada en elementos de salida.</a:t>
            </a:r>
          </a:p>
          <a:p>
            <a:pPr algn="just">
              <a:buClr>
                <a:srgbClr val="000000"/>
              </a:buClr>
              <a:buSzPts val="1650"/>
            </a:pPr>
            <a:r>
              <a:rPr lang="es-MX" dirty="0">
                <a:solidFill>
                  <a:srgbClr val="000000"/>
                </a:solidFill>
                <a:latin typeface="Lato"/>
                <a:ea typeface="Calibri"/>
                <a:cs typeface="Calibri"/>
              </a:rPr>
              <a:t>Características: </a:t>
            </a:r>
          </a:p>
        </p:txBody>
      </p:sp>
      <p:sp>
        <p:nvSpPr>
          <p:cNvPr id="6" name="Marcador de contenido 2"/>
          <p:cNvSpPr txBox="1">
            <a:spLocks/>
          </p:cNvSpPr>
          <p:nvPr/>
        </p:nvSpPr>
        <p:spPr>
          <a:xfrm>
            <a:off x="165036" y="1903158"/>
            <a:ext cx="6707320" cy="3028412"/>
          </a:xfrm>
          <a:prstGeom prst="rect">
            <a:avLst/>
          </a:prstGeom>
        </p:spPr>
        <p:txBody>
          <a:bodyPr>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defTabSz="914400">
              <a:buClr>
                <a:srgbClr val="0070C0"/>
              </a:buClr>
              <a:buFont typeface="Wingdings" panose="05000000000000000000" pitchFamily="2" charset="2"/>
              <a:buChar char="v"/>
            </a:pPr>
            <a:r>
              <a:rPr lang="es-MX" sz="1800" b="1" dirty="0">
                <a:solidFill>
                  <a:srgbClr val="0070C0"/>
                </a:solidFill>
                <a:effectLst>
                  <a:outerShdw blurRad="50800" dist="38100" dir="2700000" algn="tl" rotWithShape="0">
                    <a:prstClr val="black">
                      <a:alpha val="40000"/>
                    </a:prstClr>
                  </a:outerShdw>
                </a:effectLst>
                <a:latin typeface="Lato"/>
                <a:ea typeface="Calibri"/>
                <a:cs typeface="Calibri"/>
              </a:rPr>
              <a:t>Inicia con la necesidad del cliente y termina cuando la necesidad ha sido satisfecha.</a:t>
            </a:r>
          </a:p>
          <a:p>
            <a:pPr defTabSz="914400">
              <a:buClr>
                <a:srgbClr val="0070C0"/>
              </a:buClr>
              <a:buFont typeface="Wingdings" panose="05000000000000000000" pitchFamily="2" charset="2"/>
              <a:buChar char="v"/>
            </a:pPr>
            <a:r>
              <a:rPr lang="es-MX" sz="1800" b="1" dirty="0">
                <a:solidFill>
                  <a:srgbClr val="0070C0"/>
                </a:solidFill>
                <a:effectLst>
                  <a:outerShdw blurRad="50800" dist="38100" dir="2700000" algn="tl" rotWithShape="0">
                    <a:prstClr val="black">
                      <a:alpha val="40000"/>
                    </a:prstClr>
                  </a:outerShdw>
                </a:effectLst>
                <a:latin typeface="Lato"/>
                <a:ea typeface="Calibri"/>
                <a:cs typeface="Calibri"/>
              </a:rPr>
              <a:t>Tiene entradas y salidas</a:t>
            </a:r>
          </a:p>
          <a:p>
            <a:pPr defTabSz="914400">
              <a:buClr>
                <a:srgbClr val="0070C0"/>
              </a:buClr>
              <a:buFont typeface="Wingdings" panose="05000000000000000000" pitchFamily="2" charset="2"/>
              <a:buChar char="v"/>
            </a:pPr>
            <a:r>
              <a:rPr lang="es-MX" sz="1800" b="1" dirty="0">
                <a:solidFill>
                  <a:srgbClr val="0070C0"/>
                </a:solidFill>
                <a:effectLst>
                  <a:outerShdw blurRad="50800" dist="38100" dir="2700000" algn="tl" rotWithShape="0">
                    <a:prstClr val="black">
                      <a:alpha val="40000"/>
                    </a:prstClr>
                  </a:outerShdw>
                </a:effectLst>
                <a:latin typeface="Lato"/>
                <a:ea typeface="Calibri"/>
                <a:cs typeface="Calibri"/>
              </a:rPr>
              <a:t>Transforma insumos.</a:t>
            </a:r>
          </a:p>
          <a:p>
            <a:pPr defTabSz="914400">
              <a:buClr>
                <a:srgbClr val="0070C0"/>
              </a:buClr>
              <a:buFont typeface="Wingdings" panose="05000000000000000000" pitchFamily="2" charset="2"/>
              <a:buChar char="v"/>
            </a:pPr>
            <a:r>
              <a:rPr lang="es-MX" sz="1800" b="1" dirty="0">
                <a:solidFill>
                  <a:srgbClr val="0070C0"/>
                </a:solidFill>
                <a:effectLst>
                  <a:outerShdw blurRad="50800" dist="38100" dir="2700000" algn="tl" rotWithShape="0">
                    <a:prstClr val="black">
                      <a:alpha val="40000"/>
                    </a:prstClr>
                  </a:outerShdw>
                </a:effectLst>
                <a:latin typeface="Lato"/>
                <a:ea typeface="Calibri"/>
                <a:cs typeface="Calibri"/>
              </a:rPr>
              <a:t>Cuenta con proveedores y cliente</a:t>
            </a:r>
          </a:p>
          <a:p>
            <a:pPr defTabSz="914400">
              <a:buClr>
                <a:srgbClr val="0070C0"/>
              </a:buClr>
              <a:buFont typeface="Wingdings" panose="05000000000000000000" pitchFamily="2" charset="2"/>
              <a:buChar char="v"/>
            </a:pPr>
            <a:r>
              <a:rPr lang="es-MX" sz="1800" b="1" dirty="0">
                <a:solidFill>
                  <a:srgbClr val="0070C0"/>
                </a:solidFill>
                <a:effectLst>
                  <a:outerShdw blurRad="50800" dist="38100" dir="2700000" algn="tl" rotWithShape="0">
                    <a:prstClr val="black">
                      <a:alpha val="40000"/>
                    </a:prstClr>
                  </a:outerShdw>
                </a:effectLst>
                <a:latin typeface="Lato"/>
                <a:ea typeface="Calibri"/>
                <a:cs typeface="Calibri"/>
              </a:rPr>
              <a:t>Agrega valor al producto.</a:t>
            </a:r>
          </a:p>
          <a:p>
            <a:pPr defTabSz="914400">
              <a:buClr>
                <a:srgbClr val="0070C0"/>
              </a:buClr>
              <a:buFont typeface="Wingdings" panose="05000000000000000000" pitchFamily="2" charset="2"/>
              <a:buChar char="v"/>
            </a:pPr>
            <a:r>
              <a:rPr lang="es-MX" sz="1800" b="1" dirty="0">
                <a:solidFill>
                  <a:srgbClr val="0070C0"/>
                </a:solidFill>
                <a:effectLst>
                  <a:outerShdw blurRad="50800" dist="38100" dir="2700000" algn="tl" rotWithShape="0">
                    <a:prstClr val="black">
                      <a:alpha val="40000"/>
                    </a:prstClr>
                  </a:outerShdw>
                </a:effectLst>
                <a:latin typeface="Lato"/>
                <a:ea typeface="Calibri"/>
                <a:cs typeface="Calibri"/>
              </a:rPr>
              <a:t>Esta delimitado.</a:t>
            </a:r>
          </a:p>
          <a:p>
            <a:pPr defTabSz="914400">
              <a:buClr>
                <a:srgbClr val="0070C0"/>
              </a:buClr>
              <a:buFont typeface="Wingdings" panose="05000000000000000000" pitchFamily="2" charset="2"/>
              <a:buChar char="v"/>
            </a:pPr>
            <a:r>
              <a:rPr lang="es-MX" sz="1800" b="1" dirty="0">
                <a:solidFill>
                  <a:srgbClr val="0070C0"/>
                </a:solidFill>
                <a:effectLst>
                  <a:outerShdw blurRad="50800" dist="38100" dir="2700000" algn="tl" rotWithShape="0">
                    <a:prstClr val="black">
                      <a:alpha val="40000"/>
                    </a:prstClr>
                  </a:outerShdw>
                </a:effectLst>
                <a:latin typeface="Lato"/>
                <a:ea typeface="Calibri"/>
                <a:cs typeface="Calibri"/>
              </a:rPr>
              <a:t>Cuenta con recursos.</a:t>
            </a:r>
          </a:p>
          <a:p>
            <a:pPr defTabSz="914400">
              <a:buClr>
                <a:srgbClr val="0070C0"/>
              </a:buClr>
              <a:buFont typeface="Wingdings" panose="05000000000000000000" pitchFamily="2" charset="2"/>
              <a:buChar char="v"/>
            </a:pPr>
            <a:r>
              <a:rPr lang="es-MX" sz="1800" b="1" dirty="0">
                <a:solidFill>
                  <a:srgbClr val="0070C0"/>
                </a:solidFill>
                <a:effectLst>
                  <a:outerShdw blurRad="50800" dist="38100" dir="2700000" algn="tl" rotWithShape="0">
                    <a:prstClr val="black">
                      <a:alpha val="40000"/>
                    </a:prstClr>
                  </a:outerShdw>
                </a:effectLst>
                <a:latin typeface="Lato"/>
                <a:ea typeface="Calibri"/>
                <a:cs typeface="Calibri"/>
              </a:rPr>
              <a:t>Tiene dueño.</a:t>
            </a:r>
          </a:p>
        </p:txBody>
      </p:sp>
      <p:grpSp>
        <p:nvGrpSpPr>
          <p:cNvPr id="8" name="Grupo 7"/>
          <p:cNvGrpSpPr/>
          <p:nvPr/>
        </p:nvGrpSpPr>
        <p:grpSpPr>
          <a:xfrm>
            <a:off x="7370586" y="1903158"/>
            <a:ext cx="4644080" cy="3655905"/>
            <a:chOff x="4169535" y="1625721"/>
            <a:chExt cx="3744622" cy="2622119"/>
          </a:xfrm>
        </p:grpSpPr>
        <p:sp>
          <p:nvSpPr>
            <p:cNvPr id="9" name="Rectángulo 8"/>
            <p:cNvSpPr/>
            <p:nvPr/>
          </p:nvSpPr>
          <p:spPr>
            <a:xfrm>
              <a:off x="5535199" y="2583252"/>
              <a:ext cx="975752" cy="605118"/>
            </a:xfrm>
            <a:prstGeom prst="rect">
              <a:avLst/>
            </a:prstGeom>
            <a:solidFill>
              <a:srgbClr val="F01EB4"/>
            </a:solidFill>
            <a:ln>
              <a:solidFill>
                <a:srgbClr val="F01E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13" b="1" dirty="0">
                  <a:latin typeface="Arial Narrow" panose="020B0606020202030204" pitchFamily="34" charset="0"/>
                </a:rPr>
                <a:t>PROCESO</a:t>
              </a:r>
            </a:p>
          </p:txBody>
        </p:sp>
        <p:sp>
          <p:nvSpPr>
            <p:cNvPr id="10" name="Rectángulo 9"/>
            <p:cNvSpPr/>
            <p:nvPr/>
          </p:nvSpPr>
          <p:spPr>
            <a:xfrm>
              <a:off x="6938405" y="2583252"/>
              <a:ext cx="975752" cy="605117"/>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13" b="1" dirty="0">
                  <a:solidFill>
                    <a:schemeClr val="bg1"/>
                  </a:solidFill>
                  <a:latin typeface="Arial Narrow" panose="020B0606020202030204" pitchFamily="34" charset="0"/>
                </a:rPr>
                <a:t>SALIDAS</a:t>
              </a:r>
            </a:p>
          </p:txBody>
        </p:sp>
        <p:sp>
          <p:nvSpPr>
            <p:cNvPr id="11" name="Rectángulo 10"/>
            <p:cNvSpPr/>
            <p:nvPr/>
          </p:nvSpPr>
          <p:spPr>
            <a:xfrm>
              <a:off x="4169535" y="2583252"/>
              <a:ext cx="975752" cy="605118"/>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013" b="1" dirty="0">
                  <a:solidFill>
                    <a:schemeClr val="bg1"/>
                  </a:solidFill>
                  <a:latin typeface="Arial Narrow" panose="020B0606020202030204" pitchFamily="34" charset="0"/>
                </a:rPr>
                <a:t>ENTRADAS</a:t>
              </a:r>
            </a:p>
          </p:txBody>
        </p:sp>
        <p:sp>
          <p:nvSpPr>
            <p:cNvPr id="12" name="Flecha derecha 11"/>
            <p:cNvSpPr/>
            <p:nvPr/>
          </p:nvSpPr>
          <p:spPr>
            <a:xfrm>
              <a:off x="5257669" y="2811076"/>
              <a:ext cx="165148" cy="167565"/>
            </a:xfrm>
            <a:prstGeom prst="rightArrow">
              <a:avLst/>
            </a:prstGeom>
            <a:solidFill>
              <a:srgbClr val="F01EB4"/>
            </a:solidFill>
            <a:ln>
              <a:solidFill>
                <a:srgbClr val="F01EB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MX" sz="1013" b="1" dirty="0">
                <a:latin typeface="Arial Narrow" panose="020B0606020202030204" pitchFamily="34" charset="0"/>
              </a:endParaRPr>
            </a:p>
          </p:txBody>
        </p:sp>
        <p:sp>
          <p:nvSpPr>
            <p:cNvPr id="13" name="Flecha derecha 12"/>
            <p:cNvSpPr/>
            <p:nvPr/>
          </p:nvSpPr>
          <p:spPr>
            <a:xfrm>
              <a:off x="6639827" y="2806844"/>
              <a:ext cx="172081" cy="167565"/>
            </a:xfrm>
            <a:prstGeom prst="rightArrow">
              <a:avLst/>
            </a:prstGeom>
            <a:solidFill>
              <a:srgbClr val="F01EB4"/>
            </a:solidFill>
            <a:ln>
              <a:solidFill>
                <a:srgbClr val="F01EB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MX" sz="1013" b="1" dirty="0">
                <a:latin typeface="Arial Narrow" panose="020B0606020202030204" pitchFamily="34" charset="0"/>
              </a:endParaRPr>
            </a:p>
          </p:txBody>
        </p:sp>
        <p:sp>
          <p:nvSpPr>
            <p:cNvPr id="14" name="Flecha abajo 13"/>
            <p:cNvSpPr/>
            <p:nvPr/>
          </p:nvSpPr>
          <p:spPr>
            <a:xfrm>
              <a:off x="5858558" y="2237352"/>
              <a:ext cx="329033" cy="317687"/>
            </a:xfrm>
            <a:prstGeom prst="downArrow">
              <a:avLst/>
            </a:prstGeom>
            <a:solidFill>
              <a:srgbClr val="F01EB4"/>
            </a:solidFill>
            <a:ln>
              <a:solidFill>
                <a:srgbClr val="F01E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013" b="1" dirty="0">
                <a:latin typeface="Arial Narrow" panose="020B0606020202030204" pitchFamily="34" charset="0"/>
              </a:endParaRPr>
            </a:p>
          </p:txBody>
        </p:sp>
        <p:sp>
          <p:nvSpPr>
            <p:cNvPr id="15" name="Flecha abajo 14"/>
            <p:cNvSpPr/>
            <p:nvPr/>
          </p:nvSpPr>
          <p:spPr>
            <a:xfrm flipV="1">
              <a:off x="5858558" y="3302341"/>
              <a:ext cx="329033" cy="327248"/>
            </a:xfrm>
            <a:prstGeom prst="downArrow">
              <a:avLst/>
            </a:prstGeom>
            <a:solidFill>
              <a:srgbClr val="F01EB4"/>
            </a:solidFill>
            <a:ln>
              <a:solidFill>
                <a:srgbClr val="F01E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013" b="1" dirty="0">
                <a:latin typeface="Arial Narrow" panose="020B0606020202030204" pitchFamily="34" charset="0"/>
              </a:endParaRPr>
            </a:p>
          </p:txBody>
        </p:sp>
        <p:sp>
          <p:nvSpPr>
            <p:cNvPr id="16" name="Rectángulo 15"/>
            <p:cNvSpPr/>
            <p:nvPr/>
          </p:nvSpPr>
          <p:spPr>
            <a:xfrm>
              <a:off x="5093282" y="1625721"/>
              <a:ext cx="2019581" cy="496575"/>
            </a:xfrm>
            <a:prstGeom prst="rect">
              <a:avLst/>
            </a:prstGeom>
            <a:ln>
              <a:solidFill>
                <a:srgbClr val="F01EB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MX" sz="1013" b="1" dirty="0">
                  <a:latin typeface="Arial Narrow" panose="020B0606020202030204" pitchFamily="34" charset="0"/>
                </a:rPr>
                <a:t>ACTIVIDADES</a:t>
              </a:r>
            </a:p>
            <a:p>
              <a:pPr algn="ctr"/>
              <a:r>
                <a:rPr lang="es-MX" sz="1013" b="1" dirty="0">
                  <a:latin typeface="Arial Narrow" panose="020B0606020202030204" pitchFamily="34" charset="0"/>
                </a:rPr>
                <a:t>(Procedimientos)</a:t>
              </a:r>
            </a:p>
          </p:txBody>
        </p:sp>
        <p:sp>
          <p:nvSpPr>
            <p:cNvPr id="17" name="Rectángulo 16"/>
            <p:cNvSpPr/>
            <p:nvPr/>
          </p:nvSpPr>
          <p:spPr>
            <a:xfrm>
              <a:off x="5067697" y="3797784"/>
              <a:ext cx="2040205" cy="450056"/>
            </a:xfrm>
            <a:prstGeom prst="rect">
              <a:avLst/>
            </a:prstGeom>
            <a:ln>
              <a:solidFill>
                <a:srgbClr val="F01EB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MX" sz="1013" b="1" dirty="0">
                  <a:latin typeface="Arial Narrow" panose="020B0606020202030204" pitchFamily="34" charset="0"/>
                </a:rPr>
                <a:t>RECURSOS</a:t>
              </a:r>
            </a:p>
            <a:p>
              <a:pPr algn="ctr"/>
              <a:r>
                <a:rPr lang="es-MX" sz="1013" b="1" dirty="0">
                  <a:latin typeface="Arial Narrow" panose="020B0606020202030204" pitchFamily="34" charset="0"/>
                </a:rPr>
                <a:t>(Humanos, materiales, financieros)</a:t>
              </a:r>
            </a:p>
          </p:txBody>
        </p:sp>
      </p:grpSp>
    </p:spTree>
    <p:extLst>
      <p:ext uri="{BB962C8B-B14F-4D97-AF65-F5344CB8AC3E}">
        <p14:creationId xmlns:p14="http://schemas.microsoft.com/office/powerpoint/2010/main" val="39777268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2243469" y="77702"/>
            <a:ext cx="9214885" cy="803046"/>
          </a:xfrm>
          <a:prstGeom prst="rect">
            <a:avLst/>
          </a:prstGeom>
        </p:spPr>
        <p:txBody>
          <a:bodyPr>
            <a:noAutofit/>
          </a:bodyPr>
          <a:lstStyle/>
          <a:p>
            <a:r>
              <a:rPr lang="es-MX" sz="3000" dirty="0">
                <a:solidFill>
                  <a:schemeClr val="bg1"/>
                </a:solidFill>
                <a:latin typeface="Lato"/>
              </a:rPr>
              <a:t>Diferencias entre proceso y </a:t>
            </a:r>
            <a:r>
              <a:rPr lang="es-MX" sz="3000" dirty="0" smtClean="0">
                <a:solidFill>
                  <a:schemeClr val="bg1"/>
                </a:solidFill>
                <a:latin typeface="Lato"/>
              </a:rPr>
              <a:t>procedimiento</a:t>
            </a:r>
            <a:br>
              <a:rPr lang="es-MX" sz="3000" dirty="0" smtClean="0">
                <a:solidFill>
                  <a:schemeClr val="bg1"/>
                </a:solidFill>
                <a:latin typeface="Lato"/>
              </a:rPr>
            </a:br>
            <a:r>
              <a:rPr lang="es-MX" sz="3000" dirty="0">
                <a:solidFill>
                  <a:schemeClr val="bg1"/>
                </a:solidFill>
                <a:latin typeface="Lato"/>
              </a:rPr>
              <a:t/>
            </a:r>
            <a:br>
              <a:rPr lang="es-MX" sz="3000" dirty="0">
                <a:solidFill>
                  <a:schemeClr val="bg1"/>
                </a:solidFill>
                <a:latin typeface="Lato"/>
              </a:rPr>
            </a:br>
            <a:endParaRPr lang="es-MX" sz="3000" dirty="0">
              <a:solidFill>
                <a:schemeClr val="bg1"/>
              </a:solidFill>
              <a:latin typeface="Lato"/>
            </a:endParaRPr>
          </a:p>
        </p:txBody>
      </p:sp>
      <p:graphicFrame>
        <p:nvGraphicFramePr>
          <p:cNvPr id="5" name="4 Tabla"/>
          <p:cNvGraphicFramePr>
            <a:graphicFrameLocks noGrp="1"/>
          </p:cNvGraphicFramePr>
          <p:nvPr>
            <p:extLst>
              <p:ext uri="{D42A27DB-BD31-4B8C-83A1-F6EECF244321}">
                <p14:modId xmlns:p14="http://schemas.microsoft.com/office/powerpoint/2010/main" val="2029138775"/>
              </p:ext>
            </p:extLst>
          </p:nvPr>
        </p:nvGraphicFramePr>
        <p:xfrm>
          <a:off x="1429193" y="880748"/>
          <a:ext cx="9525000" cy="4514850"/>
        </p:xfrm>
        <a:graphic>
          <a:graphicData uri="http://schemas.openxmlformats.org/drawingml/2006/table">
            <a:tbl>
              <a:tblPr firstRow="1" bandRow="1">
                <a:effectLst>
                  <a:outerShdw blurRad="76200" dist="12700" dir="2700000" sy="-23000" kx="-800400" algn="bl" rotWithShape="0">
                    <a:prstClr val="black">
                      <a:alpha val="20000"/>
                    </a:prstClr>
                  </a:outerShdw>
                </a:effectLst>
                <a:tableStyleId>{5C22544A-7EE6-4342-B048-85BDC9FD1C3A}</a:tableStyleId>
              </a:tblPr>
              <a:tblGrid>
                <a:gridCol w="4457700">
                  <a:extLst>
                    <a:ext uri="{9D8B030D-6E8A-4147-A177-3AD203B41FA5}">
                      <a16:colId xmlns:a16="http://schemas.microsoft.com/office/drawing/2014/main" val="20000"/>
                    </a:ext>
                  </a:extLst>
                </a:gridCol>
                <a:gridCol w="5067300">
                  <a:extLst>
                    <a:ext uri="{9D8B030D-6E8A-4147-A177-3AD203B41FA5}">
                      <a16:colId xmlns:a16="http://schemas.microsoft.com/office/drawing/2014/main" val="20001"/>
                    </a:ext>
                  </a:extLst>
                </a:gridCol>
              </a:tblGrid>
              <a:tr h="752475">
                <a:tc>
                  <a:txBody>
                    <a:bodyPr/>
                    <a:lstStyle/>
                    <a:p>
                      <a:pPr algn="ctr" rtl="0" fontAlgn="ctr"/>
                      <a:r>
                        <a:rPr lang="es-MX" sz="1800" u="none" strike="noStrike" dirty="0">
                          <a:effectLst/>
                        </a:rPr>
                        <a:t>PROCESOS </a:t>
                      </a:r>
                      <a:endParaRPr lang="es-MX" sz="1800" b="1" i="0" u="none" strike="noStrike" dirty="0">
                        <a:solidFill>
                          <a:srgbClr val="000000"/>
                        </a:solidFill>
                        <a:effectLst/>
                        <a:latin typeface="Lucida Sans Unicode"/>
                      </a:endParaRPr>
                    </a:p>
                  </a:txBody>
                  <a:tcPr marL="9525" marR="9525" marT="9525" marB="0" anchor="ctr"/>
                </a:tc>
                <a:tc>
                  <a:txBody>
                    <a:bodyPr/>
                    <a:lstStyle/>
                    <a:p>
                      <a:pPr algn="ctr" rtl="0" fontAlgn="ctr"/>
                      <a:r>
                        <a:rPr lang="es-MX" sz="1800" u="none" strike="noStrike" dirty="0">
                          <a:effectLst/>
                        </a:rPr>
                        <a:t>PROCEDIMIENTOS</a:t>
                      </a:r>
                      <a:endParaRPr lang="es-MX" sz="1800" b="1" i="0" u="none" strike="noStrike" dirty="0">
                        <a:solidFill>
                          <a:srgbClr val="000000"/>
                        </a:solidFill>
                        <a:effectLst/>
                        <a:latin typeface="Lucida Sans Unicode"/>
                      </a:endParaRPr>
                    </a:p>
                  </a:txBody>
                  <a:tcPr marL="9525" marR="9525" marT="9525" marB="0" anchor="ctr"/>
                </a:tc>
                <a:extLst>
                  <a:ext uri="{0D108BD9-81ED-4DB2-BD59-A6C34878D82A}">
                    <a16:rowId xmlns:a16="http://schemas.microsoft.com/office/drawing/2014/main" val="10000"/>
                  </a:ext>
                </a:extLst>
              </a:tr>
              <a:tr h="752475">
                <a:tc>
                  <a:txBody>
                    <a:bodyPr/>
                    <a:lstStyle/>
                    <a:p>
                      <a:pPr algn="l" rtl="0" fontAlgn="ctr">
                        <a:buClr>
                          <a:srgbClr val="000000"/>
                        </a:buClr>
                        <a:buSzPts val="1600"/>
                        <a:buFont typeface="Wingdings"/>
                        <a:buChar char="v"/>
                      </a:pPr>
                      <a:r>
                        <a:rPr lang="es-MX" sz="1600" u="none" strike="noStrike" dirty="0">
                          <a:effectLst/>
                        </a:rPr>
                        <a:t>Los procesos transforman las entradas en salidas mediante la utilización de recursos</a:t>
                      </a:r>
                      <a:endParaRPr lang="es-MX" sz="1600" b="0" i="0" u="none" strike="noStrike" dirty="0">
                        <a:solidFill>
                          <a:srgbClr val="000000"/>
                        </a:solidFill>
                        <a:effectLst/>
                        <a:latin typeface="Wingdings"/>
                      </a:endParaRPr>
                    </a:p>
                  </a:txBody>
                  <a:tcPr marL="257175" marR="9525" marT="9525" marB="0" anchor="ctr"/>
                </a:tc>
                <a:tc>
                  <a:txBody>
                    <a:bodyPr/>
                    <a:lstStyle/>
                    <a:p>
                      <a:pPr algn="l" rtl="0" fontAlgn="ctr">
                        <a:buClr>
                          <a:srgbClr val="000000"/>
                        </a:buClr>
                        <a:buSzPts val="1600"/>
                        <a:buFont typeface="Wingdings"/>
                        <a:buChar char="v"/>
                      </a:pPr>
                      <a:r>
                        <a:rPr lang="es-MX" sz="1600" u="none" strike="noStrike" dirty="0">
                          <a:effectLst/>
                        </a:rPr>
                        <a:t>Los procedimientos definen la secuencia de pasos para ejecutar una tarea</a:t>
                      </a:r>
                      <a:endParaRPr lang="es-MX" sz="1600" b="0" i="0" u="none" strike="noStrike" dirty="0">
                        <a:solidFill>
                          <a:srgbClr val="000000"/>
                        </a:solidFill>
                        <a:effectLst/>
                        <a:latin typeface="Wingdings"/>
                      </a:endParaRPr>
                    </a:p>
                  </a:txBody>
                  <a:tcPr marL="257175" marR="9525" marT="9525" marB="0" anchor="ctr"/>
                </a:tc>
                <a:extLst>
                  <a:ext uri="{0D108BD9-81ED-4DB2-BD59-A6C34878D82A}">
                    <a16:rowId xmlns:a16="http://schemas.microsoft.com/office/drawing/2014/main" val="10001"/>
                  </a:ext>
                </a:extLst>
              </a:tr>
              <a:tr h="752475">
                <a:tc>
                  <a:txBody>
                    <a:bodyPr/>
                    <a:lstStyle/>
                    <a:p>
                      <a:pPr algn="l" rtl="0" fontAlgn="ctr">
                        <a:buClr>
                          <a:srgbClr val="000000"/>
                        </a:buClr>
                        <a:buSzPts val="1600"/>
                        <a:buFont typeface="Wingdings"/>
                        <a:buChar char="v"/>
                      </a:pPr>
                      <a:r>
                        <a:rPr lang="es-MX" sz="1600" u="none" strike="noStrike" dirty="0">
                          <a:effectLst/>
                        </a:rPr>
                        <a:t>Los procesos se comportan, son dinámicos</a:t>
                      </a:r>
                      <a:endParaRPr lang="es-MX" sz="1600" b="0" i="0" u="none" strike="noStrike" dirty="0">
                        <a:solidFill>
                          <a:srgbClr val="000000"/>
                        </a:solidFill>
                        <a:effectLst/>
                        <a:latin typeface="Wingdings"/>
                      </a:endParaRPr>
                    </a:p>
                  </a:txBody>
                  <a:tcPr marL="257175" marR="9525" marT="9525" marB="0" anchor="ctr"/>
                </a:tc>
                <a:tc>
                  <a:txBody>
                    <a:bodyPr/>
                    <a:lstStyle/>
                    <a:p>
                      <a:pPr algn="l" rtl="0" fontAlgn="ctr">
                        <a:buClr>
                          <a:srgbClr val="000000"/>
                        </a:buClr>
                        <a:buSzPts val="1600"/>
                        <a:buFont typeface="Wingdings"/>
                        <a:buChar char="v"/>
                      </a:pPr>
                      <a:r>
                        <a:rPr lang="es-MX" sz="1600" u="none" strike="noStrike" dirty="0">
                          <a:effectLst/>
                        </a:rPr>
                        <a:t>Los procedimientos existen, son estáticos</a:t>
                      </a:r>
                      <a:endParaRPr lang="es-MX" sz="1600" b="0" i="0" u="none" strike="noStrike" dirty="0">
                        <a:solidFill>
                          <a:srgbClr val="000000"/>
                        </a:solidFill>
                        <a:effectLst/>
                        <a:latin typeface="Wingdings"/>
                      </a:endParaRPr>
                    </a:p>
                  </a:txBody>
                  <a:tcPr marL="257175" marR="9525" marT="9525" marB="0" anchor="ctr"/>
                </a:tc>
                <a:extLst>
                  <a:ext uri="{0D108BD9-81ED-4DB2-BD59-A6C34878D82A}">
                    <a16:rowId xmlns:a16="http://schemas.microsoft.com/office/drawing/2014/main" val="10002"/>
                  </a:ext>
                </a:extLst>
              </a:tr>
              <a:tr h="752475">
                <a:tc>
                  <a:txBody>
                    <a:bodyPr/>
                    <a:lstStyle/>
                    <a:p>
                      <a:pPr algn="l" rtl="0" fontAlgn="ctr">
                        <a:buClr>
                          <a:srgbClr val="000000"/>
                        </a:buClr>
                        <a:buSzPts val="1600"/>
                        <a:buFont typeface="Wingdings"/>
                        <a:buChar char="v"/>
                      </a:pPr>
                      <a:r>
                        <a:rPr lang="es-MX" sz="1600" u="none" strike="noStrike" dirty="0">
                          <a:effectLst/>
                        </a:rPr>
                        <a:t>Los procesos están impulsados por la consecución de un resultados</a:t>
                      </a:r>
                      <a:endParaRPr lang="es-MX" sz="1600" b="0" i="0" u="none" strike="noStrike" dirty="0">
                        <a:solidFill>
                          <a:srgbClr val="000000"/>
                        </a:solidFill>
                        <a:effectLst/>
                        <a:latin typeface="Wingdings"/>
                      </a:endParaRPr>
                    </a:p>
                  </a:txBody>
                  <a:tcPr marL="257175" marR="9525" marT="9525" marB="0" anchor="ctr"/>
                </a:tc>
                <a:tc>
                  <a:txBody>
                    <a:bodyPr/>
                    <a:lstStyle/>
                    <a:p>
                      <a:pPr algn="l" rtl="0" fontAlgn="ctr">
                        <a:buClr>
                          <a:srgbClr val="000000"/>
                        </a:buClr>
                        <a:buSzPts val="1600"/>
                        <a:buFont typeface="Wingdings"/>
                        <a:buChar char="v"/>
                      </a:pPr>
                      <a:r>
                        <a:rPr lang="es-MX" sz="1600" u="none" strike="noStrike" dirty="0">
                          <a:effectLst/>
                        </a:rPr>
                        <a:t>Los procedimientos están impulsados por la finalización de la tareas</a:t>
                      </a:r>
                      <a:endParaRPr lang="es-MX" sz="1600" b="0" i="0" u="none" strike="noStrike" dirty="0">
                        <a:solidFill>
                          <a:srgbClr val="000000"/>
                        </a:solidFill>
                        <a:effectLst/>
                        <a:latin typeface="Wingdings"/>
                      </a:endParaRPr>
                    </a:p>
                  </a:txBody>
                  <a:tcPr marL="257175" marR="9525" marT="9525" marB="0" anchor="ctr"/>
                </a:tc>
                <a:extLst>
                  <a:ext uri="{0D108BD9-81ED-4DB2-BD59-A6C34878D82A}">
                    <a16:rowId xmlns:a16="http://schemas.microsoft.com/office/drawing/2014/main" val="10003"/>
                  </a:ext>
                </a:extLst>
              </a:tr>
              <a:tr h="752475">
                <a:tc>
                  <a:txBody>
                    <a:bodyPr/>
                    <a:lstStyle/>
                    <a:p>
                      <a:pPr algn="l" rtl="0" fontAlgn="ctr">
                        <a:buClr>
                          <a:srgbClr val="000000"/>
                        </a:buClr>
                        <a:buSzPts val="1600"/>
                        <a:buFont typeface="Wingdings"/>
                        <a:buChar char="v"/>
                      </a:pPr>
                      <a:r>
                        <a:rPr lang="es-MX" sz="1600" u="none" strike="noStrike" dirty="0">
                          <a:effectLst/>
                        </a:rPr>
                        <a:t>Los procesos se operan y gestionan</a:t>
                      </a:r>
                      <a:endParaRPr lang="es-MX" sz="1600" b="0" i="0" u="none" strike="noStrike" dirty="0">
                        <a:solidFill>
                          <a:srgbClr val="000000"/>
                        </a:solidFill>
                        <a:effectLst/>
                        <a:latin typeface="Wingdings"/>
                      </a:endParaRPr>
                    </a:p>
                  </a:txBody>
                  <a:tcPr marL="257175" marR="9525" marT="9525" marB="0" anchor="ctr"/>
                </a:tc>
                <a:tc>
                  <a:txBody>
                    <a:bodyPr/>
                    <a:lstStyle/>
                    <a:p>
                      <a:pPr algn="l" rtl="0" fontAlgn="ctr">
                        <a:buClr>
                          <a:srgbClr val="000000"/>
                        </a:buClr>
                        <a:buSzPts val="1600"/>
                        <a:buFont typeface="Wingdings"/>
                        <a:buChar char="v"/>
                      </a:pPr>
                      <a:r>
                        <a:rPr lang="es-MX" sz="1600" u="none" strike="noStrike" dirty="0">
                          <a:effectLst/>
                        </a:rPr>
                        <a:t>Los procedimientos se implementan</a:t>
                      </a:r>
                      <a:endParaRPr lang="es-MX" sz="1600" b="0" i="0" u="none" strike="noStrike" dirty="0">
                        <a:solidFill>
                          <a:srgbClr val="000000"/>
                        </a:solidFill>
                        <a:effectLst/>
                        <a:latin typeface="Wingdings"/>
                      </a:endParaRPr>
                    </a:p>
                  </a:txBody>
                  <a:tcPr marL="257175" marR="9525" marT="9525" marB="0" anchor="ctr"/>
                </a:tc>
                <a:extLst>
                  <a:ext uri="{0D108BD9-81ED-4DB2-BD59-A6C34878D82A}">
                    <a16:rowId xmlns:a16="http://schemas.microsoft.com/office/drawing/2014/main" val="10004"/>
                  </a:ext>
                </a:extLst>
              </a:tr>
              <a:tr h="752475">
                <a:tc>
                  <a:txBody>
                    <a:bodyPr/>
                    <a:lstStyle/>
                    <a:p>
                      <a:pPr algn="l" rtl="0" fontAlgn="ctr">
                        <a:buClr>
                          <a:srgbClr val="000000"/>
                        </a:buClr>
                        <a:buSzPts val="1600"/>
                        <a:buFont typeface="Wingdings"/>
                        <a:buChar char="v"/>
                      </a:pPr>
                      <a:r>
                        <a:rPr lang="es-MX" sz="1600" u="none" strike="noStrike" dirty="0">
                          <a:effectLst/>
                        </a:rPr>
                        <a:t>Los procesos se centran en la satisfacción de los Clientes y las partes interesadas</a:t>
                      </a:r>
                      <a:endParaRPr lang="es-MX" sz="1600" b="0" i="0" u="none" strike="noStrike" dirty="0">
                        <a:solidFill>
                          <a:srgbClr val="000000"/>
                        </a:solidFill>
                        <a:effectLst/>
                        <a:latin typeface="Wingdings"/>
                      </a:endParaRPr>
                    </a:p>
                  </a:txBody>
                  <a:tcPr marL="257175" marR="9525" marT="9525" marB="0" anchor="ctr"/>
                </a:tc>
                <a:tc>
                  <a:txBody>
                    <a:bodyPr/>
                    <a:lstStyle/>
                    <a:p>
                      <a:pPr algn="l" rtl="0" fontAlgn="ctr">
                        <a:buClr>
                          <a:srgbClr val="000000"/>
                        </a:buClr>
                        <a:buSzPts val="1600"/>
                        <a:buFont typeface="Wingdings"/>
                        <a:buChar char="v"/>
                      </a:pPr>
                      <a:r>
                        <a:rPr lang="es-MX" sz="1600" u="none" strike="noStrike" dirty="0">
                          <a:effectLst/>
                        </a:rPr>
                        <a:t>Los procedimientos se centran en el cumplimiento de normas</a:t>
                      </a:r>
                      <a:endParaRPr lang="es-MX" sz="1600" b="0" i="0" u="none" strike="noStrike" dirty="0">
                        <a:solidFill>
                          <a:srgbClr val="000000"/>
                        </a:solidFill>
                        <a:effectLst/>
                        <a:latin typeface="Wingdings"/>
                      </a:endParaRPr>
                    </a:p>
                  </a:txBody>
                  <a:tcPr marL="257175" marR="9525" marT="9525"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188731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37723" y="1074772"/>
            <a:ext cx="11702504" cy="3554819"/>
          </a:xfrm>
          <a:prstGeom prst="rect">
            <a:avLst/>
          </a:prstGeom>
        </p:spPr>
        <p:txBody>
          <a:bodyPr wrap="square">
            <a:spAutoFit/>
          </a:bodyPr>
          <a:lstStyle/>
          <a:p>
            <a:pPr indent="-285750" algn="just">
              <a:lnSpc>
                <a:spcPct val="150000"/>
              </a:lnSpc>
              <a:buClr>
                <a:srgbClr val="000000"/>
              </a:buClr>
              <a:buSzPts val="1650"/>
              <a:buFont typeface="Wingdings" panose="05000000000000000000" pitchFamily="2" charset="2"/>
              <a:buChar char="v"/>
            </a:pPr>
            <a:r>
              <a:rPr lang="es-MX" dirty="0">
                <a:solidFill>
                  <a:srgbClr val="000000"/>
                </a:solidFill>
                <a:latin typeface="Lato"/>
                <a:ea typeface="Calibri"/>
                <a:cs typeface="Calibri"/>
              </a:rPr>
              <a:t>Aporta una nítida visión global del Instituto y de sus relaciones internas.</a:t>
            </a:r>
          </a:p>
          <a:p>
            <a:pPr indent="-285750" algn="just">
              <a:buClr>
                <a:srgbClr val="000000"/>
              </a:buClr>
              <a:buSzPts val="1650"/>
              <a:buFont typeface="Wingdings" panose="05000000000000000000" pitchFamily="2" charset="2"/>
              <a:buChar char="v"/>
            </a:pPr>
            <a:endParaRPr lang="es-MX" dirty="0">
              <a:solidFill>
                <a:srgbClr val="000000"/>
              </a:solidFill>
              <a:latin typeface="Lato"/>
              <a:ea typeface="Calibri"/>
              <a:cs typeface="Calibri"/>
            </a:endParaRPr>
          </a:p>
          <a:p>
            <a:pPr indent="-285750" algn="just">
              <a:buClr>
                <a:srgbClr val="000000"/>
              </a:buClr>
              <a:buSzPts val="1650"/>
              <a:buFont typeface="Wingdings" panose="05000000000000000000" pitchFamily="2" charset="2"/>
              <a:buChar char="v"/>
            </a:pPr>
            <a:r>
              <a:rPr lang="es-MX" dirty="0">
                <a:solidFill>
                  <a:srgbClr val="000000"/>
                </a:solidFill>
                <a:latin typeface="Lato"/>
                <a:ea typeface="Calibri"/>
                <a:cs typeface="Calibri"/>
              </a:rPr>
              <a:t>Se establecen “Dueños de Proceso”.  Ver documento de responsabilidad de la alta Dirección</a:t>
            </a:r>
          </a:p>
          <a:p>
            <a:pPr indent="-285750" algn="just">
              <a:buClr>
                <a:srgbClr val="000000"/>
              </a:buClr>
              <a:buSzPts val="1650"/>
              <a:buFont typeface="Wingdings" panose="05000000000000000000" pitchFamily="2" charset="2"/>
              <a:buChar char="v"/>
            </a:pPr>
            <a:endParaRPr lang="es-MX" dirty="0">
              <a:solidFill>
                <a:srgbClr val="000000"/>
              </a:solidFill>
              <a:latin typeface="Lato"/>
              <a:ea typeface="Calibri"/>
              <a:cs typeface="Calibri"/>
            </a:endParaRPr>
          </a:p>
          <a:p>
            <a:pPr indent="-285750" algn="just">
              <a:buClr>
                <a:srgbClr val="000000"/>
              </a:buClr>
              <a:buSzPts val="1650"/>
              <a:buFont typeface="Wingdings" panose="05000000000000000000" pitchFamily="2" charset="2"/>
              <a:buChar char="v"/>
            </a:pPr>
            <a:r>
              <a:rPr lang="es-MX" dirty="0">
                <a:solidFill>
                  <a:srgbClr val="000000"/>
                </a:solidFill>
                <a:latin typeface="Lato"/>
                <a:ea typeface="Calibri"/>
                <a:cs typeface="Calibri"/>
              </a:rPr>
              <a:t>Todas las personas del Instituto conocen su rol en cada uno de los procesos y saben cómo contribuyen a alcanzar los objetivos del Instituto. </a:t>
            </a:r>
          </a:p>
          <a:p>
            <a:pPr indent="-457200" algn="just">
              <a:buClr>
                <a:srgbClr val="000000"/>
              </a:buClr>
              <a:buSzPts val="1650"/>
              <a:buFont typeface="Wingdings" panose="05000000000000000000" pitchFamily="2" charset="2"/>
              <a:buChar char="v"/>
            </a:pPr>
            <a:endParaRPr lang="es-MX" dirty="0">
              <a:solidFill>
                <a:srgbClr val="000000"/>
              </a:solidFill>
              <a:latin typeface="Lato"/>
              <a:ea typeface="Calibri"/>
              <a:cs typeface="Calibri"/>
            </a:endParaRPr>
          </a:p>
          <a:p>
            <a:pPr indent="-285750" algn="just">
              <a:buClr>
                <a:srgbClr val="000000"/>
              </a:buClr>
              <a:buSzPts val="1650"/>
              <a:buFont typeface="Wingdings" panose="05000000000000000000" pitchFamily="2" charset="2"/>
              <a:buChar char="v"/>
            </a:pPr>
            <a:r>
              <a:rPr lang="es-MX" dirty="0">
                <a:solidFill>
                  <a:srgbClr val="000000"/>
                </a:solidFill>
                <a:latin typeface="Lato"/>
                <a:ea typeface="Calibri"/>
                <a:cs typeface="Calibri"/>
              </a:rPr>
              <a:t>Permite la optimización del uso de los recursos, y en consecuencia, una reducción y optimización de los costos operativos y de gestión.</a:t>
            </a:r>
          </a:p>
          <a:p>
            <a:pPr indent="-285750" algn="just">
              <a:buClr>
                <a:srgbClr val="000000"/>
              </a:buClr>
              <a:buSzPts val="1650"/>
              <a:buFont typeface="Wingdings" panose="05000000000000000000" pitchFamily="2" charset="2"/>
              <a:buChar char="v"/>
            </a:pPr>
            <a:endParaRPr lang="es-MX" dirty="0">
              <a:solidFill>
                <a:srgbClr val="000000"/>
              </a:solidFill>
              <a:latin typeface="Lato"/>
              <a:ea typeface="Calibri"/>
              <a:cs typeface="Calibri"/>
            </a:endParaRPr>
          </a:p>
          <a:p>
            <a:pPr indent="-285750" algn="just">
              <a:buClr>
                <a:srgbClr val="000000"/>
              </a:buClr>
              <a:buSzPts val="1650"/>
              <a:buFont typeface="Wingdings" panose="05000000000000000000" pitchFamily="2" charset="2"/>
              <a:buChar char="v"/>
            </a:pPr>
            <a:r>
              <a:rPr lang="es-MX" dirty="0">
                <a:solidFill>
                  <a:srgbClr val="000000"/>
                </a:solidFill>
                <a:latin typeface="Lato"/>
                <a:ea typeface="Calibri"/>
                <a:cs typeface="Calibri"/>
              </a:rPr>
              <a:t>Entre las medidas que se analizan es muy importante el grado de satisfacción de la Ciudadanía por lo tanto el Instituto se orienta así a satisfacer estas necesidades.</a:t>
            </a:r>
          </a:p>
        </p:txBody>
      </p:sp>
      <p:sp>
        <p:nvSpPr>
          <p:cNvPr id="5" name="Título 1">
            <a:extLst>
              <a:ext uri="{FF2B5EF4-FFF2-40B4-BE49-F238E27FC236}">
                <a16:creationId xmlns:a16="http://schemas.microsoft.com/office/drawing/2014/main" id="{AECA2CD0-CAA0-4E25-8774-9E89E3446609}"/>
              </a:ext>
            </a:extLst>
          </p:cNvPr>
          <p:cNvSpPr txBox="1">
            <a:spLocks/>
          </p:cNvSpPr>
          <p:nvPr/>
        </p:nvSpPr>
        <p:spPr>
          <a:xfrm>
            <a:off x="2228417" y="110643"/>
            <a:ext cx="5203742" cy="569841"/>
          </a:xfrm>
          <a:prstGeom prst="rect">
            <a:avLst/>
          </a:prstGeom>
        </p:spPr>
        <p:txBody>
          <a:bodyPr vert="horz" rtlCol="0" anchor="ctr">
            <a:norm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2500" dirty="0" smtClean="0">
                <a:solidFill>
                  <a:schemeClr val="bg1"/>
                </a:solidFill>
                <a:latin typeface="Lato"/>
              </a:rPr>
              <a:t>Enfoque a Procesos  </a:t>
            </a:r>
            <a:r>
              <a:rPr lang="es-MX" sz="2500" dirty="0">
                <a:solidFill>
                  <a:schemeClr val="bg1"/>
                </a:solidFill>
                <a:latin typeface="Lato"/>
              </a:rPr>
              <a:t>Beneficios</a:t>
            </a:r>
          </a:p>
        </p:txBody>
      </p:sp>
    </p:spTree>
    <p:extLst>
      <p:ext uri="{BB962C8B-B14F-4D97-AF65-F5344CB8AC3E}">
        <p14:creationId xmlns:p14="http://schemas.microsoft.com/office/powerpoint/2010/main" val="29182225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F3718FE-13C1-42D0-BDA9-BC77C44D2846}"/>
              </a:ext>
            </a:extLst>
          </p:cNvPr>
          <p:cNvSpPr>
            <a:spLocks noGrp="1"/>
          </p:cNvSpPr>
          <p:nvPr>
            <p:ph idx="4294967295"/>
          </p:nvPr>
        </p:nvSpPr>
        <p:spPr>
          <a:xfrm>
            <a:off x="227040" y="1151989"/>
            <a:ext cx="11391253" cy="3622030"/>
          </a:xfrm>
          <a:prstGeom prst="rect">
            <a:avLst/>
          </a:prstGeom>
        </p:spPr>
        <p:txBody>
          <a:bodyPr>
            <a:normAutofit fontScale="92500" lnSpcReduction="20000"/>
          </a:bodyPr>
          <a:lstStyle/>
          <a:p>
            <a:pPr marL="109728" indent="0" algn="just">
              <a:buNone/>
            </a:pPr>
            <a:r>
              <a:rPr lang="es-MX" sz="1900" b="1" dirty="0">
                <a:solidFill>
                  <a:srgbClr val="0070C0"/>
                </a:solidFill>
                <a:effectLst>
                  <a:outerShdw blurRad="50800" dist="38100" dir="2700000" algn="tl" rotWithShape="0">
                    <a:prstClr val="black">
                      <a:alpha val="40000"/>
                    </a:prstClr>
                  </a:outerShdw>
                </a:effectLst>
                <a:latin typeface="Lato"/>
                <a:ea typeface="Calibri"/>
                <a:cs typeface="Calibri"/>
              </a:rPr>
              <a:t>Procesos estratégicos o de </a:t>
            </a:r>
            <a:r>
              <a:rPr lang="es-MX" sz="1900" b="1" dirty="0" smtClean="0">
                <a:solidFill>
                  <a:srgbClr val="0070C0"/>
                </a:solidFill>
                <a:effectLst>
                  <a:outerShdw blurRad="50800" dist="38100" dir="2700000" algn="tl" rotWithShape="0">
                    <a:prstClr val="black">
                      <a:alpha val="40000"/>
                    </a:prstClr>
                  </a:outerShdw>
                </a:effectLst>
                <a:latin typeface="Lato"/>
                <a:ea typeface="Calibri"/>
                <a:cs typeface="Calibri"/>
              </a:rPr>
              <a:t>planificación.</a:t>
            </a:r>
          </a:p>
          <a:p>
            <a:pPr marL="109728" indent="0" algn="just">
              <a:buNone/>
            </a:pPr>
            <a:endParaRPr lang="es-MX" sz="1800" b="1" dirty="0">
              <a:solidFill>
                <a:srgbClr val="0070C0"/>
              </a:solidFill>
              <a:effectLst>
                <a:outerShdw blurRad="50800" dist="38100" dir="2700000" algn="tl" rotWithShape="0">
                  <a:prstClr val="black">
                    <a:alpha val="40000"/>
                  </a:prstClr>
                </a:outerShdw>
              </a:effectLst>
              <a:latin typeface="Lato"/>
              <a:ea typeface="Calibri"/>
              <a:cs typeface="Calibri"/>
            </a:endParaRPr>
          </a:p>
          <a:p>
            <a:pPr marL="0" lvl="1" indent="-285750" algn="just" defTabSz="457200">
              <a:buClr>
                <a:srgbClr val="000000"/>
              </a:buClr>
              <a:buSzPts val="1650"/>
              <a:buFont typeface="Wingdings" panose="05000000000000000000" pitchFamily="2" charset="2"/>
              <a:buChar char="v"/>
            </a:pPr>
            <a:r>
              <a:rPr lang="es-MX" sz="1900" dirty="0">
                <a:solidFill>
                  <a:srgbClr val="000000"/>
                </a:solidFill>
                <a:latin typeface="Lato"/>
                <a:ea typeface="Calibri"/>
                <a:cs typeface="Calibri"/>
              </a:rPr>
              <a:t>Son llevados a cabo por la alta dirección del Instituto y son generalmente a largo plazo o relacionados con la gestión de la organización. </a:t>
            </a:r>
          </a:p>
          <a:p>
            <a:pPr algn="just"/>
            <a:endParaRPr lang="es-MX" sz="1900" b="1" u="sng" dirty="0">
              <a:latin typeface="Lato"/>
            </a:endParaRPr>
          </a:p>
          <a:p>
            <a:pPr marL="109728" indent="0" algn="just">
              <a:buNone/>
            </a:pPr>
            <a:r>
              <a:rPr lang="es-MX" sz="1900" b="1" dirty="0">
                <a:solidFill>
                  <a:srgbClr val="0070C0"/>
                </a:solidFill>
                <a:effectLst>
                  <a:outerShdw blurRad="50800" dist="38100" dir="2700000" algn="tl" rotWithShape="0">
                    <a:prstClr val="black">
                      <a:alpha val="40000"/>
                    </a:prstClr>
                  </a:outerShdw>
                </a:effectLst>
                <a:latin typeface="Lato"/>
                <a:ea typeface="Calibri"/>
                <a:cs typeface="Calibri"/>
              </a:rPr>
              <a:t>Procesos operativos, sustantivos, clave o </a:t>
            </a:r>
            <a:r>
              <a:rPr lang="es-MX" sz="1900" b="1" dirty="0" smtClean="0">
                <a:solidFill>
                  <a:srgbClr val="0070C0"/>
                </a:solidFill>
                <a:effectLst>
                  <a:outerShdw blurRad="50800" dist="38100" dir="2700000" algn="tl" rotWithShape="0">
                    <a:prstClr val="black">
                      <a:alpha val="40000"/>
                    </a:prstClr>
                  </a:outerShdw>
                </a:effectLst>
                <a:latin typeface="Lato"/>
                <a:ea typeface="Calibri"/>
                <a:cs typeface="Calibri"/>
              </a:rPr>
              <a:t>misionales</a:t>
            </a:r>
          </a:p>
          <a:p>
            <a:pPr marL="109728" indent="0" algn="just">
              <a:buNone/>
            </a:pPr>
            <a:endParaRPr lang="es-MX" sz="1800" b="1" dirty="0">
              <a:solidFill>
                <a:srgbClr val="0070C0"/>
              </a:solidFill>
              <a:effectLst>
                <a:outerShdw blurRad="50800" dist="38100" dir="2700000" algn="tl" rotWithShape="0">
                  <a:prstClr val="black">
                    <a:alpha val="40000"/>
                  </a:prstClr>
                </a:outerShdw>
              </a:effectLst>
              <a:latin typeface="Lato"/>
              <a:ea typeface="Calibri"/>
              <a:cs typeface="Calibri"/>
            </a:endParaRPr>
          </a:p>
          <a:p>
            <a:pPr marL="0" lvl="1" indent="-285750" algn="just" defTabSz="457200">
              <a:buClr>
                <a:srgbClr val="000000"/>
              </a:buClr>
              <a:buSzPts val="1650"/>
              <a:buFont typeface="Wingdings" panose="05000000000000000000" pitchFamily="2" charset="2"/>
              <a:buChar char="v"/>
            </a:pPr>
            <a:r>
              <a:rPr lang="es-MX" sz="1900" dirty="0">
                <a:solidFill>
                  <a:srgbClr val="000000"/>
                </a:solidFill>
                <a:latin typeface="Lato"/>
                <a:ea typeface="Calibri"/>
                <a:cs typeface="Calibri"/>
              </a:rPr>
              <a:t>Son aquellos que generan valor y están relacionados con la realización del servicio e inciden directamente en la satisfacción del Ciudadano.</a:t>
            </a:r>
          </a:p>
          <a:p>
            <a:pPr algn="just"/>
            <a:endParaRPr lang="es-MX" sz="1900" dirty="0">
              <a:latin typeface="Lato"/>
            </a:endParaRPr>
          </a:p>
          <a:p>
            <a:pPr marL="109728" indent="0" algn="just">
              <a:buNone/>
            </a:pPr>
            <a:r>
              <a:rPr lang="es-MX" sz="1900" b="1" dirty="0">
                <a:solidFill>
                  <a:srgbClr val="0070C0"/>
                </a:solidFill>
                <a:effectLst>
                  <a:outerShdw blurRad="50800" dist="38100" dir="2700000" algn="tl" rotWithShape="0">
                    <a:prstClr val="black">
                      <a:alpha val="40000"/>
                    </a:prstClr>
                  </a:outerShdw>
                </a:effectLst>
                <a:latin typeface="Lato"/>
                <a:ea typeface="Calibri"/>
                <a:cs typeface="Calibri"/>
              </a:rPr>
              <a:t>Procesos de apoyo o </a:t>
            </a:r>
            <a:r>
              <a:rPr lang="es-MX" sz="1900" b="1" dirty="0" smtClean="0">
                <a:solidFill>
                  <a:srgbClr val="0070C0"/>
                </a:solidFill>
                <a:effectLst>
                  <a:outerShdw blurRad="50800" dist="38100" dir="2700000" algn="tl" rotWithShape="0">
                    <a:prstClr val="black">
                      <a:alpha val="40000"/>
                    </a:prstClr>
                  </a:outerShdw>
                </a:effectLst>
                <a:latin typeface="Lato"/>
                <a:ea typeface="Calibri"/>
                <a:cs typeface="Calibri"/>
              </a:rPr>
              <a:t>soporte</a:t>
            </a:r>
          </a:p>
          <a:p>
            <a:pPr marL="109728" indent="0" algn="just">
              <a:buNone/>
            </a:pPr>
            <a:endParaRPr lang="es-MX" sz="1800" b="1" dirty="0">
              <a:solidFill>
                <a:srgbClr val="0070C0"/>
              </a:solidFill>
              <a:effectLst>
                <a:outerShdw blurRad="50800" dist="38100" dir="2700000" algn="tl" rotWithShape="0">
                  <a:prstClr val="black">
                    <a:alpha val="40000"/>
                  </a:prstClr>
                </a:outerShdw>
              </a:effectLst>
              <a:latin typeface="Lato"/>
              <a:ea typeface="Calibri"/>
              <a:cs typeface="Calibri"/>
            </a:endParaRPr>
          </a:p>
          <a:p>
            <a:pPr marL="0" lvl="1" indent="-285750" algn="just" defTabSz="457200">
              <a:buClr>
                <a:srgbClr val="000000"/>
              </a:buClr>
              <a:buSzPts val="1650"/>
              <a:buFont typeface="Wingdings" panose="05000000000000000000" pitchFamily="2" charset="2"/>
              <a:buChar char="v"/>
            </a:pPr>
            <a:r>
              <a:rPr lang="es-MX" sz="1900" dirty="0">
                <a:solidFill>
                  <a:srgbClr val="000000"/>
                </a:solidFill>
                <a:latin typeface="Lato"/>
                <a:ea typeface="Calibri"/>
                <a:cs typeface="Calibri"/>
              </a:rPr>
              <a:t>Son aquellos que  ayudan a que los procesos operativos operen adecuadamente.</a:t>
            </a:r>
          </a:p>
        </p:txBody>
      </p:sp>
      <p:sp>
        <p:nvSpPr>
          <p:cNvPr id="2" name="Título 1">
            <a:extLst>
              <a:ext uri="{FF2B5EF4-FFF2-40B4-BE49-F238E27FC236}">
                <a16:creationId xmlns:a16="http://schemas.microsoft.com/office/drawing/2014/main" id="{BF2AD6FB-68AD-46F3-AC36-4D52FAFF1128}"/>
              </a:ext>
            </a:extLst>
          </p:cNvPr>
          <p:cNvSpPr>
            <a:spLocks noGrp="1"/>
          </p:cNvSpPr>
          <p:nvPr>
            <p:ph type="title" idx="4294967295"/>
          </p:nvPr>
        </p:nvSpPr>
        <p:spPr>
          <a:xfrm>
            <a:off x="2307264" y="120896"/>
            <a:ext cx="5592727" cy="559588"/>
          </a:xfrm>
          <a:prstGeom prst="rect">
            <a:avLst/>
          </a:prstGeom>
        </p:spPr>
        <p:txBody>
          <a:bodyPr/>
          <a:lstStyle/>
          <a:p>
            <a:r>
              <a:rPr lang="es-MX" sz="3000" dirty="0">
                <a:solidFill>
                  <a:schemeClr val="bg1"/>
                </a:solidFill>
                <a:latin typeface="Lato"/>
              </a:rPr>
              <a:t>Clasificación de los procesos</a:t>
            </a:r>
          </a:p>
        </p:txBody>
      </p:sp>
    </p:spTree>
    <p:extLst>
      <p:ext uri="{BB962C8B-B14F-4D97-AF65-F5344CB8AC3E}">
        <p14:creationId xmlns:p14="http://schemas.microsoft.com/office/powerpoint/2010/main" val="54777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251944"/>
          </a:xfrm>
          <a:prstGeom prst="rect">
            <a:avLst/>
          </a:prstGeom>
          <a:no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94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2200940" y="93812"/>
            <a:ext cx="9786294" cy="803046"/>
          </a:xfrm>
          <a:prstGeom prst="rect">
            <a:avLst/>
          </a:prstGeom>
        </p:spPr>
        <p:txBody>
          <a:bodyPr/>
          <a:lstStyle/>
          <a:p>
            <a:r>
              <a:rPr lang="es-MX" sz="3000" b="1" dirty="0" smtClean="0">
                <a:solidFill>
                  <a:schemeClr val="bg1"/>
                </a:solidFill>
                <a:latin typeface="Lato"/>
              </a:rPr>
              <a:t>Ficha </a:t>
            </a:r>
            <a:r>
              <a:rPr lang="es-MX" sz="3000" b="1" dirty="0">
                <a:solidFill>
                  <a:schemeClr val="bg1"/>
                </a:solidFill>
                <a:latin typeface="Lato"/>
              </a:rPr>
              <a:t>de </a:t>
            </a:r>
            <a:r>
              <a:rPr lang="es-MX" sz="3000" b="1" dirty="0" smtClean="0">
                <a:solidFill>
                  <a:schemeClr val="bg1"/>
                </a:solidFill>
                <a:latin typeface="Lato"/>
              </a:rPr>
              <a:t>Proceso Sustantivo - Entrevista</a:t>
            </a:r>
            <a:endParaRPr lang="es-MX" sz="3000" b="1" dirty="0">
              <a:solidFill>
                <a:schemeClr val="bg1"/>
              </a:solidFill>
              <a:latin typeface="Lato"/>
            </a:endParaRPr>
          </a:p>
        </p:txBody>
      </p:sp>
      <p:pic>
        <p:nvPicPr>
          <p:cNvPr id="3" name="Imagen 2"/>
          <p:cNvPicPr>
            <a:picLocks noChangeAspect="1"/>
          </p:cNvPicPr>
          <p:nvPr/>
        </p:nvPicPr>
        <p:blipFill rotWithShape="1">
          <a:blip r:embed="rId3">
            <a:extLst>
              <a:ext uri="{28A0092B-C50C-407E-A947-70E740481C1C}">
                <a14:useLocalDpi xmlns:a14="http://schemas.microsoft.com/office/drawing/2010/main" val="0"/>
              </a:ext>
            </a:extLst>
          </a:blip>
          <a:srcRect t="10291"/>
          <a:stretch/>
        </p:blipFill>
        <p:spPr>
          <a:xfrm>
            <a:off x="-14748" y="737420"/>
            <a:ext cx="12192000" cy="5574890"/>
          </a:xfrm>
          <a:prstGeom prst="rect">
            <a:avLst/>
          </a:prstGeom>
        </p:spPr>
      </p:pic>
    </p:spTree>
    <p:extLst>
      <p:ext uri="{BB962C8B-B14F-4D97-AF65-F5344CB8AC3E}">
        <p14:creationId xmlns:p14="http://schemas.microsoft.com/office/powerpoint/2010/main" val="2926087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205280" y="104444"/>
            <a:ext cx="7300228" cy="80304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3000" dirty="0" smtClean="0">
                <a:solidFill>
                  <a:schemeClr val="bg1"/>
                </a:solidFill>
                <a:latin typeface="Lato"/>
              </a:rPr>
              <a:t>Ficha de Proceso Sustantivo - Trámite</a:t>
            </a:r>
            <a:endParaRPr lang="es-MX" sz="3000" dirty="0">
              <a:solidFill>
                <a:schemeClr val="bg1"/>
              </a:solidFill>
              <a:latin typeface="Lato"/>
            </a:endParaRPr>
          </a:p>
        </p:txBody>
      </p:sp>
      <p:pic>
        <p:nvPicPr>
          <p:cNvPr id="3" name="Imagen 2"/>
          <p:cNvPicPr>
            <a:picLocks noChangeAspect="1"/>
          </p:cNvPicPr>
          <p:nvPr/>
        </p:nvPicPr>
        <p:blipFill rotWithShape="1">
          <a:blip r:embed="rId2">
            <a:extLst>
              <a:ext uri="{28A0092B-C50C-407E-A947-70E740481C1C}">
                <a14:useLocalDpi xmlns:a14="http://schemas.microsoft.com/office/drawing/2010/main" val="0"/>
              </a:ext>
            </a:extLst>
          </a:blip>
          <a:srcRect t="9799"/>
          <a:stretch/>
        </p:blipFill>
        <p:spPr>
          <a:xfrm>
            <a:off x="0" y="722672"/>
            <a:ext cx="12192000" cy="5584656"/>
          </a:xfrm>
          <a:prstGeom prst="rect">
            <a:avLst/>
          </a:prstGeom>
        </p:spPr>
      </p:pic>
    </p:spTree>
    <p:extLst>
      <p:ext uri="{BB962C8B-B14F-4D97-AF65-F5344CB8AC3E}">
        <p14:creationId xmlns:p14="http://schemas.microsoft.com/office/powerpoint/2010/main" val="237778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375400" y="125709"/>
            <a:ext cx="10692014" cy="80304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2400" dirty="0" smtClean="0">
                <a:solidFill>
                  <a:schemeClr val="bg1"/>
                </a:solidFill>
                <a:latin typeface="Lato"/>
              </a:rPr>
              <a:t>Ficha de Proceso Sustantivo – Trasferencia de Información</a:t>
            </a:r>
            <a:endParaRPr lang="es-MX" sz="2400" dirty="0">
              <a:solidFill>
                <a:schemeClr val="bg1"/>
              </a:solidFill>
              <a:latin typeface="Lato"/>
            </a:endParaRPr>
          </a:p>
        </p:txBody>
      </p:sp>
      <p:pic>
        <p:nvPicPr>
          <p:cNvPr id="4" name="Imagen 3"/>
          <p:cNvPicPr>
            <a:picLocks noChangeAspect="1"/>
          </p:cNvPicPr>
          <p:nvPr/>
        </p:nvPicPr>
        <p:blipFill rotWithShape="1">
          <a:blip r:embed="rId2">
            <a:extLst>
              <a:ext uri="{28A0092B-C50C-407E-A947-70E740481C1C}">
                <a14:useLocalDpi xmlns:a14="http://schemas.microsoft.com/office/drawing/2010/main" val="0"/>
              </a:ext>
            </a:extLst>
          </a:blip>
          <a:srcRect t="8189"/>
          <a:stretch/>
        </p:blipFill>
        <p:spPr>
          <a:xfrm>
            <a:off x="0" y="663677"/>
            <a:ext cx="12192000" cy="5613695"/>
          </a:xfrm>
          <a:prstGeom prst="rect">
            <a:avLst/>
          </a:prstGeom>
        </p:spPr>
      </p:pic>
    </p:spTree>
    <p:extLst>
      <p:ext uri="{BB962C8B-B14F-4D97-AF65-F5344CB8AC3E}">
        <p14:creationId xmlns:p14="http://schemas.microsoft.com/office/powerpoint/2010/main" val="75072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2269075" y="125273"/>
            <a:ext cx="8097669" cy="57647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3000" dirty="0" smtClean="0">
                <a:solidFill>
                  <a:schemeClr val="bg1"/>
                </a:solidFill>
                <a:latin typeface="Lato"/>
              </a:rPr>
              <a:t>Ficha de Proceso Sustantivo – Conciliación</a:t>
            </a:r>
            <a:endParaRPr lang="es-MX" sz="3000" dirty="0">
              <a:solidFill>
                <a:schemeClr val="bg1"/>
              </a:solidFill>
              <a:latin typeface="Lato"/>
            </a:endParaRPr>
          </a:p>
        </p:txBody>
      </p:sp>
      <p:pic>
        <p:nvPicPr>
          <p:cNvPr id="4" name="Imagen 3"/>
          <p:cNvPicPr>
            <a:picLocks noChangeAspect="1"/>
          </p:cNvPicPr>
          <p:nvPr/>
        </p:nvPicPr>
        <p:blipFill rotWithShape="1">
          <a:blip r:embed="rId2">
            <a:extLst>
              <a:ext uri="{28A0092B-C50C-407E-A947-70E740481C1C}">
                <a14:useLocalDpi xmlns:a14="http://schemas.microsoft.com/office/drawing/2010/main" val="0"/>
              </a:ext>
            </a:extLst>
          </a:blip>
          <a:srcRect t="8913"/>
          <a:stretch/>
        </p:blipFill>
        <p:spPr>
          <a:xfrm>
            <a:off x="0" y="701749"/>
            <a:ext cx="12191999" cy="5589913"/>
          </a:xfrm>
          <a:prstGeom prst="rect">
            <a:avLst/>
          </a:prstGeom>
        </p:spPr>
      </p:pic>
    </p:spTree>
    <p:extLst>
      <p:ext uri="{BB962C8B-B14F-4D97-AF65-F5344CB8AC3E}">
        <p14:creationId xmlns:p14="http://schemas.microsoft.com/office/powerpoint/2010/main" val="345168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2243469" y="104009"/>
            <a:ext cx="8708065" cy="80304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3000" dirty="0" smtClean="0">
                <a:solidFill>
                  <a:schemeClr val="bg1"/>
                </a:solidFill>
                <a:latin typeface="Lato"/>
              </a:rPr>
              <a:t>Ficha de Proceso Sustantivo – Entrega de CPV</a:t>
            </a:r>
            <a:endParaRPr lang="es-MX" sz="3000" dirty="0">
              <a:solidFill>
                <a:schemeClr val="bg1"/>
              </a:solidFill>
              <a:latin typeface="Lato"/>
            </a:endParaRPr>
          </a:p>
        </p:txBody>
      </p:sp>
      <p:pic>
        <p:nvPicPr>
          <p:cNvPr id="4" name="Imagen 3"/>
          <p:cNvPicPr>
            <a:picLocks noChangeAspect="1"/>
          </p:cNvPicPr>
          <p:nvPr/>
        </p:nvPicPr>
        <p:blipFill rotWithShape="1">
          <a:blip r:embed="rId2">
            <a:extLst>
              <a:ext uri="{28A0092B-C50C-407E-A947-70E740481C1C}">
                <a14:useLocalDpi xmlns:a14="http://schemas.microsoft.com/office/drawing/2010/main" val="0"/>
              </a:ext>
            </a:extLst>
          </a:blip>
          <a:srcRect t="8913"/>
          <a:stretch/>
        </p:blipFill>
        <p:spPr>
          <a:xfrm>
            <a:off x="0" y="663677"/>
            <a:ext cx="12192000" cy="5627985"/>
          </a:xfrm>
          <a:prstGeom prst="rect">
            <a:avLst/>
          </a:prstGeom>
        </p:spPr>
      </p:pic>
    </p:spTree>
    <p:extLst>
      <p:ext uri="{BB962C8B-B14F-4D97-AF65-F5344CB8AC3E}">
        <p14:creationId xmlns:p14="http://schemas.microsoft.com/office/powerpoint/2010/main" val="3406004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179674" y="158499"/>
            <a:ext cx="9335386" cy="80304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2000" dirty="0" smtClean="0">
                <a:solidFill>
                  <a:schemeClr val="bg1"/>
                </a:solidFill>
                <a:latin typeface="Lato"/>
              </a:rPr>
              <a:t>Ficha de Proceso de Soporte – Reclutamiento y Selección de Personal</a:t>
            </a:r>
            <a:endParaRPr lang="es-MX" sz="2000" dirty="0">
              <a:solidFill>
                <a:schemeClr val="bg1"/>
              </a:solidFill>
              <a:latin typeface="Lato"/>
            </a:endParaRPr>
          </a:p>
        </p:txBody>
      </p:sp>
      <p:pic>
        <p:nvPicPr>
          <p:cNvPr id="3" name="Imagen 2"/>
          <p:cNvPicPr>
            <a:picLocks noChangeAspect="1"/>
          </p:cNvPicPr>
          <p:nvPr/>
        </p:nvPicPr>
        <p:blipFill rotWithShape="1">
          <a:blip r:embed="rId2">
            <a:extLst>
              <a:ext uri="{28A0092B-C50C-407E-A947-70E740481C1C}">
                <a14:useLocalDpi xmlns:a14="http://schemas.microsoft.com/office/drawing/2010/main" val="0"/>
              </a:ext>
            </a:extLst>
          </a:blip>
          <a:srcRect t="8049"/>
          <a:stretch/>
        </p:blipFill>
        <p:spPr>
          <a:xfrm>
            <a:off x="0" y="663678"/>
            <a:ext cx="12192000" cy="5604168"/>
          </a:xfrm>
          <a:prstGeom prst="rect">
            <a:avLst/>
          </a:prstGeom>
        </p:spPr>
      </p:pic>
    </p:spTree>
    <p:extLst>
      <p:ext uri="{BB962C8B-B14F-4D97-AF65-F5344CB8AC3E}">
        <p14:creationId xmlns:p14="http://schemas.microsoft.com/office/powerpoint/2010/main" val="1919695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a:xfrm>
            <a:off x="2184014" y="104009"/>
            <a:ext cx="8467944" cy="80304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3000" dirty="0" smtClean="0">
                <a:solidFill>
                  <a:schemeClr val="bg1"/>
                </a:solidFill>
                <a:latin typeface="Lato"/>
              </a:rPr>
              <a:t>Ficha de Proceso de Soporte – Capacitación</a:t>
            </a:r>
            <a:endParaRPr lang="es-MX" sz="3000" dirty="0">
              <a:solidFill>
                <a:schemeClr val="bg1"/>
              </a:solidFill>
              <a:latin typeface="Lato"/>
            </a:endParaRPr>
          </a:p>
        </p:txBody>
      </p:sp>
      <p:pic>
        <p:nvPicPr>
          <p:cNvPr id="2" name="Imagen 1"/>
          <p:cNvPicPr>
            <a:picLocks noChangeAspect="1"/>
          </p:cNvPicPr>
          <p:nvPr/>
        </p:nvPicPr>
        <p:blipFill rotWithShape="1">
          <a:blip r:embed="rId2">
            <a:extLst>
              <a:ext uri="{28A0092B-C50C-407E-A947-70E740481C1C}">
                <a14:useLocalDpi xmlns:a14="http://schemas.microsoft.com/office/drawing/2010/main" val="0"/>
              </a:ext>
            </a:extLst>
          </a:blip>
          <a:srcRect t="8448"/>
          <a:stretch/>
        </p:blipFill>
        <p:spPr>
          <a:xfrm>
            <a:off x="0" y="693174"/>
            <a:ext cx="12191999" cy="5584198"/>
          </a:xfrm>
          <a:prstGeom prst="rect">
            <a:avLst/>
          </a:prstGeom>
        </p:spPr>
      </p:pic>
    </p:spTree>
    <p:extLst>
      <p:ext uri="{BB962C8B-B14F-4D97-AF65-F5344CB8AC3E}">
        <p14:creationId xmlns:p14="http://schemas.microsoft.com/office/powerpoint/2010/main" val="414848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254898" y="131620"/>
            <a:ext cx="9824807" cy="80304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2800" dirty="0" smtClean="0">
                <a:solidFill>
                  <a:schemeClr val="bg1"/>
                </a:solidFill>
                <a:latin typeface="Lato"/>
              </a:rPr>
              <a:t>Ficha de Proceso de Soporte – Desempeño del Personal</a:t>
            </a:r>
            <a:endParaRPr lang="es-MX" sz="2800" dirty="0">
              <a:solidFill>
                <a:schemeClr val="bg1"/>
              </a:solidFill>
              <a:latin typeface="Lato"/>
            </a:endParaRPr>
          </a:p>
        </p:txBody>
      </p:sp>
      <p:pic>
        <p:nvPicPr>
          <p:cNvPr id="3" name="Imagen 2"/>
          <p:cNvPicPr>
            <a:picLocks noChangeAspect="1"/>
          </p:cNvPicPr>
          <p:nvPr/>
        </p:nvPicPr>
        <p:blipFill rotWithShape="1">
          <a:blip r:embed="rId2">
            <a:extLst>
              <a:ext uri="{28A0092B-C50C-407E-A947-70E740481C1C}">
                <a14:useLocalDpi xmlns:a14="http://schemas.microsoft.com/office/drawing/2010/main" val="0"/>
              </a:ext>
            </a:extLst>
          </a:blip>
          <a:srcRect t="6780"/>
          <a:stretch/>
        </p:blipFill>
        <p:spPr>
          <a:xfrm>
            <a:off x="0" y="663677"/>
            <a:ext cx="12192000" cy="5623222"/>
          </a:xfrm>
          <a:prstGeom prst="rect">
            <a:avLst/>
          </a:prstGeom>
        </p:spPr>
      </p:pic>
    </p:spTree>
    <p:extLst>
      <p:ext uri="{BB962C8B-B14F-4D97-AF65-F5344CB8AC3E}">
        <p14:creationId xmlns:p14="http://schemas.microsoft.com/office/powerpoint/2010/main" val="2899989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206771" y="138330"/>
            <a:ext cx="9311461" cy="80304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3000" dirty="0" smtClean="0">
                <a:solidFill>
                  <a:schemeClr val="bg1"/>
                </a:solidFill>
                <a:latin typeface="Lato"/>
              </a:rPr>
              <a:t>Ficha de Proceso de Soporte – Soporte Técnico</a:t>
            </a:r>
            <a:endParaRPr lang="es-MX" sz="3000" dirty="0">
              <a:solidFill>
                <a:schemeClr val="bg1"/>
              </a:solidFill>
              <a:latin typeface="Lato"/>
            </a:endParaRPr>
          </a:p>
        </p:txBody>
      </p:sp>
      <p:pic>
        <p:nvPicPr>
          <p:cNvPr id="3" name="Imagen 2"/>
          <p:cNvPicPr>
            <a:picLocks noChangeAspect="1"/>
          </p:cNvPicPr>
          <p:nvPr/>
        </p:nvPicPr>
        <p:blipFill rotWithShape="1">
          <a:blip r:embed="rId2">
            <a:extLst>
              <a:ext uri="{28A0092B-C50C-407E-A947-70E740481C1C}">
                <a14:useLocalDpi xmlns:a14="http://schemas.microsoft.com/office/drawing/2010/main" val="0"/>
              </a:ext>
            </a:extLst>
          </a:blip>
          <a:srcRect t="10320"/>
          <a:stretch/>
        </p:blipFill>
        <p:spPr>
          <a:xfrm>
            <a:off x="0" y="693174"/>
            <a:ext cx="12192000" cy="5569909"/>
          </a:xfrm>
          <a:prstGeom prst="rect">
            <a:avLst/>
          </a:prstGeom>
        </p:spPr>
      </p:pic>
    </p:spTree>
    <p:extLst>
      <p:ext uri="{BB962C8B-B14F-4D97-AF65-F5344CB8AC3E}">
        <p14:creationId xmlns:p14="http://schemas.microsoft.com/office/powerpoint/2010/main" val="1139290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2222814" y="138331"/>
            <a:ext cx="9696470" cy="803046"/>
          </a:xfrm>
          <a:prstGeom prst="rect">
            <a:avLst/>
          </a:prstGeom>
        </p:spPr>
        <p:txBody>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defTabSz="914400"/>
            <a:r>
              <a:rPr lang="es-MX" sz="2400" dirty="0" smtClean="0">
                <a:solidFill>
                  <a:schemeClr val="bg1"/>
                </a:solidFill>
                <a:latin typeface="Lato"/>
              </a:rPr>
              <a:t>Ficha de Proceso de Soporte – Suministro de Bienes y Servicios</a:t>
            </a:r>
            <a:endParaRPr lang="es-MX" sz="2400" dirty="0">
              <a:solidFill>
                <a:schemeClr val="bg1"/>
              </a:solidFill>
              <a:latin typeface="Lato"/>
            </a:endParaRPr>
          </a:p>
        </p:txBody>
      </p:sp>
      <p:pic>
        <p:nvPicPr>
          <p:cNvPr id="3" name="Imagen 2"/>
          <p:cNvPicPr>
            <a:picLocks noChangeAspect="1"/>
          </p:cNvPicPr>
          <p:nvPr/>
        </p:nvPicPr>
        <p:blipFill rotWithShape="1">
          <a:blip r:embed="rId2">
            <a:extLst>
              <a:ext uri="{28A0092B-C50C-407E-A947-70E740481C1C}">
                <a14:useLocalDpi xmlns:a14="http://schemas.microsoft.com/office/drawing/2010/main" val="0"/>
              </a:ext>
            </a:extLst>
          </a:blip>
          <a:srcRect t="9225"/>
          <a:stretch/>
        </p:blipFill>
        <p:spPr>
          <a:xfrm>
            <a:off x="0" y="678427"/>
            <a:ext cx="12192000" cy="5598946"/>
          </a:xfrm>
          <a:prstGeom prst="rect">
            <a:avLst/>
          </a:prstGeom>
        </p:spPr>
      </p:pic>
    </p:spTree>
    <p:extLst>
      <p:ext uri="{BB962C8B-B14F-4D97-AF65-F5344CB8AC3E}">
        <p14:creationId xmlns:p14="http://schemas.microsoft.com/office/powerpoint/2010/main" val="245766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2176433" y="2060120"/>
            <a:ext cx="8099590" cy="1015663"/>
          </a:xfrm>
          <a:prstGeom prst="rect">
            <a:avLst/>
          </a:prstGeom>
          <a:noFill/>
        </p:spPr>
        <p:txBody>
          <a:bodyPr wrap="none" rtlCol="0">
            <a:spAutoFit/>
          </a:bodyPr>
          <a:lstStyle/>
          <a:p>
            <a:r>
              <a:rPr lang="es-MX" sz="6000" b="1" dirty="0" smtClean="0">
                <a:solidFill>
                  <a:schemeClr val="accent1">
                    <a:lumMod val="50000"/>
                  </a:schemeClr>
                </a:solidFill>
                <a:latin typeface="Footlight MT Light" panose="0204060206030A020304" pitchFamily="18" charset="0"/>
              </a:rPr>
              <a:t>       Dudas, comentarios?</a:t>
            </a:r>
            <a:endParaRPr lang="es-MX" sz="6000" b="1" dirty="0">
              <a:solidFill>
                <a:schemeClr val="accent1">
                  <a:lumMod val="50000"/>
                </a:schemeClr>
              </a:solidFill>
              <a:latin typeface="Footlight MT Light" panose="0204060206030A020304" pitchFamily="18" charset="0"/>
            </a:endParaRPr>
          </a:p>
        </p:txBody>
      </p:sp>
      <p:pic>
        <p:nvPicPr>
          <p:cNvPr id="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61" y="1117145"/>
            <a:ext cx="2300687" cy="24917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6881" y="4062873"/>
            <a:ext cx="3586785"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1 CuadroTexto"/>
          <p:cNvSpPr txBox="1"/>
          <p:nvPr/>
        </p:nvSpPr>
        <p:spPr>
          <a:xfrm>
            <a:off x="2176432" y="0"/>
            <a:ext cx="10015568" cy="1015663"/>
          </a:xfrm>
          <a:prstGeom prst="rect">
            <a:avLst/>
          </a:prstGeom>
          <a:solidFill>
            <a:schemeClr val="bg1"/>
          </a:solidFill>
        </p:spPr>
        <p:txBody>
          <a:bodyPr wrap="square" rtlCol="0">
            <a:spAutoFit/>
          </a:bodyPr>
          <a:lstStyle/>
          <a:p>
            <a:r>
              <a:rPr lang="es-MX" sz="6000" b="1" dirty="0" smtClean="0">
                <a:solidFill>
                  <a:schemeClr val="accent1">
                    <a:lumMod val="50000"/>
                  </a:schemeClr>
                </a:solidFill>
                <a:latin typeface="Footlight MT Light" panose="0204060206030A020304" pitchFamily="18" charset="0"/>
              </a:rPr>
              <a:t>       </a:t>
            </a:r>
            <a:endParaRPr lang="es-MX" sz="6000" b="1" dirty="0">
              <a:solidFill>
                <a:schemeClr val="accent1">
                  <a:lumMod val="50000"/>
                </a:schemeClr>
              </a:solidFill>
              <a:latin typeface="Footlight MT Light" panose="0204060206030A020304" pitchFamily="18" charset="0"/>
            </a:endParaRPr>
          </a:p>
        </p:txBody>
      </p:sp>
    </p:spTree>
    <p:extLst>
      <p:ext uri="{BB962C8B-B14F-4D97-AF65-F5344CB8AC3E}">
        <p14:creationId xmlns:p14="http://schemas.microsoft.com/office/powerpoint/2010/main" val="29230977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nda 3"/>
          <p:cNvSpPr/>
          <p:nvPr/>
        </p:nvSpPr>
        <p:spPr>
          <a:xfrm>
            <a:off x="886633" y="938463"/>
            <a:ext cx="11038864" cy="5249200"/>
          </a:xfrm>
          <a:prstGeom prst="wave">
            <a:avLst/>
          </a:prstGeom>
          <a:solidFill>
            <a:srgbClr val="F03399"/>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solidFill>
                <a:schemeClr val="bg1"/>
              </a:solidFill>
            </a:endParaRPr>
          </a:p>
        </p:txBody>
      </p:sp>
      <p:sp>
        <p:nvSpPr>
          <p:cNvPr id="5" name="Rectángulo 4"/>
          <p:cNvSpPr/>
          <p:nvPr/>
        </p:nvSpPr>
        <p:spPr>
          <a:xfrm>
            <a:off x="1563050" y="2288401"/>
            <a:ext cx="9975235" cy="4431983"/>
          </a:xfrm>
          <a:prstGeom prst="rect">
            <a:avLst/>
          </a:prstGeom>
        </p:spPr>
        <p:txBody>
          <a:bodyPr wrap="square">
            <a:spAutoFit/>
          </a:bodyPr>
          <a:lstStyle/>
          <a:p>
            <a:r>
              <a:rPr lang="es-MX" sz="2400" b="1" dirty="0">
                <a:solidFill>
                  <a:schemeClr val="bg1"/>
                </a:solidFill>
                <a:latin typeface="Century Gothic" panose="020B0502020202020204" pitchFamily="34" charset="0"/>
                <a:ea typeface="Verdana" panose="020B0604030504040204" pitchFamily="34" charset="0"/>
                <a:cs typeface="Verdana" panose="020B0604030504040204" pitchFamily="34" charset="0"/>
              </a:rPr>
              <a:t>Contacto Coordinación Equipo implementador SGC JLE Puebla</a:t>
            </a:r>
          </a:p>
          <a:p>
            <a:endPar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Clr>
                <a:schemeClr val="bg1"/>
              </a:buClr>
              <a:buFont typeface="Arial" panose="020B0604020202020204" pitchFamily="34" charset="0"/>
              <a:buChar char="•"/>
            </a:pPr>
            <a:r>
              <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rPr>
              <a:t>Ricardo Sánchez Sánchez   	</a:t>
            </a:r>
            <a:r>
              <a:rPr lang="es-MX"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	ricardo.sanchezs@ine.mx</a:t>
            </a:r>
          </a:p>
          <a:p>
            <a:pPr lvl="7">
              <a:buClr>
                <a:schemeClr val="bg1"/>
              </a:buClr>
            </a:pPr>
            <a:r>
              <a:rPr lang="es-MX"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		55 27 73 30 74 </a:t>
            </a:r>
            <a:endPar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lvl="7" indent="-285750">
              <a:buClr>
                <a:schemeClr val="bg1"/>
              </a:buClr>
              <a:buFont typeface="Arial" panose="020B0604020202020204" pitchFamily="34" charset="0"/>
              <a:buChar char="•"/>
            </a:pPr>
            <a:endPar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Clr>
                <a:schemeClr val="bg1"/>
              </a:buClr>
              <a:buFont typeface="Arial" panose="020B0604020202020204" pitchFamily="34" charset="0"/>
              <a:buChar char="•"/>
            </a:pPr>
            <a:r>
              <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rPr>
              <a:t>Daniel </a:t>
            </a:r>
            <a:r>
              <a:rPr lang="es-MX"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Palacios Martínez</a:t>
            </a:r>
            <a:r>
              <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rPr>
              <a:t>	</a:t>
            </a:r>
            <a:r>
              <a:rPr lang="es-MX"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	daniel.palacios@ine.mx</a:t>
            </a:r>
            <a:endPar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lvl="7"/>
            <a:r>
              <a:rPr lang="es-MX"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		55 53 32 37 95</a:t>
            </a:r>
            <a:endPar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lvl="6"/>
            <a:endParaRPr lang="es-MX" b="1" dirty="0" smtClean="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lvl="6"/>
            <a:r>
              <a:rPr lang="es-MX" sz="2400" b="1" dirty="0" smtClean="0">
                <a:solidFill>
                  <a:schemeClr val="bg1"/>
                </a:solidFill>
                <a:latin typeface="Century Gothic" panose="020B0502020202020204" pitchFamily="34" charset="0"/>
                <a:ea typeface="Verdana" panose="020B0604030504040204" pitchFamily="34" charset="0"/>
                <a:cs typeface="Verdana" panose="020B0604030504040204" pitchFamily="34" charset="0"/>
              </a:rPr>
              <a:t>IP </a:t>
            </a:r>
            <a:r>
              <a:rPr lang="es-MX" sz="2400" b="1" dirty="0">
                <a:solidFill>
                  <a:schemeClr val="bg1"/>
                </a:solidFill>
                <a:latin typeface="Century Gothic" panose="020B0502020202020204" pitchFamily="34" charset="0"/>
                <a:ea typeface="Verdana" panose="020B0604030504040204" pitchFamily="34" charset="0"/>
                <a:cs typeface="Verdana" panose="020B0604030504040204" pitchFamily="34" charset="0"/>
              </a:rPr>
              <a:t>350497</a:t>
            </a:r>
          </a:p>
          <a:p>
            <a:pPr marL="285750" indent="-285750">
              <a:buFont typeface="Arial" panose="020B0604020202020204" pitchFamily="34" charset="0"/>
              <a:buChar char="•"/>
            </a:pPr>
            <a:endPar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algn="ctr"/>
            <a:endParaRPr lang="es-MX" dirty="0" smtClean="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a:p>
            <a:pPr marL="285750" indent="-285750">
              <a:buFont typeface="Arial" panose="020B0604020202020204" pitchFamily="34" charset="0"/>
              <a:buChar char="•"/>
            </a:pPr>
            <a:endParaRPr lang="es-MX" dirty="0">
              <a:solidFill>
                <a:schemeClr val="bg1"/>
              </a:solidFill>
              <a:latin typeface="Century Gothic" panose="020B0502020202020204" pitchFamily="34" charset="0"/>
              <a:ea typeface="Verdana" panose="020B0604030504040204" pitchFamily="34" charset="0"/>
              <a:cs typeface="Verdana" panose="020B0604030504040204" pitchFamily="34" charset="0"/>
            </a:endParaRPr>
          </a:p>
        </p:txBody>
      </p:sp>
      <p:sp>
        <p:nvSpPr>
          <p:cNvPr id="6" name="1 CuadroTexto"/>
          <p:cNvSpPr txBox="1"/>
          <p:nvPr/>
        </p:nvSpPr>
        <p:spPr>
          <a:xfrm>
            <a:off x="2176432" y="0"/>
            <a:ext cx="10015568" cy="1015663"/>
          </a:xfrm>
          <a:prstGeom prst="rect">
            <a:avLst/>
          </a:prstGeom>
          <a:solidFill>
            <a:schemeClr val="bg1"/>
          </a:solidFill>
        </p:spPr>
        <p:txBody>
          <a:bodyPr wrap="square" rtlCol="0">
            <a:spAutoFit/>
          </a:bodyPr>
          <a:lstStyle/>
          <a:p>
            <a:r>
              <a:rPr lang="es-MX" sz="6000" b="1" dirty="0" smtClean="0">
                <a:solidFill>
                  <a:schemeClr val="accent1">
                    <a:lumMod val="50000"/>
                  </a:schemeClr>
                </a:solidFill>
                <a:latin typeface="Footlight MT Light" panose="0204060206030A020304" pitchFamily="18" charset="0"/>
              </a:rPr>
              <a:t>       </a:t>
            </a:r>
            <a:endParaRPr lang="es-MX" sz="6000" b="1" dirty="0">
              <a:solidFill>
                <a:schemeClr val="accent1">
                  <a:lumMod val="50000"/>
                </a:schemeClr>
              </a:solidFill>
              <a:latin typeface="Footlight MT Light" panose="0204060206030A020304" pitchFamily="18" charset="0"/>
            </a:endParaRPr>
          </a:p>
        </p:txBody>
      </p:sp>
    </p:spTree>
    <p:extLst>
      <p:ext uri="{BB962C8B-B14F-4D97-AF65-F5344CB8AC3E}">
        <p14:creationId xmlns:p14="http://schemas.microsoft.com/office/powerpoint/2010/main" val="74739409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urrencia">
  <a:themeElements>
    <a:clrScheme name="Brío">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3265</TotalTime>
  <Words>614</Words>
  <Application>Microsoft Office PowerPoint</Application>
  <PresentationFormat>Panorámica</PresentationFormat>
  <Paragraphs>99</Paragraphs>
  <Slides>20</Slides>
  <Notes>3</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20</vt:i4>
      </vt:variant>
    </vt:vector>
  </HeadingPairs>
  <TitlesOfParts>
    <vt:vector size="32" baseType="lpstr">
      <vt:lpstr>Arial</vt:lpstr>
      <vt:lpstr>Arial Narrow</vt:lpstr>
      <vt:lpstr>Calibri</vt:lpstr>
      <vt:lpstr>Century Gothic</vt:lpstr>
      <vt:lpstr>Footlight MT Light</vt:lpstr>
      <vt:lpstr>Lato</vt:lpstr>
      <vt:lpstr>Lucida Sans Unicode</vt:lpstr>
      <vt:lpstr>Verdana</vt:lpstr>
      <vt:lpstr>Wingdings</vt:lpstr>
      <vt:lpstr>Wingdings 2</vt:lpstr>
      <vt:lpstr>Wingdings 3</vt:lpstr>
      <vt:lpstr>Concurrencia</vt:lpstr>
      <vt:lpstr>Presentación de PowerPoint</vt:lpstr>
      <vt:lpstr>Presentación de PowerPoint</vt:lpstr>
      <vt:lpstr>Presentación de PowerPoint</vt:lpstr>
      <vt:lpstr>¿ Qué es un Proceso?</vt:lpstr>
      <vt:lpstr>Diferencias entre proceso y procedimiento  </vt:lpstr>
      <vt:lpstr>Presentación de PowerPoint</vt:lpstr>
      <vt:lpstr>Clasificación de los procesos</vt:lpstr>
      <vt:lpstr>Presentación de PowerPoint</vt:lpstr>
      <vt:lpstr>Ficha de Proceso Sustantivo - Entrevista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basada en Procesos</dc:title>
  <dc:creator>sacderfe68</dc:creator>
  <cp:lastModifiedBy>PALACIOS MARTINEZ DANIEL</cp:lastModifiedBy>
  <cp:revision>238</cp:revision>
  <cp:lastPrinted>2019-11-22T17:08:26Z</cp:lastPrinted>
  <dcterms:created xsi:type="dcterms:W3CDTF">2019-06-24T02:02:22Z</dcterms:created>
  <dcterms:modified xsi:type="dcterms:W3CDTF">2020-03-10T00:24:28Z</dcterms:modified>
</cp:coreProperties>
</file>